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0313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148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150" dirty="0">
                <a:solidFill>
                  <a:srgbClr val="6B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Infosys Springboard  ·  Team 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EFEF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PredictIQ</a:t>
            </a:r>
            <a:endParaRPr lang="en-US" sz="6400" dirty="0"/>
          </a:p>
        </p:txBody>
      </p:sp>
      <p:sp>
        <p:nvSpPr>
          <p:cNvPr id="4" name="Shape 2"/>
          <p:cNvSpPr/>
          <p:nvPr/>
        </p:nvSpPr>
        <p:spPr>
          <a:xfrm>
            <a:off x="713232" y="3703320"/>
            <a:ext cx="914400" cy="0"/>
          </a:xfrm>
          <a:prstGeom prst="line">
            <a:avLst/>
          </a:prstGeom>
          <a:noFill/>
          <a:ln w="25400">
            <a:solidFill>
              <a:srgbClr val="D966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88620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B9D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small predictive-maintenance tool we built to see if a model could tell a healthy machine from a failing one — and say so before it breaks down.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4892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kern="0" spc="100" dirty="0">
                <a:solidFill>
                  <a:srgbClr val="E89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— Prevent — Perform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6172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github.com/Charankumm/InfosysSpringBoard-Team-D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E89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bother with this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82296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FEF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machines don't warn you before they fail.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783080"/>
            <a:ext cx="6675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Plants usually run one of two playbooks: fix it once it's broken, or service it on a fixed calendar whether it needs it or not. Neither one actually looks at what the machine is telling you.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3063240"/>
            <a:ext cx="10424160" cy="0"/>
          </a:xfrm>
          <a:prstGeom prst="line">
            <a:avLst/>
          </a:prstGeom>
          <a:noFill/>
          <a:ln w="9525">
            <a:solidFill>
              <a:srgbClr val="2326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19125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EF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Reactive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46120" y="3191256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 for it to break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537960" y="3191256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downtime + emergency repair costs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3721608"/>
            <a:ext cx="10424160" cy="0"/>
          </a:xfrm>
          <a:prstGeom prst="line">
            <a:avLst/>
          </a:prstGeom>
          <a:noFill/>
          <a:ln w="9525">
            <a:solidFill>
              <a:srgbClr val="2326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849624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EF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Scheduled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46120" y="3849624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on a fixed calendar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537960" y="3849624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wastes labor on parts that were fine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4379976"/>
            <a:ext cx="10424160" cy="0"/>
          </a:xfrm>
          <a:prstGeom prst="line">
            <a:avLst/>
          </a:prstGeom>
          <a:noFill/>
          <a:ln w="9525">
            <a:solidFill>
              <a:srgbClr val="2326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50799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4FAE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Predictive — ours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46120" y="450799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the sensor data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537960" y="450799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 risk before failure, service only when needed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5038344"/>
            <a:ext cx="10424160" cy="0"/>
          </a:xfrm>
          <a:prstGeom prst="line">
            <a:avLst/>
          </a:prstGeom>
          <a:noFill/>
          <a:ln w="9525">
            <a:solidFill>
              <a:srgbClr val="2326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B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18311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6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0080" y="6355080"/>
            <a:ext cx="10908792" cy="0"/>
          </a:xfrm>
          <a:prstGeom prst="line">
            <a:avLst/>
          </a:prstGeom>
          <a:noFill/>
          <a:ln w="9525">
            <a:solidFill>
              <a:srgbClr val="23262B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E89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822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EF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things PredictIQ actually does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8745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66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78408" y="18745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FE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live machine readings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78408" y="220370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temperature, torque, speed, tool wear — entered or streamed in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29260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66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78408" y="292608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FE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Predicts failure probability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78408" y="325526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likely failure type, not just a yes/no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39776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66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78408" y="39776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FE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anomalies early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78408" y="430682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 reading crosses into outright failure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035040" y="18745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66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27648" y="18745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FE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Sends an email the moment it's critical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327648" y="220370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nobody has to be staring at a screen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035040" y="29260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66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27648" y="292608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FE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it all on one dashboard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327648" y="325526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score, gauge, trend, AI notes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035040" y="39776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66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27648" y="39776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FE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a history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327648" y="430682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you can see how a machine trended over time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B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18311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6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0080" y="6355080"/>
            <a:ext cx="10908792" cy="0"/>
          </a:xfrm>
          <a:prstGeom prst="line">
            <a:avLst/>
          </a:prstGeom>
          <a:noFill/>
          <a:ln w="9525">
            <a:solidFill>
              <a:srgbClr val="23262B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E89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hood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822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EF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Sensor in, decision out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2331720"/>
            <a:ext cx="1417320" cy="1234440"/>
          </a:xfrm>
          <a:prstGeom prst="rect">
            <a:avLst/>
          </a:prstGeom>
          <a:solidFill>
            <a:srgbClr val="000000"/>
          </a:solidFill>
          <a:ln w="9525">
            <a:solidFill>
              <a:srgbClr val="2A2E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2587752"/>
            <a:ext cx="1271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FE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Sensors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58952" y="3063240"/>
            <a:ext cx="12710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machine readings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145182" y="2884932"/>
            <a:ext cx="126187" cy="128016"/>
          </a:xfrm>
          <a:prstGeom prst="rightArrow">
            <a:avLst/>
          </a:prstGeom>
          <a:solidFill>
            <a:srgbClr val="6B6D70"/>
          </a:solidFill>
          <a:ln/>
        </p:spPr>
      </p:sp>
      <p:sp>
        <p:nvSpPr>
          <p:cNvPr id="8" name="Shape 6"/>
          <p:cNvSpPr/>
          <p:nvPr/>
        </p:nvSpPr>
        <p:spPr>
          <a:xfrm>
            <a:off x="2313432" y="2331720"/>
            <a:ext cx="1417320" cy="1234440"/>
          </a:xfrm>
          <a:prstGeom prst="rect">
            <a:avLst/>
          </a:prstGeom>
          <a:solidFill>
            <a:srgbClr val="000000"/>
          </a:solidFill>
          <a:ln w="9525">
            <a:solidFill>
              <a:srgbClr val="2A2E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86584" y="2587752"/>
            <a:ext cx="1271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FE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386584" y="3063240"/>
            <a:ext cx="12710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 / MQTT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772814" y="2884932"/>
            <a:ext cx="126187" cy="128016"/>
          </a:xfrm>
          <a:prstGeom prst="rightArrow">
            <a:avLst/>
          </a:prstGeom>
          <a:solidFill>
            <a:srgbClr val="6B6D70"/>
          </a:solidFill>
          <a:ln/>
        </p:spPr>
      </p:sp>
      <p:sp>
        <p:nvSpPr>
          <p:cNvPr id="12" name="Shape 10"/>
          <p:cNvSpPr/>
          <p:nvPr/>
        </p:nvSpPr>
        <p:spPr>
          <a:xfrm>
            <a:off x="3941064" y="2331720"/>
            <a:ext cx="1417320" cy="1234440"/>
          </a:xfrm>
          <a:prstGeom prst="rect">
            <a:avLst/>
          </a:prstGeom>
          <a:solidFill>
            <a:srgbClr val="000000"/>
          </a:solidFill>
          <a:ln w="9525">
            <a:solidFill>
              <a:srgbClr val="2A2E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14216" y="2587752"/>
            <a:ext cx="1271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FE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014216" y="3063240"/>
            <a:ext cx="12710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Spark / Flink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400446" y="2884932"/>
            <a:ext cx="126187" cy="128016"/>
          </a:xfrm>
          <a:prstGeom prst="rightArrow">
            <a:avLst/>
          </a:prstGeom>
          <a:solidFill>
            <a:srgbClr val="6B6D70"/>
          </a:solidFill>
          <a:ln/>
        </p:spPr>
      </p:sp>
      <p:sp>
        <p:nvSpPr>
          <p:cNvPr id="16" name="Shape 14"/>
          <p:cNvSpPr/>
          <p:nvPr/>
        </p:nvSpPr>
        <p:spPr>
          <a:xfrm>
            <a:off x="5568696" y="2331720"/>
            <a:ext cx="1737360" cy="1234440"/>
          </a:xfrm>
          <a:prstGeom prst="rect">
            <a:avLst/>
          </a:prstGeom>
          <a:solidFill>
            <a:srgbClr val="241811"/>
          </a:solidFill>
          <a:ln w="15875">
            <a:solidFill>
              <a:srgbClr val="D966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41848" y="2587752"/>
            <a:ext cx="1591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FE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Models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641848" y="3063240"/>
            <a:ext cx="1591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XGBoost, LSTM, RF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348118" y="2884932"/>
            <a:ext cx="126187" cy="128016"/>
          </a:xfrm>
          <a:prstGeom prst="rightArrow">
            <a:avLst/>
          </a:prstGeom>
          <a:solidFill>
            <a:srgbClr val="6B6D70"/>
          </a:solidFill>
          <a:ln/>
        </p:spPr>
      </p:sp>
      <p:sp>
        <p:nvSpPr>
          <p:cNvPr id="20" name="Shape 18"/>
          <p:cNvSpPr/>
          <p:nvPr/>
        </p:nvSpPr>
        <p:spPr>
          <a:xfrm>
            <a:off x="7516368" y="2331720"/>
            <a:ext cx="1508760" cy="1234440"/>
          </a:xfrm>
          <a:prstGeom prst="rect">
            <a:avLst/>
          </a:prstGeom>
          <a:solidFill>
            <a:srgbClr val="000000"/>
          </a:solidFill>
          <a:ln w="9525">
            <a:solidFill>
              <a:srgbClr val="2A2E3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0" y="2587752"/>
            <a:ext cx="1362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FE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589520" y="3063240"/>
            <a:ext cx="13624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probability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9067190" y="2884932"/>
            <a:ext cx="126187" cy="128016"/>
          </a:xfrm>
          <a:prstGeom prst="rightArrow">
            <a:avLst/>
          </a:prstGeom>
          <a:solidFill>
            <a:srgbClr val="6B6D70"/>
          </a:solidFill>
          <a:ln/>
        </p:spPr>
      </p:sp>
      <p:sp>
        <p:nvSpPr>
          <p:cNvPr id="24" name="Shape 22"/>
          <p:cNvSpPr/>
          <p:nvPr/>
        </p:nvSpPr>
        <p:spPr>
          <a:xfrm>
            <a:off x="9235440" y="2331720"/>
            <a:ext cx="1965960" cy="1234440"/>
          </a:xfrm>
          <a:prstGeom prst="rect">
            <a:avLst/>
          </a:prstGeom>
          <a:solidFill>
            <a:srgbClr val="000000"/>
          </a:solidFill>
          <a:ln w="9525">
            <a:solidFill>
              <a:srgbClr val="2A2E3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08592" y="2587752"/>
            <a:ext cx="1819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FE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+ Alerts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308592" y="3063240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user sees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85800" y="402336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B9D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Sensors feed a queue, a processing layer does the heavy lifting, the model scores the reading, and the result lands on the dashboard — with an email firing automatically if it's critical.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85800" y="4846320"/>
            <a:ext cx="10424160" cy="0"/>
          </a:xfrm>
          <a:prstGeom prst="line">
            <a:avLst/>
          </a:prstGeom>
          <a:noFill/>
          <a:ln w="9525">
            <a:solidFill>
              <a:srgbClr val="2326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50292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FE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85800" y="5349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gauge + trend chart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206240" y="50292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FE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alert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206240" y="5349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fires automatically, confirmed working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726680" y="50292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FE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report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726680" y="5349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downloadable summary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B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18311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6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40080" y="6355080"/>
            <a:ext cx="10908792" cy="0"/>
          </a:xfrm>
          <a:prstGeom prst="line">
            <a:avLst/>
          </a:prstGeom>
          <a:noFill/>
          <a:ln w="9525">
            <a:solidFill>
              <a:srgbClr val="23262B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E89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it's made of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822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EF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783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E893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08960" y="178308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Python, Flask / FastAPI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85800" y="2313432"/>
            <a:ext cx="10195560" cy="0"/>
          </a:xfrm>
          <a:prstGeom prst="line">
            <a:avLst/>
          </a:prstGeom>
          <a:noFill/>
          <a:ln w="6350">
            <a:solidFill>
              <a:srgbClr val="2326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4414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E893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08960" y="2441448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Scikit-learn, TensorFlow, XGBoost, Random Forest, LSTM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2971800"/>
            <a:ext cx="10195560" cy="0"/>
          </a:xfrm>
          <a:prstGeom prst="line">
            <a:avLst/>
          </a:prstGeom>
          <a:noFill/>
          <a:ln w="6350">
            <a:solidFill>
              <a:srgbClr val="2326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09981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E893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processing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08960" y="3099816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Kafka, MQTT, Apache Spark, Apache Flink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3630168"/>
            <a:ext cx="10195560" cy="0"/>
          </a:xfrm>
          <a:prstGeom prst="line">
            <a:avLst/>
          </a:prstGeom>
          <a:noFill/>
          <a:ln w="6350">
            <a:solidFill>
              <a:srgbClr val="2326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75818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E893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08960" y="3758184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HTML5, CSS3, JavaScript (ES6), Chart.js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" y="4288536"/>
            <a:ext cx="10195560" cy="0"/>
          </a:xfrm>
          <a:prstGeom prst="line">
            <a:avLst/>
          </a:prstGeom>
          <a:noFill/>
          <a:ln w="6350">
            <a:solidFill>
              <a:srgbClr val="2326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41655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E893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108960" y="4416552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time-series DB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5800" y="4946904"/>
            <a:ext cx="10195560" cy="0"/>
          </a:xfrm>
          <a:prstGeom prst="line">
            <a:avLst/>
          </a:prstGeom>
          <a:noFill/>
          <a:ln w="6350">
            <a:solidFill>
              <a:srgbClr val="2326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5074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E893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Notifications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108960" y="507492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(live), Slack + SMS (planned)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85800" y="5605272"/>
            <a:ext cx="10195560" cy="0"/>
          </a:xfrm>
          <a:prstGeom prst="line">
            <a:avLst/>
          </a:prstGeom>
          <a:noFill/>
          <a:ln w="6350">
            <a:solidFill>
              <a:srgbClr val="2326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B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18311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6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0080" y="6355080"/>
            <a:ext cx="10908792" cy="0"/>
          </a:xfrm>
          <a:prstGeom prst="line">
            <a:avLst/>
          </a:prstGeom>
          <a:noFill/>
          <a:ln w="9525">
            <a:solidFill>
              <a:srgbClr val="23262B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E89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test run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6126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EF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fed it a bad reading —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58368" y="1207008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rgbClr val="C45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caught it.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Low-torque input with high tool wear. The model called it correctly and flagged the exact failure mode.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2743200"/>
            <a:ext cx="5212080" cy="0"/>
          </a:xfrm>
          <a:prstGeom prst="line">
            <a:avLst/>
          </a:prstGeom>
          <a:noFill/>
          <a:ln w="6350">
            <a:solidFill>
              <a:srgbClr val="2326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8529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probability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83280" y="281635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C45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85800" y="3291840"/>
            <a:ext cx="5212080" cy="0"/>
          </a:xfrm>
          <a:prstGeom prst="line">
            <a:avLst/>
          </a:prstGeom>
          <a:noFill/>
          <a:ln w="6350">
            <a:solidFill>
              <a:srgbClr val="2326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401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score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0" y="336499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C45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/ 100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85800" y="3840480"/>
            <a:ext cx="5212080" cy="0"/>
          </a:xfrm>
          <a:prstGeom prst="line">
            <a:avLst/>
          </a:prstGeom>
          <a:noFill/>
          <a:ln w="6350">
            <a:solidFill>
              <a:srgbClr val="2326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9502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type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391363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EFEF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TWF — tool wear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345936" y="950976"/>
            <a:ext cx="5504688" cy="2813952"/>
          </a:xfrm>
          <a:prstGeom prst="rect">
            <a:avLst/>
          </a:prstGeom>
          <a:solidFill>
            <a:srgbClr val="000000"/>
          </a:solidFill>
          <a:ln w="12700">
            <a:solidFill>
              <a:srgbClr val="2A2E34"/>
            </a:solidFill>
            <a:prstDash val="solid"/>
          </a:ln>
        </p:spPr>
      </p:sp>
      <p:pic>
        <p:nvPicPr>
          <p:cNvPr id="16" name="Image 0" descr="/home/claude/work/critical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005840"/>
            <a:ext cx="5394960" cy="270422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400800" y="383808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localhost — dev build, Aug 4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B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1118311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6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40080" y="6355080"/>
            <a:ext cx="10908792" cy="0"/>
          </a:xfrm>
          <a:prstGeom prst="line">
            <a:avLst/>
          </a:prstGeom>
          <a:noFill/>
          <a:ln w="9525">
            <a:solidFill>
              <a:srgbClr val="23262B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E89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test run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6126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EF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Then a normal reading —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58368" y="1207008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rgbClr val="4FAE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it stayed quiet.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model, same session, ordinary parameters this time. It didn't cry wolf — good sign it's actually discriminating, not just alarming.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2880360"/>
            <a:ext cx="5212080" cy="0"/>
          </a:xfrm>
          <a:prstGeom prst="line">
            <a:avLst/>
          </a:prstGeom>
          <a:noFill/>
          <a:ln w="6350">
            <a:solidFill>
              <a:srgbClr val="2326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9900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probability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83280" y="295351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4FAE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0%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85800" y="3429000"/>
            <a:ext cx="5212080" cy="0"/>
          </a:xfrm>
          <a:prstGeom prst="line">
            <a:avLst/>
          </a:prstGeom>
          <a:noFill/>
          <a:ln w="6350">
            <a:solidFill>
              <a:srgbClr val="2326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5387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score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0" y="350215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4FAE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 / 100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85800" y="3977640"/>
            <a:ext cx="5212080" cy="0"/>
          </a:xfrm>
          <a:prstGeom prst="line">
            <a:avLst/>
          </a:prstGeom>
          <a:noFill/>
          <a:ln w="6350">
            <a:solidFill>
              <a:srgbClr val="2326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0873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type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405079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EFEF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none flagged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345936" y="950976"/>
            <a:ext cx="5504688" cy="2824067"/>
          </a:xfrm>
          <a:prstGeom prst="rect">
            <a:avLst/>
          </a:prstGeom>
          <a:solidFill>
            <a:srgbClr val="000000"/>
          </a:solidFill>
          <a:ln w="12700">
            <a:solidFill>
              <a:srgbClr val="2A2E34"/>
            </a:solidFill>
            <a:prstDash val="solid"/>
          </a:ln>
        </p:spPr>
      </p:sp>
      <p:pic>
        <p:nvPicPr>
          <p:cNvPr id="16" name="Image 0" descr="/home/claude/work/healthy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005840"/>
            <a:ext cx="5394960" cy="2714339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400800" y="3848195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localhost — dev build, Aug 4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B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1118311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6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40080" y="6355080"/>
            <a:ext cx="10908792" cy="0"/>
          </a:xfrm>
          <a:prstGeom prst="line">
            <a:avLst/>
          </a:prstGeom>
          <a:noFill/>
          <a:ln w="9525">
            <a:solidFill>
              <a:srgbClr val="23262B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E89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doesn't need babysitting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EF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alert email is real —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58368" y="1170432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rgbClr val="E893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an actual inbox.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1874520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reading crosses into critical territory, the Flask backend fires an SMTP email on its own — no cron job someone has to remember to check.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85800" y="2880360"/>
            <a:ext cx="7223760" cy="0"/>
          </a:xfrm>
          <a:prstGeom prst="line">
            <a:avLst/>
          </a:prstGeom>
          <a:noFill/>
          <a:ln w="6350">
            <a:solidFill>
              <a:srgbClr val="2326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99008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893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Trigger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23160" y="299008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 crosses the critical threshold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" y="3410712"/>
            <a:ext cx="7223760" cy="0"/>
          </a:xfrm>
          <a:prstGeom prst="line">
            <a:avLst/>
          </a:prstGeom>
          <a:noFill/>
          <a:ln w="6350">
            <a:solidFill>
              <a:srgbClr val="2326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520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893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Payload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23160" y="3520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probability, failure type, an action prompt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" y="3941064"/>
            <a:ext cx="7223760" cy="0"/>
          </a:xfrm>
          <a:prstGeom prst="line">
            <a:avLst/>
          </a:prstGeom>
          <a:noFill/>
          <a:ln w="6350">
            <a:solidFill>
              <a:srgbClr val="2326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05079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893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Working now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23160" y="40507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email, end-to-end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5800" y="4471416"/>
            <a:ext cx="7223760" cy="0"/>
          </a:xfrm>
          <a:prstGeom prst="line">
            <a:avLst/>
          </a:prstGeom>
          <a:noFill/>
          <a:ln w="6350">
            <a:solidFill>
              <a:srgbClr val="2326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58114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893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yet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23160" y="458114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 and SMS are still just planned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613648" y="978408"/>
            <a:ext cx="3159850" cy="5038344"/>
          </a:xfrm>
          <a:prstGeom prst="rect">
            <a:avLst/>
          </a:prstGeom>
          <a:solidFill>
            <a:srgbClr val="000000"/>
          </a:solidFill>
          <a:ln w="12700">
            <a:solidFill>
              <a:srgbClr val="2A2E34"/>
            </a:solidFill>
            <a:prstDash val="solid"/>
          </a:ln>
        </p:spPr>
      </p:sp>
      <p:pic>
        <p:nvPicPr>
          <p:cNvPr id="19" name="Image 0" descr="/home/claude/work/email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1051560"/>
            <a:ext cx="3013546" cy="489204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B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1118311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6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40080" y="6355080"/>
            <a:ext cx="10908792" cy="0"/>
          </a:xfrm>
          <a:prstGeom prst="line">
            <a:avLst/>
          </a:prstGeom>
          <a:noFill/>
          <a:ln w="9525">
            <a:solidFill>
              <a:srgbClr val="23262B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E89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learned from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822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EF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&amp; the ML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E893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103120"/>
            <a:ext cx="5029200" cy="0"/>
          </a:xfrm>
          <a:prstGeom prst="line">
            <a:avLst/>
          </a:prstGeom>
          <a:noFill/>
          <a:ln w="6350">
            <a:solidFill>
              <a:srgbClr val="2326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194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FE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AI4I 2020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651760" y="21945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actually driving the current model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85800" y="2670048"/>
            <a:ext cx="5029200" cy="0"/>
          </a:xfrm>
          <a:prstGeom prst="line">
            <a:avLst/>
          </a:prstGeom>
          <a:noFill/>
          <a:ln w="6350">
            <a:solidFill>
              <a:srgbClr val="2326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76148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FE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NASA C-MAPSS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651760" y="276148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turbofan degradation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5800" y="3236976"/>
            <a:ext cx="5029200" cy="0"/>
          </a:xfrm>
          <a:prstGeom prst="line">
            <a:avLst/>
          </a:prstGeom>
          <a:noFill/>
          <a:ln w="6350">
            <a:solidFill>
              <a:srgbClr val="2326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32841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FE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CWRU Bearing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651760" y="332841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bearing vibration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5800" y="3803904"/>
            <a:ext cx="5029200" cy="0"/>
          </a:xfrm>
          <a:prstGeom prst="line">
            <a:avLst/>
          </a:prstGeom>
          <a:noFill/>
          <a:ln w="6350">
            <a:solidFill>
              <a:srgbClr val="2326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895344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FE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PdM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651760" y="389534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Microsoft's predictive maintenance set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26364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E893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63640" y="2148840"/>
            <a:ext cx="5120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→ clean → engineer features → train → predict RUL → catch anomalies → serve live → retrain as new data comes in.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" y="4892040"/>
            <a:ext cx="10561320" cy="0"/>
          </a:xfrm>
          <a:prstGeom prst="line">
            <a:avLst/>
          </a:prstGeom>
          <a:noFill/>
          <a:ln w="9525">
            <a:solidFill>
              <a:srgbClr val="2326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5074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saved:  machine_failure_model  ·  failure_type_model  ·  label_encoder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B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ML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18311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6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" y="6355080"/>
            <a:ext cx="10908792" cy="0"/>
          </a:xfrm>
          <a:prstGeom prst="line">
            <a:avLst/>
          </a:prstGeom>
          <a:noFill/>
          <a:ln w="9525">
            <a:solidFill>
              <a:srgbClr val="23262B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E89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to finish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822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EF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happens on one reading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6B6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34440" y="1856232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FE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Someone enters the machine's numbers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92240" y="190195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dashboard form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234440" y="2359152"/>
            <a:ext cx="9738360" cy="0"/>
          </a:xfrm>
          <a:prstGeom prst="line">
            <a:avLst/>
          </a:prstGeom>
          <a:noFill/>
          <a:ln w="6350">
            <a:solidFill>
              <a:srgbClr val="2326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45059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6B6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34440" y="2478024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FE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frontend calls the Flask backend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92240" y="2523744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a plain REST request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234440" y="2980944"/>
            <a:ext cx="9738360" cy="0"/>
          </a:xfrm>
          <a:prstGeom prst="line">
            <a:avLst/>
          </a:prstGeom>
          <a:noFill/>
          <a:ln w="6350">
            <a:solidFill>
              <a:srgbClr val="2326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072384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6B6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34440" y="3099816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FE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scores it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92240" y="3145536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a failure probability and a type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234440" y="3602736"/>
            <a:ext cx="9738360" cy="0"/>
          </a:xfrm>
          <a:prstGeom prst="line">
            <a:avLst/>
          </a:prstGeom>
          <a:noFill/>
          <a:ln w="6350">
            <a:solidFill>
              <a:srgbClr val="2326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694176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6B6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34440" y="3721608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FE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dashboard updates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92240" y="376732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gauge, trend chart, AI notes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234440" y="4224528"/>
            <a:ext cx="9738360" cy="0"/>
          </a:xfrm>
          <a:prstGeom prst="line">
            <a:avLst/>
          </a:prstGeom>
          <a:noFill/>
          <a:ln w="6350">
            <a:solidFill>
              <a:srgbClr val="2326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31596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6B6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234440" y="43434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FE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it's critical, an email goes out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92240" y="438912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automatically, no one has to trigger it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234440" y="4846320"/>
            <a:ext cx="9738360" cy="0"/>
          </a:xfrm>
          <a:prstGeom prst="line">
            <a:avLst/>
          </a:prstGeom>
          <a:noFill/>
          <a:ln w="6350">
            <a:solidFill>
              <a:srgbClr val="2326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9377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6B6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234440" y="4965192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FE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reading joins the history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492240" y="501091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later trend review and a PDF report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B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18311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6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0080" y="6355080"/>
            <a:ext cx="10908792" cy="0"/>
          </a:xfrm>
          <a:prstGeom prst="line">
            <a:avLst/>
          </a:prstGeom>
          <a:noFill/>
          <a:ln w="9525">
            <a:solidFill>
              <a:srgbClr val="23262B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E89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things stand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82296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EF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Honestly, about 78% there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loop — read a machine, score it, show it, email it — works end to end. What's left is mostly plumbing: live sensor ingestion and a real place to store history.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85800" y="2331720"/>
            <a:ext cx="10561320" cy="310896"/>
          </a:xfrm>
          <a:prstGeom prst="rect">
            <a:avLst/>
          </a:prstGeom>
          <a:solidFill>
            <a:srgbClr val="1A1D21"/>
          </a:solidFill>
          <a:ln w="9525">
            <a:solidFill>
              <a:srgbClr val="2A2E3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331720"/>
            <a:ext cx="8237830" cy="310896"/>
          </a:xfrm>
          <a:prstGeom prst="rect">
            <a:avLst/>
          </a:prstGeom>
          <a:solidFill>
            <a:srgbClr val="D9662B"/>
          </a:solidFill>
          <a:ln/>
        </p:spPr>
      </p:sp>
      <p:sp>
        <p:nvSpPr>
          <p:cNvPr id="7" name="Text 5"/>
          <p:cNvSpPr/>
          <p:nvPr/>
        </p:nvSpPr>
        <p:spPr>
          <a:xfrm>
            <a:off x="8237830" y="187452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EFEF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78%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923630" y="2221992"/>
            <a:ext cx="0" cy="530352"/>
          </a:xfrm>
          <a:prstGeom prst="line">
            <a:avLst/>
          </a:prstGeom>
          <a:noFill/>
          <a:ln w="15875">
            <a:solidFill>
              <a:srgbClr val="EFEFEC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685800" y="3200400"/>
            <a:ext cx="3364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4FAE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3566160"/>
            <a:ext cx="3364992" cy="0"/>
          </a:xfrm>
          <a:prstGeom prst="line">
            <a:avLst/>
          </a:prstGeom>
          <a:noFill/>
          <a:ln w="9525">
            <a:solidFill>
              <a:srgbClr val="2326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7033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FA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3730752"/>
            <a:ext cx="3182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UI — inputs, gauge, AI notes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4270248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FA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4297680"/>
            <a:ext cx="3182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backend, live API connection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4837176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FA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" y="4864608"/>
            <a:ext cx="3182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prediction — probability + type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" y="5404104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FA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5431536"/>
            <a:ext cx="3182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 vs. critical, checked both ways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" y="5971032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FA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" y="5998464"/>
            <a:ext cx="3182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alert fires automatically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33672" y="3200400"/>
            <a:ext cx="3364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E893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Left to do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233672" y="3566160"/>
            <a:ext cx="3364992" cy="0"/>
          </a:xfrm>
          <a:prstGeom prst="line">
            <a:avLst/>
          </a:prstGeom>
          <a:noFill/>
          <a:ln w="9525">
            <a:solidFill>
              <a:srgbClr val="2326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33672" y="37033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9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416552" y="3730752"/>
            <a:ext cx="3182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 so it reads live sensors, not manual entry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233672" y="4270248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9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416552" y="4297680"/>
            <a:ext cx="3182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database for prediction history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233672" y="4837176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9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416552" y="4864608"/>
            <a:ext cx="3182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surviving past one session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781544" y="3200400"/>
            <a:ext cx="3364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6B6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Nice-to-haves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781544" y="3566160"/>
            <a:ext cx="3364992" cy="0"/>
          </a:xfrm>
          <a:prstGeom prst="line">
            <a:avLst/>
          </a:prstGeom>
          <a:noFill/>
          <a:ln w="9525">
            <a:solidFill>
              <a:srgbClr val="2326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81544" y="37033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964424" y="3730752"/>
            <a:ext cx="3182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 + Spark/Flink layer (still just on paper)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781544" y="4270248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964424" y="4297680"/>
            <a:ext cx="3182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export, Slack &amp; SMS alerts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781544" y="4837176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964424" y="4864608"/>
            <a:ext cx="3182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twin, edge deploy, mobile app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B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118311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6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40080" y="6355080"/>
            <a:ext cx="10908792" cy="0"/>
          </a:xfrm>
          <a:prstGeom prst="line">
            <a:avLst/>
          </a:prstGeom>
          <a:noFill/>
          <a:ln w="9525">
            <a:solidFill>
              <a:srgbClr val="23262B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E89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822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EF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we keep going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9202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E89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UP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965960" y="18745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FEF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MQTT + live sensors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0" y="1901952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 the manual form for a real IIoT stream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2414016"/>
            <a:ext cx="10332720" cy="0"/>
          </a:xfrm>
          <a:prstGeom prst="line">
            <a:avLst/>
          </a:prstGeom>
          <a:noFill/>
          <a:ln w="6350">
            <a:solidFill>
              <a:srgbClr val="2326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57860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E89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UP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965960" y="253288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FEF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real database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486400" y="2560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losing history when the session ends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3072384"/>
            <a:ext cx="10332720" cy="0"/>
          </a:xfrm>
          <a:prstGeom prst="line">
            <a:avLst/>
          </a:prstGeom>
          <a:noFill/>
          <a:ln w="6350">
            <a:solidFill>
              <a:srgbClr val="2326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23697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965960" y="3191256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FEF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Prescriptive maintenance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486400" y="321868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from "here's the risk" to "here's what to do"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3730752"/>
            <a:ext cx="10332720" cy="0"/>
          </a:xfrm>
          <a:prstGeom prst="line">
            <a:avLst/>
          </a:prstGeom>
          <a:noFill/>
          <a:ln w="6350">
            <a:solidFill>
              <a:srgbClr val="2326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89534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965960" y="3849624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FEF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twin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486400" y="3877056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 the machine alongside the live feed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" y="4389120"/>
            <a:ext cx="10332720" cy="0"/>
          </a:xfrm>
          <a:prstGeom prst="line">
            <a:avLst/>
          </a:prstGeom>
          <a:noFill/>
          <a:ln w="6350">
            <a:solidFill>
              <a:srgbClr val="2326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55371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6B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SOMEDAY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965960" y="450799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FEF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Edge AI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486400" y="4535424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inference closer to the machine itself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5800" y="5047488"/>
            <a:ext cx="10332720" cy="0"/>
          </a:xfrm>
          <a:prstGeom prst="line">
            <a:avLst/>
          </a:prstGeom>
          <a:noFill/>
          <a:ln w="6350">
            <a:solidFill>
              <a:srgbClr val="2326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52120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6B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SOMEDAY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965960" y="51663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FEF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+ mobile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5486400" y="5193792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hosted backend, a monitoring app in your pocket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5800" y="5705856"/>
            <a:ext cx="10332720" cy="0"/>
          </a:xfrm>
          <a:prstGeom prst="line">
            <a:avLst/>
          </a:prstGeom>
          <a:noFill/>
          <a:ln w="6350">
            <a:solidFill>
              <a:srgbClr val="2326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B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18311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6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0080" y="6355080"/>
            <a:ext cx="10908792" cy="0"/>
          </a:xfrm>
          <a:prstGeom prst="line">
            <a:avLst/>
          </a:prstGeom>
          <a:noFill/>
          <a:ln w="9525">
            <a:solidFill>
              <a:srgbClr val="23262B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65176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EFEF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Thanks for reading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13232" y="3429000"/>
            <a:ext cx="914400" cy="0"/>
          </a:xfrm>
          <a:prstGeom prst="line">
            <a:avLst/>
          </a:prstGeom>
          <a:noFill/>
          <a:ln w="25400">
            <a:solidFill>
              <a:srgbClr val="D966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611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PredictIQ — built by Team D for the Infosys Springboard Internship Program.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85800" y="3977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github.com/Charankumm/InfosysSpringBoard-Team-D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1036</Words>
  <Application>Microsoft Office PowerPoint</Application>
  <PresentationFormat>Widescreen</PresentationFormat>
  <Paragraphs>227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utsav Singh</cp:lastModifiedBy>
  <cp:revision>1</cp:revision>
  <dcterms:created xsi:type="dcterms:W3CDTF">2026-08-06T04:09:15Z</dcterms:created>
  <dcterms:modified xsi:type="dcterms:W3CDTF">2026-08-19T15:33:59Z</dcterms:modified>
</cp:coreProperties>
</file>