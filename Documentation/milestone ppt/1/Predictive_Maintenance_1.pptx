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2E"/>
                </a:solidFill>
                <a:latin typeface="Arial"/>
              </a:defRPr>
            </a:pPr>
            <a:r>
              <a:rPr lang="en-US" sz="1300" b="0" i="0" u="none" strike="noStrike">
                <a:solidFill>
                  <a:srgbClr val="16232E"/>
                </a:solidFill>
                <a:latin typeface="Arial"/>
              </a:rPr>
              <a:t>Before vs. After Predictive Maintenance</a:t>
            </a:r>
          </a:p>
        </c:rich>
      </c:tx>
      <c:overlay val="0"/>
    </c:title>
    <c:autoTitleDeleted val="0"/>
    <c:plotArea>
      <c:layout/>
      <c:barChart>
        <c:barDir val="col"/>
        <c:grouping val="clustered"/>
        <c:varyColors val="0"/>
        <c:ser>
          <c:idx val="0"/>
          <c:order val="0"/>
          <c:tx>
            <c:strRef>
              <c:f>Sheet1!$B$1</c:f>
              <c:strCache>
                <c:ptCount val="1"/>
                <c:pt idx="0">
                  <c:v>Before</c:v>
                </c:pt>
              </c:strCache>
            </c:strRef>
          </c:tx>
          <c:spPr>
            <a:solidFill>
              <a:srgbClr val="0F2A43"/>
            </a:solidFill>
            <a:effectLst/>
          </c:spPr>
          <c:invertIfNegative val="0"/>
          <c:dLbls>
            <c:numFmt formatCode="#,##0" sourceLinked="0"/>
            <c:spPr>
              <a:noFill/>
              <a:ln>
                <a:noFill/>
              </a:ln>
              <a:effectLst/>
            </c:spPr>
            <c:txPr>
              <a:bodyPr/>
              <a:lstStyle/>
              <a:p>
                <a:pPr>
                  <a:defRPr sz="1000" b="0" i="0" u="none" strike="noStrike">
                    <a:solidFill>
                      <a:srgbClr val="1623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Downtime (hrs/mo)</c:v>
                </c:pt>
                <c:pt idx="1">
                  <c:v>Maintenance Cost ($k)</c:v>
                </c:pt>
              </c:strCache>
            </c:strRef>
          </c:cat>
          <c:val>
            <c:numRef>
              <c:f>Sheet1!$B$2:$B$3</c:f>
              <c:numCache>
                <c:formatCode>General</c:formatCode>
                <c:ptCount val="2"/>
                <c:pt idx="0">
                  <c:v>64</c:v>
                </c:pt>
                <c:pt idx="1">
                  <c:v>48</c:v>
                </c:pt>
              </c:numCache>
            </c:numRef>
          </c:val>
          <c:extLst>
            <c:ext xmlns:c16="http://schemas.microsoft.com/office/drawing/2014/chart" uri="{C3380CC4-5D6E-409C-BE32-E72D297353CC}">
              <c16:uniqueId val="{00000000-214C-4113-9AAE-2081049088C3}"/>
            </c:ext>
          </c:extLst>
        </c:ser>
        <c:ser>
          <c:idx val="1"/>
          <c:order val="1"/>
          <c:tx>
            <c:strRef>
              <c:f>Sheet1!$C$1</c:f>
              <c:strCache>
                <c:ptCount val="1"/>
                <c:pt idx="0">
                  <c:v>After</c:v>
                </c:pt>
              </c:strCache>
            </c:strRef>
          </c:tx>
          <c:spPr>
            <a:solidFill>
              <a:srgbClr val="0E7C86"/>
            </a:solidFill>
            <a:effectLst/>
          </c:spPr>
          <c:invertIfNegative val="0"/>
          <c:dLbls>
            <c:numFmt formatCode="#,##0" sourceLinked="0"/>
            <c:spPr>
              <a:noFill/>
              <a:ln>
                <a:noFill/>
              </a:ln>
              <a:effectLst/>
            </c:spPr>
            <c:txPr>
              <a:bodyPr/>
              <a:lstStyle/>
              <a:p>
                <a:pPr>
                  <a:defRPr sz="1000" b="0" i="0" u="none" strike="noStrike">
                    <a:solidFill>
                      <a:srgbClr val="1623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Downtime (hrs/mo)</c:v>
                </c:pt>
                <c:pt idx="1">
                  <c:v>Maintenance Cost ($k)</c:v>
                </c:pt>
              </c:strCache>
            </c:strRef>
          </c:cat>
          <c:val>
            <c:numRef>
              <c:f>Sheet1!$C$2:$C$3</c:f>
              <c:numCache>
                <c:formatCode>General</c:formatCode>
                <c:ptCount val="2"/>
                <c:pt idx="0">
                  <c:v>22</c:v>
                </c:pt>
                <c:pt idx="1">
                  <c:v>29</c:v>
                </c:pt>
              </c:numCache>
            </c:numRef>
          </c:val>
          <c:extLst>
            <c:ext xmlns:c16="http://schemas.microsoft.com/office/drawing/2014/chart" uri="{C3380CC4-5D6E-409C-BE32-E72D297353CC}">
              <c16:uniqueId val="{00000001-214C-4113-9AAE-2081049088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6B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8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C6B78"/>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57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represents a shift from reactive and calendar-based maintenance to a data-driven, predictive model. By fusing IoT telemetry with machine learning, the platform anticipates equipment failure before it occurs, reducing downtime and operational risk. Frame this as both an engineering achievement and a business-critical capability.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maintenance strategies operate on fixed schedules or wait for failure signals — both inefficient. Reactive maintenance causes unplanned downtime and cascading failures, while preventive maintenance often replaces parts with usable life remaining. The absence of continuous, real-time sensor visibility means teams are always reacting late. This sets up the core engineering challenge: how do we shift left and predict failure before it happens.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solution closes the loop between raw equipment telemetry and actionable maintenance decisions. Instead of static thresholds, the system uses trained models to estimate degradation patterns and predict failure windows. Alerts are contextual and prioritized by severity and confidence score, reducing alert fatigue. This slide establishes the high-level value proposition before diving into architecture.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designed around modularity and horizontal scalability. Edge devices handle lightweight pre-processing to reduce bandwidth load, while a message broker like Kafka or MQTT ensures reliable, ordered delivery of high-frequency sensor streams. The processing layer separates real-time stream analytics from batch retraining jobs, allowing the ML layer to serve both live inference and periodic model updates. This separation of concerns is critical for maintaining system reliability under industrial-scale data volumes.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choice is driven by the system's non-functional requirements — throughput, latency, and fault tolerance. Kafka provides durable, replayable event streams essential for industrial telemetry. Spark or Flink enables windowed aggregations needed for time-series feature engineering. On the ML side, the stack supports both classical models for interpretability and deep learning for complex degradation patterns. The frontend uses WebSocket-based push updates so alerts reach operators within seconds, not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doesn't start from zero — we bootstrap it with established public benchmarks before it ever sees plant data. NASA C-MAPSS gives us realistic run-to-failure trajectories for RUL regression, AI4I 2020 gives us a clean, labeled classification dataset for failure-type prediction, and CWRU gives us vibration signal structure for fault diagnosis pretraining. Once deployed, the system switches to learning from our own SCADA and IoT historian data, which is what actually drives long-term accuracy gains through retraining.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representative excerpt in the same schema as the AI4I 2020 dataset — Machine ID, four continuous sensor readings, tool wear in minutes, and a labeled failure type. In production the feature set is richer: rolling statistical windows, FFT-derived frequency bands, and lag features that capture trend rather than a single snapshot. Because failures are rare events, we apply SMOTE to oversample the minority failure classes so the model doesn't simply learn to always predict 'No Failure'. Labels themselves come from maintenance logs, which is why data quality and technician reporting discipline directly affect model accuracy.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pipeline is built around a feedback loop rather than a one-time training exercise. Feature engineering extracts statistical and frequency-domain signals — like FFT-based vibration analysis — that are strong indicators of mechanical wear. Models are validated against historical failure logs to ensure predictive accuracy, and a retraining pipeline ensures the system adapts as equipment ages or operating conditions change. This lifecycle approach is what separates a production-grade ML system from a static proof-of-concept.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monitoring is the operational face of the system. Combining rule-based thresholds with ML-driven anomaly scores provides both explainability and predictive power. Alerts carry a priority score based on asset criticality and prediction confidence, which helps maintenance teams triage effectively instead of experiencing alert fatigue. Multi-channel notifications ensure the right person is informed through the right medium at the right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engineering capability into business language. Predictive maintenance directly impacts the bottom line by minimizing costly unplanned outages and avoiding premature part replacements common in preventive schedules. Beyond cost, there is a safety dimension — catching degradation early prevents catastrophic failures that could endanger personnel. Framing impact this way is essential when presenting to non-technical stakeholders or leadership.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system lays the foundation for more advanced capabilities. Federated learning would allow the model to improve using data from multiple sites without centralizing sensitive operational data. Digital twins could simulate what-if failure scenarios before they occur in reality. Moving inference to the edge reduces dependency on connectivity, which is often unreliable in industrial environments. Ultimately, the roadmap points toward prescriptive maintenance — not just predicting failure, but recommending the exact corrective 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reinforces the core narrative: the system is not just a technical exercise but a business-critical capability built on sound engineering principles. It ties together architecture, ML, and real-time systems into a cohesive value proposition, while leaving the door open for questions on implementation details, scalability, or deployment considerations.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9.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sp>
        <p:nvSpPr>
          <p:cNvPr id="2" name="Shape 0"/>
          <p:cNvSpPr/>
          <p:nvPr/>
        </p:nvSpPr>
        <p:spPr>
          <a:xfrm>
            <a:off x="9326880" y="1188720"/>
            <a:ext cx="1280160" cy="640080"/>
          </a:xfrm>
          <a:prstGeom prst="line">
            <a:avLst/>
          </a:prstGeom>
          <a:noFill/>
          <a:ln w="12700">
            <a:solidFill>
              <a:srgbClr val="0E7C86">
                <a:alpha val="70000"/>
              </a:srgbClr>
            </a:solidFill>
            <a:prstDash val="solid"/>
          </a:ln>
        </p:spPr>
      </p:sp>
      <p:sp>
        <p:nvSpPr>
          <p:cNvPr id="3" name="Shape 1"/>
          <p:cNvSpPr/>
          <p:nvPr/>
        </p:nvSpPr>
        <p:spPr>
          <a:xfrm>
            <a:off x="8778240" y="1828800"/>
            <a:ext cx="1828800" cy="548640"/>
          </a:xfrm>
          <a:prstGeom prst="line">
            <a:avLst/>
          </a:prstGeom>
          <a:noFill/>
          <a:ln w="12700">
            <a:solidFill>
              <a:srgbClr val="0E7C86">
                <a:alpha val="70000"/>
              </a:srgbClr>
            </a:solidFill>
            <a:prstDash val="solid"/>
          </a:ln>
        </p:spPr>
      </p:sp>
      <p:sp>
        <p:nvSpPr>
          <p:cNvPr id="4" name="Shape 2"/>
          <p:cNvSpPr/>
          <p:nvPr/>
        </p:nvSpPr>
        <p:spPr>
          <a:xfrm>
            <a:off x="8778240" y="2377440"/>
            <a:ext cx="1371600" cy="822960"/>
          </a:xfrm>
          <a:prstGeom prst="line">
            <a:avLst/>
          </a:prstGeom>
          <a:noFill/>
          <a:ln w="12700">
            <a:solidFill>
              <a:srgbClr val="0E7C86">
                <a:alpha val="70000"/>
              </a:srgbClr>
            </a:solidFill>
            <a:prstDash val="solid"/>
          </a:ln>
        </p:spPr>
      </p:sp>
      <p:sp>
        <p:nvSpPr>
          <p:cNvPr id="5" name="Shape 3"/>
          <p:cNvSpPr/>
          <p:nvPr/>
        </p:nvSpPr>
        <p:spPr>
          <a:xfrm>
            <a:off x="10149840" y="3200400"/>
            <a:ext cx="1280160" cy="365760"/>
          </a:xfrm>
          <a:prstGeom prst="line">
            <a:avLst/>
          </a:prstGeom>
          <a:noFill/>
          <a:ln w="12700">
            <a:solidFill>
              <a:srgbClr val="0E7C86">
                <a:alpha val="70000"/>
              </a:srgbClr>
            </a:solidFill>
            <a:prstDash val="solid"/>
          </a:ln>
        </p:spPr>
      </p:sp>
      <p:sp>
        <p:nvSpPr>
          <p:cNvPr id="6" name="Shape 4"/>
          <p:cNvSpPr/>
          <p:nvPr/>
        </p:nvSpPr>
        <p:spPr>
          <a:xfrm>
            <a:off x="9144000" y="3566160"/>
            <a:ext cx="2286000" cy="548640"/>
          </a:xfrm>
          <a:prstGeom prst="line">
            <a:avLst/>
          </a:prstGeom>
          <a:noFill/>
          <a:ln w="12700">
            <a:solidFill>
              <a:srgbClr val="0E7C86">
                <a:alpha val="70000"/>
              </a:srgbClr>
            </a:solidFill>
            <a:prstDash val="solid"/>
          </a:ln>
        </p:spPr>
      </p:sp>
      <p:sp>
        <p:nvSpPr>
          <p:cNvPr id="7" name="Shape 5"/>
          <p:cNvSpPr/>
          <p:nvPr/>
        </p:nvSpPr>
        <p:spPr>
          <a:xfrm>
            <a:off x="9144000" y="4114800"/>
            <a:ext cx="1828800" cy="822960"/>
          </a:xfrm>
          <a:prstGeom prst="line">
            <a:avLst/>
          </a:prstGeom>
          <a:noFill/>
          <a:ln w="12700">
            <a:solidFill>
              <a:srgbClr val="0E7C86">
                <a:alpha val="70000"/>
              </a:srgbClr>
            </a:solidFill>
            <a:prstDash val="solid"/>
          </a:ln>
        </p:spPr>
      </p:sp>
      <p:sp>
        <p:nvSpPr>
          <p:cNvPr id="8" name="Shape 6"/>
          <p:cNvSpPr/>
          <p:nvPr/>
        </p:nvSpPr>
        <p:spPr>
          <a:xfrm>
            <a:off x="8138160" y="4572000"/>
            <a:ext cx="2834640" cy="365760"/>
          </a:xfrm>
          <a:prstGeom prst="line">
            <a:avLst/>
          </a:prstGeom>
          <a:noFill/>
          <a:ln w="12700">
            <a:solidFill>
              <a:srgbClr val="0E7C86">
                <a:alpha val="70000"/>
              </a:srgbClr>
            </a:solidFill>
            <a:prstDash val="solid"/>
          </a:ln>
        </p:spPr>
      </p:sp>
      <p:sp>
        <p:nvSpPr>
          <p:cNvPr id="9" name="Shape 7"/>
          <p:cNvSpPr/>
          <p:nvPr/>
        </p:nvSpPr>
        <p:spPr>
          <a:xfrm>
            <a:off x="8138160" y="4572000"/>
            <a:ext cx="2286000" cy="1188720"/>
          </a:xfrm>
          <a:prstGeom prst="line">
            <a:avLst/>
          </a:prstGeom>
          <a:noFill/>
          <a:ln w="12700">
            <a:solidFill>
              <a:srgbClr val="0E7C86">
                <a:alpha val="70000"/>
              </a:srgbClr>
            </a:solidFill>
            <a:prstDash val="solid"/>
          </a:ln>
        </p:spPr>
      </p:sp>
      <p:sp>
        <p:nvSpPr>
          <p:cNvPr id="10" name="Shape 8"/>
          <p:cNvSpPr/>
          <p:nvPr/>
        </p:nvSpPr>
        <p:spPr>
          <a:xfrm>
            <a:off x="9272016" y="1133856"/>
            <a:ext cx="109728" cy="109728"/>
          </a:xfrm>
          <a:prstGeom prst="ellipse">
            <a:avLst/>
          </a:prstGeom>
          <a:solidFill>
            <a:srgbClr val="F2A93B"/>
          </a:solidFill>
          <a:ln/>
        </p:spPr>
      </p:sp>
      <p:sp>
        <p:nvSpPr>
          <p:cNvPr id="11" name="Shape 9"/>
          <p:cNvSpPr/>
          <p:nvPr/>
        </p:nvSpPr>
        <p:spPr>
          <a:xfrm>
            <a:off x="10552176" y="1773936"/>
            <a:ext cx="109728" cy="109728"/>
          </a:xfrm>
          <a:prstGeom prst="ellipse">
            <a:avLst/>
          </a:prstGeom>
          <a:solidFill>
            <a:srgbClr val="0E7C86"/>
          </a:solidFill>
          <a:ln/>
        </p:spPr>
      </p:sp>
      <p:sp>
        <p:nvSpPr>
          <p:cNvPr id="12" name="Shape 10"/>
          <p:cNvSpPr/>
          <p:nvPr/>
        </p:nvSpPr>
        <p:spPr>
          <a:xfrm>
            <a:off x="8723376" y="2322576"/>
            <a:ext cx="109728" cy="109728"/>
          </a:xfrm>
          <a:prstGeom prst="ellipse">
            <a:avLst/>
          </a:prstGeom>
          <a:solidFill>
            <a:srgbClr val="0E7C86"/>
          </a:solidFill>
          <a:ln/>
        </p:spPr>
      </p:sp>
      <p:sp>
        <p:nvSpPr>
          <p:cNvPr id="13" name="Shape 11"/>
          <p:cNvSpPr/>
          <p:nvPr/>
        </p:nvSpPr>
        <p:spPr>
          <a:xfrm>
            <a:off x="10094976" y="3145536"/>
            <a:ext cx="109728" cy="109728"/>
          </a:xfrm>
          <a:prstGeom prst="ellipse">
            <a:avLst/>
          </a:prstGeom>
          <a:solidFill>
            <a:srgbClr val="F2A93B"/>
          </a:solidFill>
          <a:ln/>
        </p:spPr>
      </p:sp>
      <p:sp>
        <p:nvSpPr>
          <p:cNvPr id="14" name="Shape 12"/>
          <p:cNvSpPr/>
          <p:nvPr/>
        </p:nvSpPr>
        <p:spPr>
          <a:xfrm>
            <a:off x="11375136" y="3511296"/>
            <a:ext cx="109728" cy="109728"/>
          </a:xfrm>
          <a:prstGeom prst="ellipse">
            <a:avLst/>
          </a:prstGeom>
          <a:solidFill>
            <a:srgbClr val="0E7C86"/>
          </a:solidFill>
          <a:ln/>
        </p:spPr>
      </p:sp>
      <p:sp>
        <p:nvSpPr>
          <p:cNvPr id="15" name="Shape 13"/>
          <p:cNvSpPr/>
          <p:nvPr/>
        </p:nvSpPr>
        <p:spPr>
          <a:xfrm>
            <a:off x="9089136" y="4059936"/>
            <a:ext cx="109728" cy="109728"/>
          </a:xfrm>
          <a:prstGeom prst="ellipse">
            <a:avLst/>
          </a:prstGeom>
          <a:solidFill>
            <a:srgbClr val="0E7C86"/>
          </a:solidFill>
          <a:ln/>
        </p:spPr>
      </p:sp>
      <p:sp>
        <p:nvSpPr>
          <p:cNvPr id="16" name="Shape 14"/>
          <p:cNvSpPr/>
          <p:nvPr/>
        </p:nvSpPr>
        <p:spPr>
          <a:xfrm>
            <a:off x="10917936" y="4882896"/>
            <a:ext cx="109728" cy="109728"/>
          </a:xfrm>
          <a:prstGeom prst="ellipse">
            <a:avLst/>
          </a:prstGeom>
          <a:solidFill>
            <a:srgbClr val="F2A93B"/>
          </a:solidFill>
          <a:ln/>
        </p:spPr>
      </p:sp>
      <p:sp>
        <p:nvSpPr>
          <p:cNvPr id="17" name="Shape 15"/>
          <p:cNvSpPr/>
          <p:nvPr/>
        </p:nvSpPr>
        <p:spPr>
          <a:xfrm>
            <a:off x="8083296" y="4517136"/>
            <a:ext cx="109728" cy="109728"/>
          </a:xfrm>
          <a:prstGeom prst="ellipse">
            <a:avLst/>
          </a:prstGeom>
          <a:solidFill>
            <a:srgbClr val="0E7C86"/>
          </a:solidFill>
          <a:ln/>
        </p:spPr>
      </p:sp>
      <p:sp>
        <p:nvSpPr>
          <p:cNvPr id="18" name="Shape 16"/>
          <p:cNvSpPr/>
          <p:nvPr/>
        </p:nvSpPr>
        <p:spPr>
          <a:xfrm>
            <a:off x="10369296" y="5705856"/>
            <a:ext cx="109728" cy="109728"/>
          </a:xfrm>
          <a:prstGeom prst="ellipse">
            <a:avLst/>
          </a:prstGeom>
          <a:solidFill>
            <a:srgbClr val="0E7C86"/>
          </a:solidFill>
          <a:ln/>
        </p:spPr>
      </p:sp>
      <p:sp>
        <p:nvSpPr>
          <p:cNvPr id="19" name="Text 17"/>
          <p:cNvSpPr/>
          <p:nvPr/>
        </p:nvSpPr>
        <p:spPr>
          <a:xfrm>
            <a:off x="731520" y="1874520"/>
            <a:ext cx="8229600" cy="320040"/>
          </a:xfrm>
          <a:prstGeom prst="rect">
            <a:avLst/>
          </a:prstGeom>
          <a:noFill/>
          <a:ln/>
        </p:spPr>
        <p:txBody>
          <a:bodyPr wrap="square" lIns="0" tIns="0" rIns="0" bIns="0" rtlCol="0" anchor="ctr"/>
          <a:lstStyle/>
          <a:p>
            <a:pPr marL="0" indent="0">
              <a:buNone/>
            </a:pPr>
            <a:r>
              <a:rPr lang="en-US" sz="1300" b="1" kern="0" spc="200" dirty="0">
                <a:solidFill>
                  <a:srgbClr val="0E7C86"/>
                </a:solidFill>
                <a:latin typeface="Calibri" pitchFamily="34" charset="0"/>
                <a:ea typeface="Calibri" pitchFamily="34" charset="-122"/>
                <a:cs typeface="Calibri" pitchFamily="34" charset="-120"/>
              </a:rPr>
              <a:t>PREDICTIVE MAINTENANCE  ·  INDUSTRIAL AI</a:t>
            </a:r>
            <a:endParaRPr lang="en-US" sz="1300" dirty="0"/>
          </a:p>
        </p:txBody>
      </p:sp>
      <p:sp>
        <p:nvSpPr>
          <p:cNvPr id="20" name="Text 18"/>
          <p:cNvSpPr/>
          <p:nvPr/>
        </p:nvSpPr>
        <p:spPr>
          <a:xfrm>
            <a:off x="713232" y="2286000"/>
            <a:ext cx="96012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Predict. Prevent. Perform.</a:t>
            </a:r>
            <a:endParaRPr lang="en-US" sz="4600" dirty="0"/>
          </a:p>
        </p:txBody>
      </p:sp>
      <p:sp>
        <p:nvSpPr>
          <p:cNvPr id="21" name="Text 19"/>
          <p:cNvSpPr/>
          <p:nvPr/>
        </p:nvSpPr>
        <p:spPr>
          <a:xfrm>
            <a:off x="731520" y="3200400"/>
            <a:ext cx="8778240" cy="640080"/>
          </a:xfrm>
          <a:prstGeom prst="rect">
            <a:avLst/>
          </a:prstGeom>
          <a:noFill/>
          <a:ln/>
        </p:spPr>
        <p:txBody>
          <a:bodyPr wrap="square" lIns="0" tIns="0" rIns="0" bIns="0" rtlCol="0" anchor="ctr"/>
          <a:lstStyle/>
          <a:p>
            <a:pPr marL="0" indent="0">
              <a:buNone/>
            </a:pPr>
            <a:r>
              <a:rPr lang="en-US" sz="1800" dirty="0">
                <a:solidFill>
                  <a:srgbClr val="C9D6DE"/>
                </a:solidFill>
                <a:latin typeface="Calibri" pitchFamily="34" charset="0"/>
                <a:ea typeface="Calibri" pitchFamily="34" charset="-122"/>
                <a:cs typeface="Calibri" pitchFamily="34" charset="-120"/>
              </a:rPr>
              <a:t>AI-Powered Predictive Maintenance with Real-Time Monitoring and Smart Alerts</a:t>
            </a:r>
            <a:endParaRPr lang="en-US" sz="1800" dirty="0"/>
          </a:p>
        </p:txBody>
      </p:sp>
      <p:sp>
        <p:nvSpPr>
          <p:cNvPr id="22" name="Shape 20"/>
          <p:cNvSpPr/>
          <p:nvPr/>
        </p:nvSpPr>
        <p:spPr>
          <a:xfrm>
            <a:off x="731520" y="4114800"/>
            <a:ext cx="2011680" cy="0"/>
          </a:xfrm>
          <a:prstGeom prst="line">
            <a:avLst/>
          </a:prstGeom>
          <a:noFill/>
          <a:ln w="25400">
            <a:solidFill>
              <a:srgbClr val="F2A93B"/>
            </a:solidFill>
            <a:prstDash val="solid"/>
          </a:ln>
        </p:spPr>
      </p:sp>
      <p:sp>
        <p:nvSpPr>
          <p:cNvPr id="23" name="Text 21"/>
          <p:cNvSpPr/>
          <p:nvPr/>
        </p:nvSpPr>
        <p:spPr>
          <a:xfrm>
            <a:off x="731520" y="4343400"/>
            <a:ext cx="8229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Senior Technical Architect  </a:t>
            </a:r>
            <a:r>
              <a:rPr lang="en-US" sz="1300" dirty="0">
                <a:solidFill>
                  <a:srgbClr val="9FB2BE"/>
                </a:solidFill>
                <a:latin typeface="Calibri" pitchFamily="34" charset="0"/>
                <a:ea typeface="Calibri" pitchFamily="34" charset="-122"/>
                <a:cs typeface="Calibri" pitchFamily="34" charset="-120"/>
              </a:rPr>
              <a:t>|  Engineering &amp; Data Science Program</a:t>
            </a:r>
            <a:endParaRPr lang="en-US" sz="1300" dirty="0"/>
          </a:p>
        </p:txBody>
      </p:sp>
      <p:sp>
        <p:nvSpPr>
          <p:cNvPr id="24" name="Text 22"/>
          <p:cNvSpPr/>
          <p:nvPr/>
        </p:nvSpPr>
        <p:spPr>
          <a:xfrm>
            <a:off x="731520" y="4709160"/>
            <a:ext cx="8229600" cy="320040"/>
          </a:xfrm>
          <a:prstGeom prst="rect">
            <a:avLst/>
          </a:prstGeom>
          <a:noFill/>
          <a:ln/>
        </p:spPr>
        <p:txBody>
          <a:bodyPr wrap="square" lIns="0" tIns="0" rIns="0" bIns="0" rtlCol="0" anchor="ctr"/>
          <a:lstStyle/>
          <a:p>
            <a:pPr marL="0" indent="0">
              <a:buNone/>
            </a:pPr>
            <a:r>
              <a:rPr lang="en-US" sz="1200" i="1" dirty="0">
                <a:solidFill>
                  <a:srgbClr val="7F94A2"/>
                </a:solidFill>
                <a:latin typeface="Calibri" pitchFamily="34" charset="0"/>
                <a:ea typeface="Calibri" pitchFamily="34" charset="-122"/>
                <a:cs typeface="Calibri" pitchFamily="34" charset="-120"/>
              </a:rPr>
              <a:t>Domain: Industrial IoT  ·  Machine Learning  ·  Real-Time Systems</a:t>
            </a:r>
            <a:endParaRPr lang="en-US" sz="12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26" name="Text 24"/>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The Cost of Not Knowing</a:t>
            </a:r>
            <a:endParaRPr lang="en-US" sz="3200" dirty="0"/>
          </a:p>
        </p:txBody>
      </p:sp>
      <p:sp>
        <p:nvSpPr>
          <p:cNvPr id="4" name="Text 2"/>
          <p:cNvSpPr/>
          <p:nvPr/>
        </p:nvSpPr>
        <p:spPr>
          <a:xfrm>
            <a:off x="640080" y="1298448"/>
            <a:ext cx="7132320" cy="45720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Reactive and calendar-based maintenance strategies leave critical failures undetected until it's too late.</a:t>
            </a:r>
            <a:endParaRPr lang="en-US" sz="1350" dirty="0"/>
          </a:p>
        </p:txBody>
      </p:sp>
      <p:sp>
        <p:nvSpPr>
          <p:cNvPr id="5" name="Shape 3"/>
          <p:cNvSpPr/>
          <p:nvPr/>
        </p:nvSpPr>
        <p:spPr>
          <a:xfrm>
            <a:off x="640080" y="2057400"/>
            <a:ext cx="5212080" cy="1737360"/>
          </a:xfrm>
          <a:prstGeom prst="roundRect">
            <a:avLst>
              <a:gd name="adj" fmla="val 4211"/>
            </a:avLst>
          </a:prstGeom>
          <a:solidFill>
            <a:srgbClr val="FFFFFF"/>
          </a:solidFill>
          <a:ln/>
          <a:effectLst>
            <a:outerShdw blurRad="101600" dist="38100" dir="5400000" algn="bl" rotWithShape="0">
              <a:srgbClr val="0F2A43">
                <a:alpha val="12000"/>
              </a:srgbClr>
            </a:outerShdw>
          </a:effectLst>
        </p:spPr>
      </p:sp>
      <p:sp>
        <p:nvSpPr>
          <p:cNvPr id="6" name="Shape 4"/>
          <p:cNvSpPr/>
          <p:nvPr/>
        </p:nvSpPr>
        <p:spPr>
          <a:xfrm>
            <a:off x="914400" y="2350008"/>
            <a:ext cx="566928" cy="566928"/>
          </a:xfrm>
          <a:prstGeom prst="ellipse">
            <a:avLst/>
          </a:prstGeom>
          <a:solidFill>
            <a:srgbClr val="E7F3F3"/>
          </a:solidFill>
          <a:ln/>
        </p:spPr>
      </p:sp>
      <p:pic>
        <p:nvPicPr>
          <p:cNvPr id="7" name="Image 0" descr="preencoded.png"/>
          <p:cNvPicPr>
            <a:picLocks noChangeAspect="1"/>
          </p:cNvPicPr>
          <p:nvPr/>
        </p:nvPicPr>
        <p:blipFill>
          <a:blip r:embed="rId3"/>
          <a:stretch>
            <a:fillRect/>
          </a:stretch>
        </p:blipFill>
        <p:spPr>
          <a:xfrm>
            <a:off x="1061801" y="2497409"/>
            <a:ext cx="272125" cy="272125"/>
          </a:xfrm>
          <a:prstGeom prst="rect">
            <a:avLst/>
          </a:prstGeom>
        </p:spPr>
      </p:pic>
      <p:sp>
        <p:nvSpPr>
          <p:cNvPr id="8" name="Text 5"/>
          <p:cNvSpPr/>
          <p:nvPr/>
        </p:nvSpPr>
        <p:spPr>
          <a:xfrm>
            <a:off x="1691640" y="2313432"/>
            <a:ext cx="3931920" cy="320040"/>
          </a:xfrm>
          <a:prstGeom prst="rect">
            <a:avLst/>
          </a:prstGeom>
          <a:noFill/>
          <a:ln/>
        </p:spPr>
        <p:txBody>
          <a:bodyPr wrap="square" lIns="0" tIns="0" rIns="0" bIns="0" rtlCol="0" anchor="ctr"/>
          <a:lstStyle/>
          <a:p>
            <a:pPr marL="0" indent="0">
              <a:buNone/>
            </a:pPr>
            <a:r>
              <a:rPr lang="en-US" sz="1500" b="1" dirty="0">
                <a:solidFill>
                  <a:srgbClr val="16232E"/>
                </a:solidFill>
                <a:latin typeface="Cambria" pitchFamily="34" charset="0"/>
                <a:ea typeface="Cambria" pitchFamily="34" charset="-122"/>
                <a:cs typeface="Cambria" pitchFamily="34" charset="-120"/>
              </a:rPr>
              <a:t>Unplanned Downtime</a:t>
            </a:r>
            <a:endParaRPr lang="en-US" sz="1500" dirty="0"/>
          </a:p>
        </p:txBody>
      </p:sp>
      <p:sp>
        <p:nvSpPr>
          <p:cNvPr id="9" name="Text 6"/>
          <p:cNvSpPr/>
          <p:nvPr/>
        </p:nvSpPr>
        <p:spPr>
          <a:xfrm>
            <a:off x="1691640" y="2679192"/>
            <a:ext cx="3886200" cy="914400"/>
          </a:xfrm>
          <a:prstGeom prst="rect">
            <a:avLst/>
          </a:prstGeom>
          <a:noFill/>
          <a:ln/>
        </p:spPr>
        <p:txBody>
          <a:bodyPr wrap="square" lIns="0" tIns="0" rIns="0" bIns="0" rtlCol="0" anchor="t"/>
          <a:lstStyle/>
          <a:p>
            <a:pPr marL="0" indent="0">
              <a:buNone/>
            </a:pPr>
            <a:r>
              <a:rPr lang="en-US" sz="1200" dirty="0">
                <a:solidFill>
                  <a:srgbClr val="5C6B78"/>
                </a:solidFill>
                <a:latin typeface="Calibri" pitchFamily="34" charset="0"/>
                <a:ea typeface="Calibri" pitchFamily="34" charset="-122"/>
                <a:cs typeface="Calibri" pitchFamily="34" charset="-120"/>
              </a:rPr>
              <a:t>Costly production stoppages from sudden equipment failure</a:t>
            </a:r>
            <a:endParaRPr lang="en-US" sz="1200" dirty="0"/>
          </a:p>
        </p:txBody>
      </p:sp>
      <p:sp>
        <p:nvSpPr>
          <p:cNvPr id="10" name="Shape 7"/>
          <p:cNvSpPr/>
          <p:nvPr/>
        </p:nvSpPr>
        <p:spPr>
          <a:xfrm>
            <a:off x="6172200" y="2057400"/>
            <a:ext cx="5212080" cy="1737360"/>
          </a:xfrm>
          <a:prstGeom prst="roundRect">
            <a:avLst>
              <a:gd name="adj" fmla="val 4211"/>
            </a:avLst>
          </a:prstGeom>
          <a:solidFill>
            <a:srgbClr val="FFFFFF"/>
          </a:solidFill>
          <a:ln/>
          <a:effectLst>
            <a:outerShdw blurRad="101600" dist="38100" dir="5400000" algn="bl" rotWithShape="0">
              <a:srgbClr val="0F2A43">
                <a:alpha val="12000"/>
              </a:srgbClr>
            </a:outerShdw>
          </a:effectLst>
        </p:spPr>
      </p:sp>
      <p:sp>
        <p:nvSpPr>
          <p:cNvPr id="11" name="Shape 8"/>
          <p:cNvSpPr/>
          <p:nvPr/>
        </p:nvSpPr>
        <p:spPr>
          <a:xfrm>
            <a:off x="6446520" y="2350008"/>
            <a:ext cx="566928" cy="566928"/>
          </a:xfrm>
          <a:prstGeom prst="ellipse">
            <a:avLst/>
          </a:prstGeom>
          <a:solidFill>
            <a:srgbClr val="E7F3F3"/>
          </a:solidFill>
          <a:ln/>
        </p:spPr>
      </p:sp>
      <p:pic>
        <p:nvPicPr>
          <p:cNvPr id="12" name="Image 1" descr="preencoded.png"/>
          <p:cNvPicPr>
            <a:picLocks noChangeAspect="1"/>
          </p:cNvPicPr>
          <p:nvPr/>
        </p:nvPicPr>
        <p:blipFill>
          <a:blip r:embed="rId4"/>
          <a:stretch>
            <a:fillRect/>
          </a:stretch>
        </p:blipFill>
        <p:spPr>
          <a:xfrm>
            <a:off x="6593921" y="2497409"/>
            <a:ext cx="272125" cy="272125"/>
          </a:xfrm>
          <a:prstGeom prst="rect">
            <a:avLst/>
          </a:prstGeom>
        </p:spPr>
      </p:pic>
      <p:sp>
        <p:nvSpPr>
          <p:cNvPr id="13" name="Text 9"/>
          <p:cNvSpPr/>
          <p:nvPr/>
        </p:nvSpPr>
        <p:spPr>
          <a:xfrm>
            <a:off x="7223760" y="2313432"/>
            <a:ext cx="3931920" cy="320040"/>
          </a:xfrm>
          <a:prstGeom prst="rect">
            <a:avLst/>
          </a:prstGeom>
          <a:noFill/>
          <a:ln/>
        </p:spPr>
        <p:txBody>
          <a:bodyPr wrap="square" lIns="0" tIns="0" rIns="0" bIns="0" rtlCol="0" anchor="ctr"/>
          <a:lstStyle/>
          <a:p>
            <a:pPr marL="0" indent="0">
              <a:buNone/>
            </a:pPr>
            <a:r>
              <a:rPr lang="en-US" sz="1500" b="1" dirty="0">
                <a:solidFill>
                  <a:srgbClr val="16232E"/>
                </a:solidFill>
                <a:latin typeface="Cambria" pitchFamily="34" charset="0"/>
                <a:ea typeface="Cambria" pitchFamily="34" charset="-122"/>
                <a:cs typeface="Cambria" pitchFamily="34" charset="-120"/>
              </a:rPr>
              <a:t>Wasted Resources</a:t>
            </a:r>
            <a:endParaRPr lang="en-US" sz="1500" dirty="0"/>
          </a:p>
        </p:txBody>
      </p:sp>
      <p:sp>
        <p:nvSpPr>
          <p:cNvPr id="14" name="Text 10"/>
          <p:cNvSpPr/>
          <p:nvPr/>
        </p:nvSpPr>
        <p:spPr>
          <a:xfrm>
            <a:off x="7223760" y="2679192"/>
            <a:ext cx="3886200" cy="914400"/>
          </a:xfrm>
          <a:prstGeom prst="rect">
            <a:avLst/>
          </a:prstGeom>
          <a:noFill/>
          <a:ln/>
        </p:spPr>
        <p:txBody>
          <a:bodyPr wrap="square" lIns="0" tIns="0" rIns="0" bIns="0" rtlCol="0" anchor="t"/>
          <a:lstStyle/>
          <a:p>
            <a:pPr marL="0" indent="0">
              <a:buNone/>
            </a:pPr>
            <a:r>
              <a:rPr lang="en-US" sz="1200" dirty="0">
                <a:solidFill>
                  <a:srgbClr val="5C6B78"/>
                </a:solidFill>
                <a:latin typeface="Calibri" pitchFamily="34" charset="0"/>
                <a:ea typeface="Calibri" pitchFamily="34" charset="-122"/>
                <a:cs typeface="Calibri" pitchFamily="34" charset="-120"/>
              </a:rPr>
              <a:t>Fixed-schedule servicing replaces parts still in good health</a:t>
            </a:r>
            <a:endParaRPr lang="en-US" sz="1200" dirty="0"/>
          </a:p>
        </p:txBody>
      </p:sp>
      <p:sp>
        <p:nvSpPr>
          <p:cNvPr id="15" name="Shape 11"/>
          <p:cNvSpPr/>
          <p:nvPr/>
        </p:nvSpPr>
        <p:spPr>
          <a:xfrm>
            <a:off x="640080" y="4114800"/>
            <a:ext cx="5212080" cy="1737360"/>
          </a:xfrm>
          <a:prstGeom prst="roundRect">
            <a:avLst>
              <a:gd name="adj" fmla="val 4211"/>
            </a:avLst>
          </a:prstGeom>
          <a:solidFill>
            <a:srgbClr val="FFFFFF"/>
          </a:solidFill>
          <a:ln/>
          <a:effectLst>
            <a:outerShdw blurRad="101600" dist="38100" dir="5400000" algn="bl" rotWithShape="0">
              <a:srgbClr val="0F2A43">
                <a:alpha val="12000"/>
              </a:srgbClr>
            </a:outerShdw>
          </a:effectLst>
        </p:spPr>
      </p:sp>
      <p:sp>
        <p:nvSpPr>
          <p:cNvPr id="16" name="Shape 12"/>
          <p:cNvSpPr/>
          <p:nvPr/>
        </p:nvSpPr>
        <p:spPr>
          <a:xfrm>
            <a:off x="914400" y="4407408"/>
            <a:ext cx="566928" cy="566928"/>
          </a:xfrm>
          <a:prstGeom prst="ellipse">
            <a:avLst/>
          </a:prstGeom>
          <a:solidFill>
            <a:srgbClr val="E7F3F3"/>
          </a:solidFill>
          <a:ln/>
        </p:spPr>
      </p:sp>
      <p:pic>
        <p:nvPicPr>
          <p:cNvPr id="17" name="Image 2" descr="preencoded.png"/>
          <p:cNvPicPr>
            <a:picLocks noChangeAspect="1"/>
          </p:cNvPicPr>
          <p:nvPr/>
        </p:nvPicPr>
        <p:blipFill>
          <a:blip r:embed="rId5"/>
          <a:stretch>
            <a:fillRect/>
          </a:stretch>
        </p:blipFill>
        <p:spPr>
          <a:xfrm>
            <a:off x="1061801" y="4554809"/>
            <a:ext cx="272125" cy="272125"/>
          </a:xfrm>
          <a:prstGeom prst="rect">
            <a:avLst/>
          </a:prstGeom>
        </p:spPr>
      </p:pic>
      <p:sp>
        <p:nvSpPr>
          <p:cNvPr id="18" name="Text 13"/>
          <p:cNvSpPr/>
          <p:nvPr/>
        </p:nvSpPr>
        <p:spPr>
          <a:xfrm>
            <a:off x="1691640" y="4370832"/>
            <a:ext cx="3931920" cy="320040"/>
          </a:xfrm>
          <a:prstGeom prst="rect">
            <a:avLst/>
          </a:prstGeom>
          <a:noFill/>
          <a:ln/>
        </p:spPr>
        <p:txBody>
          <a:bodyPr wrap="square" lIns="0" tIns="0" rIns="0" bIns="0" rtlCol="0" anchor="ctr"/>
          <a:lstStyle/>
          <a:p>
            <a:pPr marL="0" indent="0">
              <a:buNone/>
            </a:pPr>
            <a:r>
              <a:rPr lang="en-US" sz="1500" b="1" dirty="0">
                <a:solidFill>
                  <a:srgbClr val="16232E"/>
                </a:solidFill>
                <a:latin typeface="Cambria" pitchFamily="34" charset="0"/>
                <a:ea typeface="Cambria" pitchFamily="34" charset="-122"/>
                <a:cs typeface="Cambria" pitchFamily="34" charset="-120"/>
              </a:rPr>
              <a:t>No Real-Time Visibility</a:t>
            </a:r>
            <a:endParaRPr lang="en-US" sz="1500" dirty="0"/>
          </a:p>
        </p:txBody>
      </p:sp>
      <p:sp>
        <p:nvSpPr>
          <p:cNvPr id="19" name="Text 14"/>
          <p:cNvSpPr/>
          <p:nvPr/>
        </p:nvSpPr>
        <p:spPr>
          <a:xfrm>
            <a:off x="1691640" y="4736592"/>
            <a:ext cx="3886200" cy="914400"/>
          </a:xfrm>
          <a:prstGeom prst="rect">
            <a:avLst/>
          </a:prstGeom>
          <a:noFill/>
          <a:ln/>
        </p:spPr>
        <p:txBody>
          <a:bodyPr wrap="square" lIns="0" tIns="0" rIns="0" bIns="0" rtlCol="0" anchor="t"/>
          <a:lstStyle/>
          <a:p>
            <a:pPr marL="0" indent="0">
              <a:buNone/>
            </a:pPr>
            <a:r>
              <a:rPr lang="en-US" sz="1200" dirty="0">
                <a:solidFill>
                  <a:srgbClr val="5C6B78"/>
                </a:solidFill>
                <a:latin typeface="Calibri" pitchFamily="34" charset="0"/>
                <a:ea typeface="Calibri" pitchFamily="34" charset="-122"/>
                <a:cs typeface="Calibri" pitchFamily="34" charset="-120"/>
              </a:rPr>
              <a:t>Failure signals go unnoticed until damage compounds</a:t>
            </a:r>
            <a:endParaRPr lang="en-US" sz="1200" dirty="0"/>
          </a:p>
        </p:txBody>
      </p:sp>
      <p:sp>
        <p:nvSpPr>
          <p:cNvPr id="20" name="Shape 15"/>
          <p:cNvSpPr/>
          <p:nvPr/>
        </p:nvSpPr>
        <p:spPr>
          <a:xfrm>
            <a:off x="6172200" y="4114800"/>
            <a:ext cx="5212080" cy="1737360"/>
          </a:xfrm>
          <a:prstGeom prst="roundRect">
            <a:avLst>
              <a:gd name="adj" fmla="val 4211"/>
            </a:avLst>
          </a:prstGeom>
          <a:solidFill>
            <a:srgbClr val="FFFFFF"/>
          </a:solidFill>
          <a:ln/>
          <a:effectLst>
            <a:outerShdw blurRad="101600" dist="38100" dir="5400000" algn="bl" rotWithShape="0">
              <a:srgbClr val="0F2A43">
                <a:alpha val="12000"/>
              </a:srgbClr>
            </a:outerShdw>
          </a:effectLst>
        </p:spPr>
      </p:sp>
      <p:sp>
        <p:nvSpPr>
          <p:cNvPr id="21" name="Shape 16"/>
          <p:cNvSpPr/>
          <p:nvPr/>
        </p:nvSpPr>
        <p:spPr>
          <a:xfrm>
            <a:off x="6446520" y="4407408"/>
            <a:ext cx="566928" cy="566928"/>
          </a:xfrm>
          <a:prstGeom prst="ellipse">
            <a:avLst/>
          </a:prstGeom>
          <a:solidFill>
            <a:srgbClr val="E7F3F3"/>
          </a:solidFill>
          <a:ln/>
        </p:spPr>
      </p:sp>
      <p:pic>
        <p:nvPicPr>
          <p:cNvPr id="22" name="Image 3" descr="preencoded.png"/>
          <p:cNvPicPr>
            <a:picLocks noChangeAspect="1"/>
          </p:cNvPicPr>
          <p:nvPr/>
        </p:nvPicPr>
        <p:blipFill>
          <a:blip r:embed="rId6"/>
          <a:stretch>
            <a:fillRect/>
          </a:stretch>
        </p:blipFill>
        <p:spPr>
          <a:xfrm>
            <a:off x="6593921" y="4554809"/>
            <a:ext cx="272125" cy="272125"/>
          </a:xfrm>
          <a:prstGeom prst="rect">
            <a:avLst/>
          </a:prstGeom>
        </p:spPr>
      </p:pic>
      <p:sp>
        <p:nvSpPr>
          <p:cNvPr id="23" name="Text 17"/>
          <p:cNvSpPr/>
          <p:nvPr/>
        </p:nvSpPr>
        <p:spPr>
          <a:xfrm>
            <a:off x="7223760" y="4370832"/>
            <a:ext cx="3931920" cy="320040"/>
          </a:xfrm>
          <a:prstGeom prst="rect">
            <a:avLst/>
          </a:prstGeom>
          <a:noFill/>
          <a:ln/>
        </p:spPr>
        <p:txBody>
          <a:bodyPr wrap="square" lIns="0" tIns="0" rIns="0" bIns="0" rtlCol="0" anchor="ctr"/>
          <a:lstStyle/>
          <a:p>
            <a:pPr marL="0" indent="0">
              <a:buNone/>
            </a:pPr>
            <a:r>
              <a:rPr lang="en-US" sz="1500" b="1" dirty="0">
                <a:solidFill>
                  <a:srgbClr val="16232E"/>
                </a:solidFill>
                <a:latin typeface="Cambria" pitchFamily="34" charset="0"/>
                <a:ea typeface="Cambria" pitchFamily="34" charset="-122"/>
                <a:cs typeface="Cambria" pitchFamily="34" charset="-120"/>
              </a:rPr>
              <a:t>Manual Inspection Doesn't Scale</a:t>
            </a:r>
            <a:endParaRPr lang="en-US" sz="1500" dirty="0"/>
          </a:p>
        </p:txBody>
      </p:sp>
      <p:sp>
        <p:nvSpPr>
          <p:cNvPr id="24" name="Text 18"/>
          <p:cNvSpPr/>
          <p:nvPr/>
        </p:nvSpPr>
        <p:spPr>
          <a:xfrm>
            <a:off x="7223760" y="4736592"/>
            <a:ext cx="3886200" cy="914400"/>
          </a:xfrm>
          <a:prstGeom prst="rect">
            <a:avLst/>
          </a:prstGeom>
          <a:noFill/>
          <a:ln/>
        </p:spPr>
        <p:txBody>
          <a:bodyPr wrap="square" lIns="0" tIns="0" rIns="0" bIns="0" rtlCol="0" anchor="t"/>
          <a:lstStyle/>
          <a:p>
            <a:pPr marL="0" indent="0">
              <a:buNone/>
            </a:pPr>
            <a:r>
              <a:rPr lang="en-US" sz="1200" dirty="0">
                <a:solidFill>
                  <a:srgbClr val="5C6B78"/>
                </a:solidFill>
                <a:latin typeface="Calibri" pitchFamily="34" charset="0"/>
                <a:ea typeface="Calibri" pitchFamily="34" charset="-122"/>
                <a:cs typeface="Calibri" pitchFamily="34" charset="-120"/>
              </a:rPr>
              <a:t>Human checks can't cover distributed industrial assets</a:t>
            </a:r>
            <a:endParaRPr lang="en-US" sz="1200" dirty="0"/>
          </a:p>
        </p:txBody>
      </p:sp>
      <p:sp>
        <p:nvSpPr>
          <p:cNvPr id="25" name="Text 19"/>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26" name="Text 2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From Sensors to Insight</a:t>
            </a:r>
            <a:endParaRPr lang="en-US" sz="3200" dirty="0"/>
          </a:p>
        </p:txBody>
      </p:sp>
      <p:sp>
        <p:nvSpPr>
          <p:cNvPr id="4" name="Text 2"/>
          <p:cNvSpPr/>
          <p:nvPr/>
        </p:nvSpPr>
        <p:spPr>
          <a:xfrm>
            <a:off x="640080" y="1298448"/>
            <a:ext cx="82296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A closed-loop pipeline that senses, predicts, and acts — before failure occurs.</a:t>
            </a:r>
            <a:endParaRPr lang="en-US" sz="1350" dirty="0"/>
          </a:p>
        </p:txBody>
      </p:sp>
      <p:sp>
        <p:nvSpPr>
          <p:cNvPr id="5" name="Shape 3"/>
          <p:cNvSpPr/>
          <p:nvPr/>
        </p:nvSpPr>
        <p:spPr>
          <a:xfrm>
            <a:off x="856336" y="2331720"/>
            <a:ext cx="2331720" cy="288036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6" name="Shape 4"/>
          <p:cNvSpPr/>
          <p:nvPr/>
        </p:nvSpPr>
        <p:spPr>
          <a:xfrm>
            <a:off x="1633576" y="2624328"/>
            <a:ext cx="777240" cy="777240"/>
          </a:xfrm>
          <a:prstGeom prst="ellipse">
            <a:avLst/>
          </a:prstGeom>
          <a:solidFill>
            <a:srgbClr val="E7F3F3"/>
          </a:solidFill>
          <a:ln/>
        </p:spPr>
      </p:sp>
      <p:pic>
        <p:nvPicPr>
          <p:cNvPr id="7" name="Image 0" descr="preencoded.png"/>
          <p:cNvPicPr>
            <a:picLocks noChangeAspect="1"/>
          </p:cNvPicPr>
          <p:nvPr/>
        </p:nvPicPr>
        <p:blipFill>
          <a:blip r:embed="rId3"/>
          <a:stretch>
            <a:fillRect/>
          </a:stretch>
        </p:blipFill>
        <p:spPr>
          <a:xfrm>
            <a:off x="1835658" y="2826410"/>
            <a:ext cx="373075" cy="373075"/>
          </a:xfrm>
          <a:prstGeom prst="rect">
            <a:avLst/>
          </a:prstGeom>
        </p:spPr>
      </p:pic>
      <p:sp>
        <p:nvSpPr>
          <p:cNvPr id="8" name="Text 5"/>
          <p:cNvSpPr/>
          <p:nvPr/>
        </p:nvSpPr>
        <p:spPr>
          <a:xfrm>
            <a:off x="1039216" y="2496312"/>
            <a:ext cx="5486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01</a:t>
            </a:r>
            <a:endParaRPr lang="en-US" sz="1100" dirty="0"/>
          </a:p>
        </p:txBody>
      </p:sp>
      <p:sp>
        <p:nvSpPr>
          <p:cNvPr id="9" name="Text 6"/>
          <p:cNvSpPr/>
          <p:nvPr/>
        </p:nvSpPr>
        <p:spPr>
          <a:xfrm>
            <a:off x="1039216" y="3566160"/>
            <a:ext cx="1965960" cy="365760"/>
          </a:xfrm>
          <a:prstGeom prst="rect">
            <a:avLst/>
          </a:prstGeom>
          <a:noFill/>
          <a:ln/>
        </p:spPr>
        <p:txBody>
          <a:bodyPr wrap="square" lIns="0" tIns="0" rIns="0" bIns="0" rtlCol="0" anchor="ctr"/>
          <a:lstStyle/>
          <a:p>
            <a:pPr marL="0" indent="0" algn="ctr">
              <a:buNone/>
            </a:pPr>
            <a:r>
              <a:rPr lang="en-US" sz="1700" b="1" dirty="0">
                <a:solidFill>
                  <a:srgbClr val="16232E"/>
                </a:solidFill>
                <a:latin typeface="Cambria" pitchFamily="34" charset="0"/>
                <a:ea typeface="Cambria" pitchFamily="34" charset="-122"/>
                <a:cs typeface="Cambria" pitchFamily="34" charset="-120"/>
              </a:rPr>
              <a:t>Sense</a:t>
            </a:r>
            <a:endParaRPr lang="en-US" sz="1700" dirty="0"/>
          </a:p>
        </p:txBody>
      </p:sp>
      <p:sp>
        <p:nvSpPr>
          <p:cNvPr id="10" name="Text 7"/>
          <p:cNvSpPr/>
          <p:nvPr/>
        </p:nvSpPr>
        <p:spPr>
          <a:xfrm>
            <a:off x="1057504" y="3977640"/>
            <a:ext cx="1929384" cy="1143000"/>
          </a:xfrm>
          <a:prstGeom prst="rect">
            <a:avLst/>
          </a:prstGeom>
          <a:noFill/>
          <a:ln/>
        </p:spPr>
        <p:txBody>
          <a:bodyPr wrap="square" lIns="0" tIns="0" rIns="0" bIns="0" rtlCol="0" anchor="t"/>
          <a:lstStyle/>
          <a:p>
            <a:pPr marL="0" indent="0" algn="ctr">
              <a:buNone/>
            </a:pPr>
            <a:r>
              <a:rPr lang="en-US" sz="1150" dirty="0">
                <a:solidFill>
                  <a:srgbClr val="5C6B78"/>
                </a:solidFill>
                <a:latin typeface="Calibri" pitchFamily="34" charset="0"/>
                <a:ea typeface="Calibri" pitchFamily="34" charset="-122"/>
                <a:cs typeface="Calibri" pitchFamily="34" charset="-120"/>
              </a:rPr>
              <a:t>Continuous ingestion of vibration, temperature &amp; pressure data</a:t>
            </a:r>
            <a:endParaRPr lang="en-US" sz="1150" dirty="0"/>
          </a:p>
        </p:txBody>
      </p:sp>
      <p:sp>
        <p:nvSpPr>
          <p:cNvPr id="11" name="Shape 8"/>
          <p:cNvSpPr/>
          <p:nvPr/>
        </p:nvSpPr>
        <p:spPr>
          <a:xfrm>
            <a:off x="3297784" y="3689604"/>
            <a:ext cx="164592" cy="164592"/>
          </a:xfrm>
          <a:prstGeom prst="ellipse">
            <a:avLst/>
          </a:prstGeom>
          <a:solidFill>
            <a:srgbClr val="F2A93B"/>
          </a:solidFill>
          <a:ln w="12700">
            <a:solidFill>
              <a:srgbClr val="F2A93B"/>
            </a:solidFill>
            <a:prstDash val="solid"/>
          </a:ln>
        </p:spPr>
      </p:sp>
      <p:sp>
        <p:nvSpPr>
          <p:cNvPr id="12" name="Shape 9"/>
          <p:cNvSpPr/>
          <p:nvPr/>
        </p:nvSpPr>
        <p:spPr>
          <a:xfrm>
            <a:off x="3572104" y="2331720"/>
            <a:ext cx="2331720" cy="288036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13" name="Shape 10"/>
          <p:cNvSpPr/>
          <p:nvPr/>
        </p:nvSpPr>
        <p:spPr>
          <a:xfrm>
            <a:off x="4349344" y="2624328"/>
            <a:ext cx="777240" cy="777240"/>
          </a:xfrm>
          <a:prstGeom prst="ellipse">
            <a:avLst/>
          </a:prstGeom>
          <a:solidFill>
            <a:srgbClr val="E7F3F3"/>
          </a:solidFill>
          <a:ln/>
        </p:spPr>
      </p:sp>
      <p:pic>
        <p:nvPicPr>
          <p:cNvPr id="14" name="Image 1" descr="preencoded.png"/>
          <p:cNvPicPr>
            <a:picLocks noChangeAspect="1"/>
          </p:cNvPicPr>
          <p:nvPr/>
        </p:nvPicPr>
        <p:blipFill>
          <a:blip r:embed="rId4"/>
          <a:stretch>
            <a:fillRect/>
          </a:stretch>
        </p:blipFill>
        <p:spPr>
          <a:xfrm>
            <a:off x="4551426" y="2826410"/>
            <a:ext cx="373075" cy="373075"/>
          </a:xfrm>
          <a:prstGeom prst="rect">
            <a:avLst/>
          </a:prstGeom>
        </p:spPr>
      </p:pic>
      <p:sp>
        <p:nvSpPr>
          <p:cNvPr id="15" name="Text 11"/>
          <p:cNvSpPr/>
          <p:nvPr/>
        </p:nvSpPr>
        <p:spPr>
          <a:xfrm>
            <a:off x="3754984" y="2496312"/>
            <a:ext cx="5486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02</a:t>
            </a:r>
            <a:endParaRPr lang="en-US" sz="1100" dirty="0"/>
          </a:p>
        </p:txBody>
      </p:sp>
      <p:sp>
        <p:nvSpPr>
          <p:cNvPr id="16" name="Text 12"/>
          <p:cNvSpPr/>
          <p:nvPr/>
        </p:nvSpPr>
        <p:spPr>
          <a:xfrm>
            <a:off x="3754984" y="3566160"/>
            <a:ext cx="1965960" cy="365760"/>
          </a:xfrm>
          <a:prstGeom prst="rect">
            <a:avLst/>
          </a:prstGeom>
          <a:noFill/>
          <a:ln/>
        </p:spPr>
        <p:txBody>
          <a:bodyPr wrap="square" lIns="0" tIns="0" rIns="0" bIns="0" rtlCol="0" anchor="ctr"/>
          <a:lstStyle/>
          <a:p>
            <a:pPr marL="0" indent="0" algn="ctr">
              <a:buNone/>
            </a:pPr>
            <a:r>
              <a:rPr lang="en-US" sz="1700" b="1" dirty="0">
                <a:solidFill>
                  <a:srgbClr val="16232E"/>
                </a:solidFill>
                <a:latin typeface="Cambria" pitchFamily="34" charset="0"/>
                <a:ea typeface="Cambria" pitchFamily="34" charset="-122"/>
                <a:cs typeface="Cambria" pitchFamily="34" charset="-120"/>
              </a:rPr>
              <a:t>Process</a:t>
            </a:r>
            <a:endParaRPr lang="en-US" sz="1700" dirty="0"/>
          </a:p>
        </p:txBody>
      </p:sp>
      <p:sp>
        <p:nvSpPr>
          <p:cNvPr id="17" name="Text 13"/>
          <p:cNvSpPr/>
          <p:nvPr/>
        </p:nvSpPr>
        <p:spPr>
          <a:xfrm>
            <a:off x="3773272" y="3977640"/>
            <a:ext cx="1929384" cy="1143000"/>
          </a:xfrm>
          <a:prstGeom prst="rect">
            <a:avLst/>
          </a:prstGeom>
          <a:noFill/>
          <a:ln/>
        </p:spPr>
        <p:txBody>
          <a:bodyPr wrap="square" lIns="0" tIns="0" rIns="0" bIns="0" rtlCol="0" anchor="t"/>
          <a:lstStyle/>
          <a:p>
            <a:pPr marL="0" indent="0" algn="ctr">
              <a:buNone/>
            </a:pPr>
            <a:r>
              <a:rPr lang="en-US" sz="1150" dirty="0">
                <a:solidFill>
                  <a:srgbClr val="5C6B78"/>
                </a:solidFill>
                <a:latin typeface="Calibri" pitchFamily="34" charset="0"/>
                <a:ea typeface="Calibri" pitchFamily="34" charset="-122"/>
                <a:cs typeface="Calibri" pitchFamily="34" charset="-120"/>
              </a:rPr>
              <a:t>Streaming pipeline cleans and engineers time-series features</a:t>
            </a:r>
            <a:endParaRPr lang="en-US" sz="1150" dirty="0"/>
          </a:p>
        </p:txBody>
      </p:sp>
      <p:sp>
        <p:nvSpPr>
          <p:cNvPr id="18" name="Shape 14"/>
          <p:cNvSpPr/>
          <p:nvPr/>
        </p:nvSpPr>
        <p:spPr>
          <a:xfrm>
            <a:off x="6013552" y="3689604"/>
            <a:ext cx="164592" cy="164592"/>
          </a:xfrm>
          <a:prstGeom prst="ellipse">
            <a:avLst/>
          </a:prstGeom>
          <a:solidFill>
            <a:srgbClr val="F2A93B"/>
          </a:solidFill>
          <a:ln w="12700">
            <a:solidFill>
              <a:srgbClr val="F2A93B"/>
            </a:solidFill>
            <a:prstDash val="solid"/>
          </a:ln>
        </p:spPr>
      </p:sp>
      <p:sp>
        <p:nvSpPr>
          <p:cNvPr id="19" name="Shape 15"/>
          <p:cNvSpPr/>
          <p:nvPr/>
        </p:nvSpPr>
        <p:spPr>
          <a:xfrm>
            <a:off x="6287872" y="2331720"/>
            <a:ext cx="2331720" cy="288036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20" name="Shape 16"/>
          <p:cNvSpPr/>
          <p:nvPr/>
        </p:nvSpPr>
        <p:spPr>
          <a:xfrm>
            <a:off x="7065112" y="2624328"/>
            <a:ext cx="777240" cy="777240"/>
          </a:xfrm>
          <a:prstGeom prst="ellipse">
            <a:avLst/>
          </a:prstGeom>
          <a:solidFill>
            <a:srgbClr val="E7F3F3"/>
          </a:solidFill>
          <a:ln/>
        </p:spPr>
      </p:sp>
      <p:pic>
        <p:nvPicPr>
          <p:cNvPr id="21" name="Image 2" descr="preencoded.png"/>
          <p:cNvPicPr>
            <a:picLocks noChangeAspect="1"/>
          </p:cNvPicPr>
          <p:nvPr/>
        </p:nvPicPr>
        <p:blipFill>
          <a:blip r:embed="rId5"/>
          <a:stretch>
            <a:fillRect/>
          </a:stretch>
        </p:blipFill>
        <p:spPr>
          <a:xfrm>
            <a:off x="7267194" y="2826410"/>
            <a:ext cx="373075" cy="373075"/>
          </a:xfrm>
          <a:prstGeom prst="rect">
            <a:avLst/>
          </a:prstGeom>
        </p:spPr>
      </p:pic>
      <p:sp>
        <p:nvSpPr>
          <p:cNvPr id="22" name="Text 17"/>
          <p:cNvSpPr/>
          <p:nvPr/>
        </p:nvSpPr>
        <p:spPr>
          <a:xfrm>
            <a:off x="6470752" y="2496312"/>
            <a:ext cx="5486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03</a:t>
            </a:r>
            <a:endParaRPr lang="en-US" sz="1100" dirty="0"/>
          </a:p>
        </p:txBody>
      </p:sp>
      <p:sp>
        <p:nvSpPr>
          <p:cNvPr id="23" name="Text 18"/>
          <p:cNvSpPr/>
          <p:nvPr/>
        </p:nvSpPr>
        <p:spPr>
          <a:xfrm>
            <a:off x="6470752" y="3566160"/>
            <a:ext cx="1965960" cy="365760"/>
          </a:xfrm>
          <a:prstGeom prst="rect">
            <a:avLst/>
          </a:prstGeom>
          <a:noFill/>
          <a:ln/>
        </p:spPr>
        <p:txBody>
          <a:bodyPr wrap="square" lIns="0" tIns="0" rIns="0" bIns="0" rtlCol="0" anchor="ctr"/>
          <a:lstStyle/>
          <a:p>
            <a:pPr marL="0" indent="0" algn="ctr">
              <a:buNone/>
            </a:pPr>
            <a:r>
              <a:rPr lang="en-US" sz="1700" b="1" dirty="0">
                <a:solidFill>
                  <a:srgbClr val="16232E"/>
                </a:solidFill>
                <a:latin typeface="Cambria" pitchFamily="34" charset="0"/>
                <a:ea typeface="Cambria" pitchFamily="34" charset="-122"/>
                <a:cs typeface="Cambria" pitchFamily="34" charset="-120"/>
              </a:rPr>
              <a:t>Predict</a:t>
            </a:r>
            <a:endParaRPr lang="en-US" sz="1700" dirty="0"/>
          </a:p>
        </p:txBody>
      </p:sp>
      <p:sp>
        <p:nvSpPr>
          <p:cNvPr id="24" name="Text 19"/>
          <p:cNvSpPr/>
          <p:nvPr/>
        </p:nvSpPr>
        <p:spPr>
          <a:xfrm>
            <a:off x="6489040" y="3977640"/>
            <a:ext cx="1929384" cy="1143000"/>
          </a:xfrm>
          <a:prstGeom prst="rect">
            <a:avLst/>
          </a:prstGeom>
          <a:noFill/>
          <a:ln/>
        </p:spPr>
        <p:txBody>
          <a:bodyPr wrap="square" lIns="0" tIns="0" rIns="0" bIns="0" rtlCol="0" anchor="t"/>
          <a:lstStyle/>
          <a:p>
            <a:pPr marL="0" indent="0" algn="ctr">
              <a:buNone/>
            </a:pPr>
            <a:r>
              <a:rPr lang="en-US" sz="1150" dirty="0">
                <a:solidFill>
                  <a:srgbClr val="5C6B78"/>
                </a:solidFill>
                <a:latin typeface="Calibri" pitchFamily="34" charset="0"/>
                <a:ea typeface="Calibri" pitchFamily="34" charset="-122"/>
                <a:cs typeface="Calibri" pitchFamily="34" charset="-120"/>
              </a:rPr>
              <a:t>ML models forecast Remaining Useful Life (RUL) per asset</a:t>
            </a:r>
            <a:endParaRPr lang="en-US" sz="1150" dirty="0"/>
          </a:p>
        </p:txBody>
      </p:sp>
      <p:sp>
        <p:nvSpPr>
          <p:cNvPr id="25" name="Shape 20"/>
          <p:cNvSpPr/>
          <p:nvPr/>
        </p:nvSpPr>
        <p:spPr>
          <a:xfrm>
            <a:off x="8729320" y="3689604"/>
            <a:ext cx="164592" cy="164592"/>
          </a:xfrm>
          <a:prstGeom prst="ellipse">
            <a:avLst/>
          </a:prstGeom>
          <a:solidFill>
            <a:srgbClr val="F2A93B"/>
          </a:solidFill>
          <a:ln w="12700">
            <a:solidFill>
              <a:srgbClr val="F2A93B"/>
            </a:solidFill>
            <a:prstDash val="solid"/>
          </a:ln>
        </p:spPr>
      </p:sp>
      <p:sp>
        <p:nvSpPr>
          <p:cNvPr id="26" name="Shape 21"/>
          <p:cNvSpPr/>
          <p:nvPr/>
        </p:nvSpPr>
        <p:spPr>
          <a:xfrm>
            <a:off x="9003640" y="2331720"/>
            <a:ext cx="2331720" cy="2880360"/>
          </a:xfrm>
          <a:prstGeom prst="roundRect">
            <a:avLst>
              <a:gd name="adj" fmla="val 3529"/>
            </a:avLst>
          </a:prstGeom>
          <a:solidFill>
            <a:srgbClr val="173A57"/>
          </a:solidFill>
          <a:ln/>
          <a:effectLst>
            <a:outerShdw blurRad="101600" dist="38100" dir="5400000" algn="bl" rotWithShape="0">
              <a:srgbClr val="0F2A43">
                <a:alpha val="12000"/>
              </a:srgbClr>
            </a:outerShdw>
          </a:effectLst>
        </p:spPr>
      </p:sp>
      <p:sp>
        <p:nvSpPr>
          <p:cNvPr id="27" name="Shape 22"/>
          <p:cNvSpPr/>
          <p:nvPr/>
        </p:nvSpPr>
        <p:spPr>
          <a:xfrm>
            <a:off x="9780880" y="2624328"/>
            <a:ext cx="777240" cy="777240"/>
          </a:xfrm>
          <a:prstGeom prst="ellipse">
            <a:avLst/>
          </a:prstGeom>
          <a:solidFill>
            <a:srgbClr val="24506E"/>
          </a:solidFill>
          <a:ln/>
        </p:spPr>
      </p:sp>
      <p:pic>
        <p:nvPicPr>
          <p:cNvPr id="28" name="Image 3" descr="preencoded.png"/>
          <p:cNvPicPr>
            <a:picLocks noChangeAspect="1"/>
          </p:cNvPicPr>
          <p:nvPr/>
        </p:nvPicPr>
        <p:blipFill>
          <a:blip r:embed="rId6"/>
          <a:stretch>
            <a:fillRect/>
          </a:stretch>
        </p:blipFill>
        <p:spPr>
          <a:xfrm>
            <a:off x="9982962" y="2826410"/>
            <a:ext cx="373075" cy="373075"/>
          </a:xfrm>
          <a:prstGeom prst="rect">
            <a:avLst/>
          </a:prstGeom>
        </p:spPr>
      </p:pic>
      <p:sp>
        <p:nvSpPr>
          <p:cNvPr id="29" name="Text 23"/>
          <p:cNvSpPr/>
          <p:nvPr/>
        </p:nvSpPr>
        <p:spPr>
          <a:xfrm>
            <a:off x="9186520" y="2496312"/>
            <a:ext cx="548640" cy="274320"/>
          </a:xfrm>
          <a:prstGeom prst="rect">
            <a:avLst/>
          </a:prstGeom>
          <a:noFill/>
          <a:ln/>
        </p:spPr>
        <p:txBody>
          <a:bodyPr wrap="square" lIns="0" tIns="0" rIns="0" bIns="0" rtlCol="0" anchor="ctr"/>
          <a:lstStyle/>
          <a:p>
            <a:pPr marL="0" indent="0">
              <a:buNone/>
            </a:pPr>
            <a:r>
              <a:rPr lang="en-US" sz="1100" b="1" dirty="0">
                <a:solidFill>
                  <a:srgbClr val="F2A93B"/>
                </a:solidFill>
                <a:latin typeface="Calibri" pitchFamily="34" charset="0"/>
                <a:ea typeface="Calibri" pitchFamily="34" charset="-122"/>
                <a:cs typeface="Calibri" pitchFamily="34" charset="-120"/>
              </a:rPr>
              <a:t>04</a:t>
            </a:r>
            <a:endParaRPr lang="en-US" sz="1100" dirty="0"/>
          </a:p>
        </p:txBody>
      </p:sp>
      <p:sp>
        <p:nvSpPr>
          <p:cNvPr id="30" name="Text 24"/>
          <p:cNvSpPr/>
          <p:nvPr/>
        </p:nvSpPr>
        <p:spPr>
          <a:xfrm>
            <a:off x="9186520" y="3566160"/>
            <a:ext cx="196596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Alert</a:t>
            </a:r>
            <a:endParaRPr lang="en-US" sz="1700" dirty="0"/>
          </a:p>
        </p:txBody>
      </p:sp>
      <p:sp>
        <p:nvSpPr>
          <p:cNvPr id="31" name="Text 25"/>
          <p:cNvSpPr/>
          <p:nvPr/>
        </p:nvSpPr>
        <p:spPr>
          <a:xfrm>
            <a:off x="9204808" y="3977640"/>
            <a:ext cx="1929384" cy="1143000"/>
          </a:xfrm>
          <a:prstGeom prst="rect">
            <a:avLst/>
          </a:prstGeom>
          <a:noFill/>
          <a:ln/>
        </p:spPr>
        <p:txBody>
          <a:bodyPr wrap="square" lIns="0" tIns="0" rIns="0" bIns="0" rtlCol="0" anchor="t"/>
          <a:lstStyle/>
          <a:p>
            <a:pPr marL="0" indent="0" algn="ctr">
              <a:buNone/>
            </a:pPr>
            <a:r>
              <a:rPr lang="en-US" sz="1150" dirty="0">
                <a:solidFill>
                  <a:srgbClr val="C9D6DE"/>
                </a:solidFill>
                <a:latin typeface="Calibri" pitchFamily="34" charset="0"/>
                <a:ea typeface="Calibri" pitchFamily="34" charset="-122"/>
                <a:cs typeface="Calibri" pitchFamily="34" charset="-120"/>
              </a:rPr>
              <a:t>Smart, prioritized alerts reach the right team instantly</a:t>
            </a:r>
            <a:endParaRPr lang="en-US" sz="1150" dirty="0"/>
          </a:p>
        </p:txBody>
      </p:sp>
      <p:sp>
        <p:nvSpPr>
          <p:cNvPr id="32" name="Text 26"/>
          <p:cNvSpPr/>
          <p:nvPr/>
        </p:nvSpPr>
        <p:spPr>
          <a:xfrm>
            <a:off x="640080" y="5532120"/>
            <a:ext cx="10881360" cy="320040"/>
          </a:xfrm>
          <a:prstGeom prst="rect">
            <a:avLst/>
          </a:prstGeom>
          <a:noFill/>
          <a:ln/>
        </p:spPr>
        <p:txBody>
          <a:bodyPr wrap="square" lIns="0" tIns="0" rIns="0" bIns="0" rtlCol="0" anchor="ctr"/>
          <a:lstStyle/>
          <a:p>
            <a:pPr marL="0" indent="0" algn="ctr">
              <a:buNone/>
            </a:pPr>
            <a:r>
              <a:rPr lang="en-US" sz="1200" i="1" dirty="0">
                <a:solidFill>
                  <a:srgbClr val="5C6B78"/>
                </a:solidFill>
                <a:latin typeface="Calibri" pitchFamily="34" charset="0"/>
                <a:ea typeface="Calibri" pitchFamily="34" charset="-122"/>
                <a:cs typeface="Calibri" pitchFamily="34" charset="-120"/>
              </a:rPr>
              <a:t>Unified dashboard gives maintenance teams and leadership a single source of truth.</a:t>
            </a:r>
            <a:endParaRPr lang="en-US" sz="1200" dirty="0"/>
          </a:p>
        </p:txBody>
      </p:sp>
      <p:sp>
        <p:nvSpPr>
          <p:cNvPr id="33" name="Text 2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34" name="Text 28"/>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ENGINEERING</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System Architecture</a:t>
            </a:r>
            <a:endParaRPr lang="en-US" sz="3200" dirty="0"/>
          </a:p>
        </p:txBody>
      </p:sp>
      <p:sp>
        <p:nvSpPr>
          <p:cNvPr id="4" name="Text 2"/>
          <p:cNvSpPr/>
          <p:nvPr/>
        </p:nvSpPr>
        <p:spPr>
          <a:xfrm>
            <a:off x="640080" y="1298448"/>
            <a:ext cx="86868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Engineered for scale: modular layers separate ingestion, processing, inference, and delivery.</a:t>
            </a:r>
            <a:endParaRPr lang="en-US" sz="1350" dirty="0"/>
          </a:p>
        </p:txBody>
      </p:sp>
      <p:sp>
        <p:nvSpPr>
          <p:cNvPr id="5" name="Shape 3"/>
          <p:cNvSpPr/>
          <p:nvPr/>
        </p:nvSpPr>
        <p:spPr>
          <a:xfrm>
            <a:off x="640080" y="1965960"/>
            <a:ext cx="7406640" cy="786384"/>
          </a:xfrm>
          <a:prstGeom prst="roundRect">
            <a:avLst>
              <a:gd name="adj" fmla="val 8140"/>
            </a:avLst>
          </a:prstGeom>
          <a:solidFill>
            <a:srgbClr val="E7F3F3"/>
          </a:solidFill>
          <a:ln/>
          <a:effectLst>
            <a:outerShdw blurRad="101600" dist="38100" dir="5400000" algn="bl" rotWithShape="0">
              <a:srgbClr val="0F2A43">
                <a:alpha val="12000"/>
              </a:srgbClr>
            </a:outerShdw>
          </a:effectLst>
        </p:spPr>
      </p:sp>
      <p:sp>
        <p:nvSpPr>
          <p:cNvPr id="6" name="Shape 4"/>
          <p:cNvSpPr/>
          <p:nvPr/>
        </p:nvSpPr>
        <p:spPr>
          <a:xfrm>
            <a:off x="841248" y="2130552"/>
            <a:ext cx="457200" cy="457200"/>
          </a:xfrm>
          <a:prstGeom prst="ellipse">
            <a:avLst/>
          </a:prstGeom>
          <a:solidFill>
            <a:srgbClr val="FFFFFF"/>
          </a:solidFill>
          <a:ln/>
        </p:spPr>
      </p:sp>
      <p:pic>
        <p:nvPicPr>
          <p:cNvPr id="7" name="Image 0" descr="preencoded.png"/>
          <p:cNvPicPr>
            <a:picLocks noChangeAspect="1"/>
          </p:cNvPicPr>
          <p:nvPr/>
        </p:nvPicPr>
        <p:blipFill>
          <a:blip r:embed="rId3"/>
          <a:stretch>
            <a:fillRect/>
          </a:stretch>
        </p:blipFill>
        <p:spPr>
          <a:xfrm>
            <a:off x="960120" y="2249424"/>
            <a:ext cx="219456" cy="219456"/>
          </a:xfrm>
          <a:prstGeom prst="rect">
            <a:avLst/>
          </a:prstGeom>
        </p:spPr>
      </p:pic>
      <p:sp>
        <p:nvSpPr>
          <p:cNvPr id="8" name="Text 5"/>
          <p:cNvSpPr/>
          <p:nvPr/>
        </p:nvSpPr>
        <p:spPr>
          <a:xfrm>
            <a:off x="1508760" y="2057400"/>
            <a:ext cx="4297680" cy="320040"/>
          </a:xfrm>
          <a:prstGeom prst="rect">
            <a:avLst/>
          </a:prstGeom>
          <a:noFill/>
          <a:ln/>
        </p:spPr>
        <p:txBody>
          <a:bodyPr wrap="square" lIns="0" tIns="0" rIns="0" bIns="0" rtlCol="0" anchor="ctr"/>
          <a:lstStyle/>
          <a:p>
            <a:pPr marL="0" indent="0">
              <a:buNone/>
            </a:pPr>
            <a:r>
              <a:rPr lang="en-US" sz="1450" b="1" dirty="0">
                <a:solidFill>
                  <a:srgbClr val="16232E"/>
                </a:solidFill>
                <a:latin typeface="Cambria" pitchFamily="34" charset="0"/>
                <a:ea typeface="Cambria" pitchFamily="34" charset="-122"/>
                <a:cs typeface="Cambria" pitchFamily="34" charset="-120"/>
              </a:rPr>
              <a:t>Edge / IoT Layer</a:t>
            </a:r>
            <a:endParaRPr lang="en-US" sz="1450" dirty="0"/>
          </a:p>
        </p:txBody>
      </p:sp>
      <p:sp>
        <p:nvSpPr>
          <p:cNvPr id="9" name="Text 6"/>
          <p:cNvSpPr/>
          <p:nvPr/>
        </p:nvSpPr>
        <p:spPr>
          <a:xfrm>
            <a:off x="1508760" y="2386584"/>
            <a:ext cx="4297680" cy="292608"/>
          </a:xfrm>
          <a:prstGeom prst="rect">
            <a:avLst/>
          </a:prstGeom>
          <a:noFill/>
          <a:ln/>
        </p:spPr>
        <p:txBody>
          <a:bodyPr wrap="square" lIns="0" tIns="0" rIns="0" bIns="0" rtlCol="0" anchor="ctr"/>
          <a:lstStyle/>
          <a:p>
            <a:pPr marL="0" indent="0">
              <a:buNone/>
            </a:pPr>
            <a:r>
              <a:rPr lang="en-US" sz="1100" dirty="0">
                <a:solidFill>
                  <a:srgbClr val="5C6B78"/>
                </a:solidFill>
                <a:latin typeface="Calibri" pitchFamily="34" charset="0"/>
                <a:ea typeface="Calibri" pitchFamily="34" charset="-122"/>
                <a:cs typeface="Calibri" pitchFamily="34" charset="-120"/>
              </a:rPr>
              <a:t>Sensors pre-process data at source</a:t>
            </a:r>
            <a:endParaRPr lang="en-US" sz="1100" dirty="0"/>
          </a:p>
        </p:txBody>
      </p:sp>
      <p:sp>
        <p:nvSpPr>
          <p:cNvPr id="10" name="Shape 7"/>
          <p:cNvSpPr/>
          <p:nvPr/>
        </p:nvSpPr>
        <p:spPr>
          <a:xfrm>
            <a:off x="4343400" y="2752344"/>
            <a:ext cx="0" cy="128016"/>
          </a:xfrm>
          <a:prstGeom prst="line">
            <a:avLst/>
          </a:prstGeom>
          <a:noFill/>
          <a:ln w="19050">
            <a:solidFill>
              <a:srgbClr val="0E7C86"/>
            </a:solidFill>
            <a:prstDash val="solid"/>
            <a:tailEnd type="triangle"/>
          </a:ln>
        </p:spPr>
      </p:sp>
      <p:sp>
        <p:nvSpPr>
          <p:cNvPr id="11" name="Shape 8"/>
          <p:cNvSpPr/>
          <p:nvPr/>
        </p:nvSpPr>
        <p:spPr>
          <a:xfrm>
            <a:off x="640080" y="2880360"/>
            <a:ext cx="7406640" cy="786384"/>
          </a:xfrm>
          <a:prstGeom prst="roundRect">
            <a:avLst>
              <a:gd name="adj" fmla="val 8140"/>
            </a:avLst>
          </a:prstGeom>
          <a:solidFill>
            <a:srgbClr val="FFFFFF"/>
          </a:solidFill>
          <a:ln/>
          <a:effectLst>
            <a:outerShdw blurRad="101600" dist="38100" dir="5400000" algn="bl" rotWithShape="0">
              <a:srgbClr val="0F2A43">
                <a:alpha val="12000"/>
              </a:srgbClr>
            </a:outerShdw>
          </a:effectLst>
        </p:spPr>
      </p:sp>
      <p:sp>
        <p:nvSpPr>
          <p:cNvPr id="12" name="Shape 9"/>
          <p:cNvSpPr/>
          <p:nvPr/>
        </p:nvSpPr>
        <p:spPr>
          <a:xfrm>
            <a:off x="841248" y="3044952"/>
            <a:ext cx="457200" cy="457200"/>
          </a:xfrm>
          <a:prstGeom prst="ellipse">
            <a:avLst/>
          </a:prstGeom>
          <a:solidFill>
            <a:srgbClr val="FFFFFF"/>
          </a:solidFill>
          <a:ln/>
        </p:spPr>
      </p:sp>
      <p:pic>
        <p:nvPicPr>
          <p:cNvPr id="13" name="Image 1" descr="preencoded.png"/>
          <p:cNvPicPr>
            <a:picLocks noChangeAspect="1"/>
          </p:cNvPicPr>
          <p:nvPr/>
        </p:nvPicPr>
        <p:blipFill>
          <a:blip r:embed="rId4"/>
          <a:stretch>
            <a:fillRect/>
          </a:stretch>
        </p:blipFill>
        <p:spPr>
          <a:xfrm>
            <a:off x="960120" y="3163824"/>
            <a:ext cx="219456" cy="219456"/>
          </a:xfrm>
          <a:prstGeom prst="rect">
            <a:avLst/>
          </a:prstGeom>
        </p:spPr>
      </p:pic>
      <p:sp>
        <p:nvSpPr>
          <p:cNvPr id="14" name="Text 10"/>
          <p:cNvSpPr/>
          <p:nvPr/>
        </p:nvSpPr>
        <p:spPr>
          <a:xfrm>
            <a:off x="1508760" y="2971800"/>
            <a:ext cx="4297680" cy="320040"/>
          </a:xfrm>
          <a:prstGeom prst="rect">
            <a:avLst/>
          </a:prstGeom>
          <a:noFill/>
          <a:ln/>
        </p:spPr>
        <p:txBody>
          <a:bodyPr wrap="square" lIns="0" tIns="0" rIns="0" bIns="0" rtlCol="0" anchor="ctr"/>
          <a:lstStyle/>
          <a:p>
            <a:pPr marL="0" indent="0">
              <a:buNone/>
            </a:pPr>
            <a:r>
              <a:rPr lang="en-US" sz="1450" b="1" dirty="0">
                <a:solidFill>
                  <a:srgbClr val="16232E"/>
                </a:solidFill>
                <a:latin typeface="Cambria" pitchFamily="34" charset="0"/>
                <a:ea typeface="Cambria" pitchFamily="34" charset="-122"/>
                <a:cs typeface="Cambria" pitchFamily="34" charset="-120"/>
              </a:rPr>
              <a:t>Ingestion Layer</a:t>
            </a:r>
            <a:endParaRPr lang="en-US" sz="1450" dirty="0"/>
          </a:p>
        </p:txBody>
      </p:sp>
      <p:sp>
        <p:nvSpPr>
          <p:cNvPr id="15" name="Text 11"/>
          <p:cNvSpPr/>
          <p:nvPr/>
        </p:nvSpPr>
        <p:spPr>
          <a:xfrm>
            <a:off x="1508760" y="3300984"/>
            <a:ext cx="4297680" cy="292608"/>
          </a:xfrm>
          <a:prstGeom prst="rect">
            <a:avLst/>
          </a:prstGeom>
          <a:noFill/>
          <a:ln/>
        </p:spPr>
        <p:txBody>
          <a:bodyPr wrap="square" lIns="0" tIns="0" rIns="0" bIns="0" rtlCol="0" anchor="ctr"/>
          <a:lstStyle/>
          <a:p>
            <a:pPr marL="0" indent="0">
              <a:buNone/>
            </a:pPr>
            <a:r>
              <a:rPr lang="en-US" sz="1100" dirty="0">
                <a:solidFill>
                  <a:srgbClr val="5C6B78"/>
                </a:solidFill>
                <a:latin typeface="Calibri" pitchFamily="34" charset="0"/>
                <a:ea typeface="Calibri" pitchFamily="34" charset="-122"/>
                <a:cs typeface="Calibri" pitchFamily="34" charset="-120"/>
              </a:rPr>
              <a:t>Kafka / MQTT streaming broker</a:t>
            </a:r>
            <a:endParaRPr lang="en-US" sz="1100" dirty="0"/>
          </a:p>
        </p:txBody>
      </p:sp>
      <p:sp>
        <p:nvSpPr>
          <p:cNvPr id="16" name="Shape 12"/>
          <p:cNvSpPr/>
          <p:nvPr/>
        </p:nvSpPr>
        <p:spPr>
          <a:xfrm>
            <a:off x="4343400" y="3666744"/>
            <a:ext cx="0" cy="128016"/>
          </a:xfrm>
          <a:prstGeom prst="line">
            <a:avLst/>
          </a:prstGeom>
          <a:noFill/>
          <a:ln w="19050">
            <a:solidFill>
              <a:srgbClr val="0E7C86"/>
            </a:solidFill>
            <a:prstDash val="solid"/>
            <a:tailEnd type="triangle"/>
          </a:ln>
        </p:spPr>
      </p:sp>
      <p:sp>
        <p:nvSpPr>
          <p:cNvPr id="17" name="Shape 13"/>
          <p:cNvSpPr/>
          <p:nvPr/>
        </p:nvSpPr>
        <p:spPr>
          <a:xfrm>
            <a:off x="640080" y="3794760"/>
            <a:ext cx="7406640" cy="786384"/>
          </a:xfrm>
          <a:prstGeom prst="roundRect">
            <a:avLst>
              <a:gd name="adj" fmla="val 8140"/>
            </a:avLst>
          </a:prstGeom>
          <a:solidFill>
            <a:srgbClr val="E7F3F3"/>
          </a:solidFill>
          <a:ln/>
          <a:effectLst>
            <a:outerShdw blurRad="101600" dist="38100" dir="5400000" algn="bl" rotWithShape="0">
              <a:srgbClr val="0F2A43">
                <a:alpha val="12000"/>
              </a:srgbClr>
            </a:outerShdw>
          </a:effectLst>
        </p:spPr>
      </p:sp>
      <p:sp>
        <p:nvSpPr>
          <p:cNvPr id="18" name="Shape 14"/>
          <p:cNvSpPr/>
          <p:nvPr/>
        </p:nvSpPr>
        <p:spPr>
          <a:xfrm>
            <a:off x="841248" y="3959352"/>
            <a:ext cx="457200" cy="457200"/>
          </a:xfrm>
          <a:prstGeom prst="ellipse">
            <a:avLst/>
          </a:prstGeom>
          <a:solidFill>
            <a:srgbClr val="FFFFFF"/>
          </a:solidFill>
          <a:ln/>
        </p:spPr>
      </p:sp>
      <p:pic>
        <p:nvPicPr>
          <p:cNvPr id="19" name="Image 2" descr="preencoded.png"/>
          <p:cNvPicPr>
            <a:picLocks noChangeAspect="1"/>
          </p:cNvPicPr>
          <p:nvPr/>
        </p:nvPicPr>
        <p:blipFill>
          <a:blip r:embed="rId5"/>
          <a:stretch>
            <a:fillRect/>
          </a:stretch>
        </p:blipFill>
        <p:spPr>
          <a:xfrm>
            <a:off x="960120" y="4078224"/>
            <a:ext cx="219456" cy="219456"/>
          </a:xfrm>
          <a:prstGeom prst="rect">
            <a:avLst/>
          </a:prstGeom>
        </p:spPr>
      </p:pic>
      <p:sp>
        <p:nvSpPr>
          <p:cNvPr id="20" name="Text 15"/>
          <p:cNvSpPr/>
          <p:nvPr/>
        </p:nvSpPr>
        <p:spPr>
          <a:xfrm>
            <a:off x="1508760" y="3886200"/>
            <a:ext cx="4297680" cy="320040"/>
          </a:xfrm>
          <a:prstGeom prst="rect">
            <a:avLst/>
          </a:prstGeom>
          <a:noFill/>
          <a:ln/>
        </p:spPr>
        <p:txBody>
          <a:bodyPr wrap="square" lIns="0" tIns="0" rIns="0" bIns="0" rtlCol="0" anchor="ctr"/>
          <a:lstStyle/>
          <a:p>
            <a:pPr marL="0" indent="0">
              <a:buNone/>
            </a:pPr>
            <a:r>
              <a:rPr lang="en-US" sz="1450" b="1" dirty="0">
                <a:solidFill>
                  <a:srgbClr val="16232E"/>
                </a:solidFill>
                <a:latin typeface="Cambria" pitchFamily="34" charset="0"/>
                <a:ea typeface="Cambria" pitchFamily="34" charset="-122"/>
                <a:cs typeface="Cambria" pitchFamily="34" charset="-120"/>
              </a:rPr>
              <a:t>Processing Layer</a:t>
            </a:r>
            <a:endParaRPr lang="en-US" sz="1450" dirty="0"/>
          </a:p>
        </p:txBody>
      </p:sp>
      <p:sp>
        <p:nvSpPr>
          <p:cNvPr id="21" name="Text 16"/>
          <p:cNvSpPr/>
          <p:nvPr/>
        </p:nvSpPr>
        <p:spPr>
          <a:xfrm>
            <a:off x="1508760" y="4215384"/>
            <a:ext cx="4297680" cy="292608"/>
          </a:xfrm>
          <a:prstGeom prst="rect">
            <a:avLst/>
          </a:prstGeom>
          <a:noFill/>
          <a:ln/>
        </p:spPr>
        <p:txBody>
          <a:bodyPr wrap="square" lIns="0" tIns="0" rIns="0" bIns="0" rtlCol="0" anchor="ctr"/>
          <a:lstStyle/>
          <a:p>
            <a:pPr marL="0" indent="0">
              <a:buNone/>
            </a:pPr>
            <a:r>
              <a:rPr lang="en-US" sz="1100" dirty="0">
                <a:solidFill>
                  <a:srgbClr val="5C6B78"/>
                </a:solidFill>
                <a:latin typeface="Calibri" pitchFamily="34" charset="0"/>
                <a:ea typeface="Calibri" pitchFamily="34" charset="-122"/>
                <a:cs typeface="Calibri" pitchFamily="34" charset="-120"/>
              </a:rPr>
              <a:t>Real-time stream + batch analytics</a:t>
            </a:r>
            <a:endParaRPr lang="en-US" sz="1100" dirty="0"/>
          </a:p>
        </p:txBody>
      </p:sp>
      <p:sp>
        <p:nvSpPr>
          <p:cNvPr id="22" name="Shape 17"/>
          <p:cNvSpPr/>
          <p:nvPr/>
        </p:nvSpPr>
        <p:spPr>
          <a:xfrm>
            <a:off x="4343400" y="4581144"/>
            <a:ext cx="0" cy="128016"/>
          </a:xfrm>
          <a:prstGeom prst="line">
            <a:avLst/>
          </a:prstGeom>
          <a:noFill/>
          <a:ln w="19050">
            <a:solidFill>
              <a:srgbClr val="0E7C86"/>
            </a:solidFill>
            <a:prstDash val="solid"/>
            <a:tailEnd type="triangle"/>
          </a:ln>
        </p:spPr>
      </p:sp>
      <p:sp>
        <p:nvSpPr>
          <p:cNvPr id="23" name="Shape 18"/>
          <p:cNvSpPr/>
          <p:nvPr/>
        </p:nvSpPr>
        <p:spPr>
          <a:xfrm>
            <a:off x="640080" y="4709160"/>
            <a:ext cx="7406640" cy="786384"/>
          </a:xfrm>
          <a:prstGeom prst="roundRect">
            <a:avLst>
              <a:gd name="adj" fmla="val 8140"/>
            </a:avLst>
          </a:prstGeom>
          <a:solidFill>
            <a:srgbClr val="FFFFFF"/>
          </a:solidFill>
          <a:ln/>
          <a:effectLst>
            <a:outerShdw blurRad="101600" dist="38100" dir="5400000" algn="bl" rotWithShape="0">
              <a:srgbClr val="0F2A43">
                <a:alpha val="12000"/>
              </a:srgbClr>
            </a:outerShdw>
          </a:effectLst>
        </p:spPr>
      </p:sp>
      <p:sp>
        <p:nvSpPr>
          <p:cNvPr id="24" name="Shape 19"/>
          <p:cNvSpPr/>
          <p:nvPr/>
        </p:nvSpPr>
        <p:spPr>
          <a:xfrm>
            <a:off x="841248" y="4873752"/>
            <a:ext cx="457200" cy="457200"/>
          </a:xfrm>
          <a:prstGeom prst="ellipse">
            <a:avLst/>
          </a:prstGeom>
          <a:solidFill>
            <a:srgbClr val="FFFFFF"/>
          </a:solidFill>
          <a:ln/>
        </p:spPr>
      </p:sp>
      <p:pic>
        <p:nvPicPr>
          <p:cNvPr id="25" name="Image 3" descr="preencoded.png"/>
          <p:cNvPicPr>
            <a:picLocks noChangeAspect="1"/>
          </p:cNvPicPr>
          <p:nvPr/>
        </p:nvPicPr>
        <p:blipFill>
          <a:blip r:embed="rId6"/>
          <a:stretch>
            <a:fillRect/>
          </a:stretch>
        </p:blipFill>
        <p:spPr>
          <a:xfrm>
            <a:off x="960120" y="4992624"/>
            <a:ext cx="219456" cy="219456"/>
          </a:xfrm>
          <a:prstGeom prst="rect">
            <a:avLst/>
          </a:prstGeom>
        </p:spPr>
      </p:pic>
      <p:sp>
        <p:nvSpPr>
          <p:cNvPr id="26" name="Text 20"/>
          <p:cNvSpPr/>
          <p:nvPr/>
        </p:nvSpPr>
        <p:spPr>
          <a:xfrm>
            <a:off x="1508760" y="4800600"/>
            <a:ext cx="4297680" cy="320040"/>
          </a:xfrm>
          <a:prstGeom prst="rect">
            <a:avLst/>
          </a:prstGeom>
          <a:noFill/>
          <a:ln/>
        </p:spPr>
        <p:txBody>
          <a:bodyPr wrap="square" lIns="0" tIns="0" rIns="0" bIns="0" rtlCol="0" anchor="ctr"/>
          <a:lstStyle/>
          <a:p>
            <a:pPr marL="0" indent="0">
              <a:buNone/>
            </a:pPr>
            <a:r>
              <a:rPr lang="en-US" sz="1450" b="1" dirty="0">
                <a:solidFill>
                  <a:srgbClr val="16232E"/>
                </a:solidFill>
                <a:latin typeface="Cambria" pitchFamily="34" charset="0"/>
                <a:ea typeface="Cambria" pitchFamily="34" charset="-122"/>
                <a:cs typeface="Cambria" pitchFamily="34" charset="-120"/>
              </a:rPr>
              <a:t>ML Inference Layer</a:t>
            </a:r>
            <a:endParaRPr lang="en-US" sz="1450" dirty="0"/>
          </a:p>
        </p:txBody>
      </p:sp>
      <p:sp>
        <p:nvSpPr>
          <p:cNvPr id="27" name="Text 21"/>
          <p:cNvSpPr/>
          <p:nvPr/>
        </p:nvSpPr>
        <p:spPr>
          <a:xfrm>
            <a:off x="1508760" y="5129784"/>
            <a:ext cx="4297680" cy="292608"/>
          </a:xfrm>
          <a:prstGeom prst="rect">
            <a:avLst/>
          </a:prstGeom>
          <a:noFill/>
          <a:ln/>
        </p:spPr>
        <p:txBody>
          <a:bodyPr wrap="square" lIns="0" tIns="0" rIns="0" bIns="0" rtlCol="0" anchor="ctr"/>
          <a:lstStyle/>
          <a:p>
            <a:pPr marL="0" indent="0">
              <a:buNone/>
            </a:pPr>
            <a:r>
              <a:rPr lang="en-US" sz="1100" dirty="0">
                <a:solidFill>
                  <a:srgbClr val="5C6B78"/>
                </a:solidFill>
                <a:latin typeface="Calibri" pitchFamily="34" charset="0"/>
                <a:ea typeface="Calibri" pitchFamily="34" charset="-122"/>
                <a:cs typeface="Calibri" pitchFamily="34" charset="-120"/>
              </a:rPr>
              <a:t>RUL prediction &amp; anomaly detection</a:t>
            </a:r>
            <a:endParaRPr lang="en-US" sz="1100" dirty="0"/>
          </a:p>
        </p:txBody>
      </p:sp>
      <p:sp>
        <p:nvSpPr>
          <p:cNvPr id="28" name="Shape 22"/>
          <p:cNvSpPr/>
          <p:nvPr/>
        </p:nvSpPr>
        <p:spPr>
          <a:xfrm>
            <a:off x="4343400" y="5495544"/>
            <a:ext cx="0" cy="128016"/>
          </a:xfrm>
          <a:prstGeom prst="line">
            <a:avLst/>
          </a:prstGeom>
          <a:noFill/>
          <a:ln w="19050">
            <a:solidFill>
              <a:srgbClr val="0E7C86"/>
            </a:solidFill>
            <a:prstDash val="solid"/>
            <a:tailEnd type="triangle"/>
          </a:ln>
        </p:spPr>
      </p:sp>
      <p:sp>
        <p:nvSpPr>
          <p:cNvPr id="29" name="Shape 23"/>
          <p:cNvSpPr/>
          <p:nvPr/>
        </p:nvSpPr>
        <p:spPr>
          <a:xfrm>
            <a:off x="640080" y="5623560"/>
            <a:ext cx="7406640" cy="786384"/>
          </a:xfrm>
          <a:prstGeom prst="roundRect">
            <a:avLst>
              <a:gd name="adj" fmla="val 8140"/>
            </a:avLst>
          </a:prstGeom>
          <a:solidFill>
            <a:srgbClr val="E7F3F3"/>
          </a:solidFill>
          <a:ln/>
          <a:effectLst>
            <a:outerShdw blurRad="101600" dist="38100" dir="5400000" algn="bl" rotWithShape="0">
              <a:srgbClr val="0F2A43">
                <a:alpha val="12000"/>
              </a:srgbClr>
            </a:outerShdw>
          </a:effectLst>
        </p:spPr>
      </p:sp>
      <p:sp>
        <p:nvSpPr>
          <p:cNvPr id="30" name="Shape 24"/>
          <p:cNvSpPr/>
          <p:nvPr/>
        </p:nvSpPr>
        <p:spPr>
          <a:xfrm>
            <a:off x="841248" y="5788152"/>
            <a:ext cx="457200" cy="457200"/>
          </a:xfrm>
          <a:prstGeom prst="ellipse">
            <a:avLst/>
          </a:prstGeom>
          <a:solidFill>
            <a:srgbClr val="FFFFFF"/>
          </a:solidFill>
          <a:ln/>
        </p:spPr>
      </p:sp>
      <p:pic>
        <p:nvPicPr>
          <p:cNvPr id="31" name="Image 4" descr="preencoded.png"/>
          <p:cNvPicPr>
            <a:picLocks noChangeAspect="1"/>
          </p:cNvPicPr>
          <p:nvPr/>
        </p:nvPicPr>
        <p:blipFill>
          <a:blip r:embed="rId7"/>
          <a:stretch>
            <a:fillRect/>
          </a:stretch>
        </p:blipFill>
        <p:spPr>
          <a:xfrm>
            <a:off x="960120" y="5907024"/>
            <a:ext cx="219456" cy="219456"/>
          </a:xfrm>
          <a:prstGeom prst="rect">
            <a:avLst/>
          </a:prstGeom>
        </p:spPr>
      </p:pic>
      <p:sp>
        <p:nvSpPr>
          <p:cNvPr id="32" name="Text 25"/>
          <p:cNvSpPr/>
          <p:nvPr/>
        </p:nvSpPr>
        <p:spPr>
          <a:xfrm>
            <a:off x="1508760" y="5715000"/>
            <a:ext cx="4297680" cy="320040"/>
          </a:xfrm>
          <a:prstGeom prst="rect">
            <a:avLst/>
          </a:prstGeom>
          <a:noFill/>
          <a:ln/>
        </p:spPr>
        <p:txBody>
          <a:bodyPr wrap="square" lIns="0" tIns="0" rIns="0" bIns="0" rtlCol="0" anchor="ctr"/>
          <a:lstStyle/>
          <a:p>
            <a:pPr marL="0" indent="0">
              <a:buNone/>
            </a:pPr>
            <a:r>
              <a:rPr lang="en-US" sz="1450" b="1" dirty="0">
                <a:solidFill>
                  <a:srgbClr val="16232E"/>
                </a:solidFill>
                <a:latin typeface="Cambria" pitchFamily="34" charset="0"/>
                <a:ea typeface="Cambria" pitchFamily="34" charset="-122"/>
                <a:cs typeface="Cambria" pitchFamily="34" charset="-120"/>
              </a:rPr>
              <a:t>Serving &amp; Dashboard</a:t>
            </a:r>
            <a:endParaRPr lang="en-US" sz="1450" dirty="0"/>
          </a:p>
        </p:txBody>
      </p:sp>
      <p:sp>
        <p:nvSpPr>
          <p:cNvPr id="33" name="Text 26"/>
          <p:cNvSpPr/>
          <p:nvPr/>
        </p:nvSpPr>
        <p:spPr>
          <a:xfrm>
            <a:off x="1508760" y="6044184"/>
            <a:ext cx="4297680" cy="292608"/>
          </a:xfrm>
          <a:prstGeom prst="rect">
            <a:avLst/>
          </a:prstGeom>
          <a:noFill/>
          <a:ln/>
        </p:spPr>
        <p:txBody>
          <a:bodyPr wrap="square" lIns="0" tIns="0" rIns="0" bIns="0" rtlCol="0" anchor="ctr"/>
          <a:lstStyle/>
          <a:p>
            <a:pPr marL="0" indent="0">
              <a:buNone/>
            </a:pPr>
            <a:r>
              <a:rPr lang="en-US" sz="1100" dirty="0">
                <a:solidFill>
                  <a:srgbClr val="5C6B78"/>
                </a:solidFill>
                <a:latin typeface="Calibri" pitchFamily="34" charset="0"/>
                <a:ea typeface="Calibri" pitchFamily="34" charset="-122"/>
                <a:cs typeface="Calibri" pitchFamily="34" charset="-120"/>
              </a:rPr>
              <a:t>APIs, alerts, and live visualization</a:t>
            </a:r>
            <a:endParaRPr lang="en-US" sz="1100" dirty="0"/>
          </a:p>
        </p:txBody>
      </p:sp>
      <p:sp>
        <p:nvSpPr>
          <p:cNvPr id="34" name="Shape 27"/>
          <p:cNvSpPr/>
          <p:nvPr/>
        </p:nvSpPr>
        <p:spPr>
          <a:xfrm>
            <a:off x="8366760" y="1965960"/>
            <a:ext cx="3200400" cy="1234440"/>
          </a:xfrm>
          <a:prstGeom prst="roundRect">
            <a:avLst>
              <a:gd name="adj" fmla="val 5926"/>
            </a:avLst>
          </a:prstGeom>
          <a:solidFill>
            <a:srgbClr val="0F2A43"/>
          </a:solidFill>
          <a:ln/>
          <a:effectLst>
            <a:outerShdw blurRad="101600" dist="38100" dir="5400000" algn="bl" rotWithShape="0">
              <a:srgbClr val="0F2A43">
                <a:alpha val="12000"/>
              </a:srgbClr>
            </a:outerShdw>
          </a:effectLst>
        </p:spPr>
      </p:sp>
      <p:sp>
        <p:nvSpPr>
          <p:cNvPr id="35" name="Shape 28"/>
          <p:cNvSpPr/>
          <p:nvPr/>
        </p:nvSpPr>
        <p:spPr>
          <a:xfrm>
            <a:off x="8567928" y="2148840"/>
            <a:ext cx="438912" cy="438912"/>
          </a:xfrm>
          <a:prstGeom prst="ellipse">
            <a:avLst/>
          </a:prstGeom>
          <a:solidFill>
            <a:srgbClr val="1F4863"/>
          </a:solidFill>
          <a:ln/>
        </p:spPr>
      </p:sp>
      <p:pic>
        <p:nvPicPr>
          <p:cNvPr id="36" name="Image 5" descr="preencoded.png"/>
          <p:cNvPicPr>
            <a:picLocks noChangeAspect="1"/>
          </p:cNvPicPr>
          <p:nvPr/>
        </p:nvPicPr>
        <p:blipFill>
          <a:blip r:embed="rId8"/>
          <a:stretch>
            <a:fillRect/>
          </a:stretch>
        </p:blipFill>
        <p:spPr>
          <a:xfrm>
            <a:off x="8682045" y="2262957"/>
            <a:ext cx="210678" cy="210678"/>
          </a:xfrm>
          <a:prstGeom prst="rect">
            <a:avLst/>
          </a:prstGeom>
        </p:spPr>
      </p:pic>
      <p:sp>
        <p:nvSpPr>
          <p:cNvPr id="37" name="Text 29"/>
          <p:cNvSpPr/>
          <p:nvPr/>
        </p:nvSpPr>
        <p:spPr>
          <a:xfrm>
            <a:off x="9144000" y="2112264"/>
            <a:ext cx="2240280"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High-throughput</a:t>
            </a:r>
            <a:endParaRPr lang="en-US" sz="1300" dirty="0"/>
          </a:p>
        </p:txBody>
      </p:sp>
      <p:sp>
        <p:nvSpPr>
          <p:cNvPr id="38" name="Text 30"/>
          <p:cNvSpPr/>
          <p:nvPr/>
        </p:nvSpPr>
        <p:spPr>
          <a:xfrm>
            <a:off x="9144000" y="2423160"/>
            <a:ext cx="2240280" cy="685800"/>
          </a:xfrm>
          <a:prstGeom prst="rect">
            <a:avLst/>
          </a:prstGeom>
          <a:noFill/>
          <a:ln/>
        </p:spPr>
        <p:txBody>
          <a:bodyPr wrap="square" lIns="0" tIns="0" rIns="0" bIns="0" rtlCol="0" anchor="ctr"/>
          <a:lstStyle/>
          <a:p>
            <a:pPr marL="0" indent="0">
              <a:buNone/>
            </a:pPr>
            <a:r>
              <a:rPr lang="en-US" sz="1050" dirty="0">
                <a:solidFill>
                  <a:srgbClr val="AEC2CE"/>
                </a:solidFill>
                <a:latin typeface="Calibri" pitchFamily="34" charset="0"/>
                <a:ea typeface="Calibri" pitchFamily="34" charset="-122"/>
                <a:cs typeface="Calibri" pitchFamily="34" charset="-120"/>
              </a:rPr>
              <a:t>Handles thousands of sensor events per second</a:t>
            </a:r>
            <a:endParaRPr lang="en-US" sz="1050" dirty="0"/>
          </a:p>
        </p:txBody>
      </p:sp>
      <p:sp>
        <p:nvSpPr>
          <p:cNvPr id="39" name="Shape 31"/>
          <p:cNvSpPr/>
          <p:nvPr/>
        </p:nvSpPr>
        <p:spPr>
          <a:xfrm>
            <a:off x="8366760" y="3429000"/>
            <a:ext cx="3200400" cy="1234440"/>
          </a:xfrm>
          <a:prstGeom prst="roundRect">
            <a:avLst>
              <a:gd name="adj" fmla="val 5926"/>
            </a:avLst>
          </a:prstGeom>
          <a:solidFill>
            <a:srgbClr val="0F2A43"/>
          </a:solidFill>
          <a:ln/>
          <a:effectLst>
            <a:outerShdw blurRad="101600" dist="38100" dir="5400000" algn="bl" rotWithShape="0">
              <a:srgbClr val="0F2A43">
                <a:alpha val="12000"/>
              </a:srgbClr>
            </a:outerShdw>
          </a:effectLst>
        </p:spPr>
      </p:sp>
      <p:sp>
        <p:nvSpPr>
          <p:cNvPr id="40" name="Shape 32"/>
          <p:cNvSpPr/>
          <p:nvPr/>
        </p:nvSpPr>
        <p:spPr>
          <a:xfrm>
            <a:off x="8567928" y="3611880"/>
            <a:ext cx="438912" cy="438912"/>
          </a:xfrm>
          <a:prstGeom prst="ellipse">
            <a:avLst/>
          </a:prstGeom>
          <a:solidFill>
            <a:srgbClr val="1F4863"/>
          </a:solidFill>
          <a:ln/>
        </p:spPr>
      </p:sp>
      <p:pic>
        <p:nvPicPr>
          <p:cNvPr id="41" name="Image 6" descr="preencoded.png"/>
          <p:cNvPicPr>
            <a:picLocks noChangeAspect="1"/>
          </p:cNvPicPr>
          <p:nvPr/>
        </p:nvPicPr>
        <p:blipFill>
          <a:blip r:embed="rId9"/>
          <a:stretch>
            <a:fillRect/>
          </a:stretch>
        </p:blipFill>
        <p:spPr>
          <a:xfrm>
            <a:off x="8682045" y="3725997"/>
            <a:ext cx="210678" cy="210678"/>
          </a:xfrm>
          <a:prstGeom prst="rect">
            <a:avLst/>
          </a:prstGeom>
        </p:spPr>
      </p:pic>
      <p:sp>
        <p:nvSpPr>
          <p:cNvPr id="42" name="Text 33"/>
          <p:cNvSpPr/>
          <p:nvPr/>
        </p:nvSpPr>
        <p:spPr>
          <a:xfrm>
            <a:off x="9144000" y="3575304"/>
            <a:ext cx="2240280"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Fault Tolerant</a:t>
            </a:r>
            <a:endParaRPr lang="en-US" sz="1300" dirty="0"/>
          </a:p>
        </p:txBody>
      </p:sp>
      <p:sp>
        <p:nvSpPr>
          <p:cNvPr id="43" name="Text 34"/>
          <p:cNvSpPr/>
          <p:nvPr/>
        </p:nvSpPr>
        <p:spPr>
          <a:xfrm>
            <a:off x="9144000" y="3886200"/>
            <a:ext cx="2240280" cy="685800"/>
          </a:xfrm>
          <a:prstGeom prst="rect">
            <a:avLst/>
          </a:prstGeom>
          <a:noFill/>
          <a:ln/>
        </p:spPr>
        <p:txBody>
          <a:bodyPr wrap="square" lIns="0" tIns="0" rIns="0" bIns="0" rtlCol="0" anchor="ctr"/>
          <a:lstStyle/>
          <a:p>
            <a:pPr marL="0" indent="0">
              <a:buNone/>
            </a:pPr>
            <a:r>
              <a:rPr lang="en-US" sz="1050" dirty="0">
                <a:solidFill>
                  <a:srgbClr val="AEC2CE"/>
                </a:solidFill>
                <a:latin typeface="Calibri" pitchFamily="34" charset="0"/>
                <a:ea typeface="Calibri" pitchFamily="34" charset="-122"/>
                <a:cs typeface="Calibri" pitchFamily="34" charset="-120"/>
              </a:rPr>
              <a:t>Durable, replayable message delivery</a:t>
            </a:r>
            <a:endParaRPr lang="en-US" sz="1050" dirty="0"/>
          </a:p>
        </p:txBody>
      </p:sp>
      <p:sp>
        <p:nvSpPr>
          <p:cNvPr id="44" name="Shape 35"/>
          <p:cNvSpPr/>
          <p:nvPr/>
        </p:nvSpPr>
        <p:spPr>
          <a:xfrm>
            <a:off x="8366760" y="4892040"/>
            <a:ext cx="3200400" cy="1234440"/>
          </a:xfrm>
          <a:prstGeom prst="roundRect">
            <a:avLst>
              <a:gd name="adj" fmla="val 5926"/>
            </a:avLst>
          </a:prstGeom>
          <a:solidFill>
            <a:srgbClr val="0F2A43"/>
          </a:solidFill>
          <a:ln/>
          <a:effectLst>
            <a:outerShdw blurRad="101600" dist="38100" dir="5400000" algn="bl" rotWithShape="0">
              <a:srgbClr val="0F2A43">
                <a:alpha val="12000"/>
              </a:srgbClr>
            </a:outerShdw>
          </a:effectLst>
        </p:spPr>
      </p:sp>
      <p:sp>
        <p:nvSpPr>
          <p:cNvPr id="45" name="Shape 36"/>
          <p:cNvSpPr/>
          <p:nvPr/>
        </p:nvSpPr>
        <p:spPr>
          <a:xfrm>
            <a:off x="8567928" y="5074920"/>
            <a:ext cx="438912" cy="438912"/>
          </a:xfrm>
          <a:prstGeom prst="ellipse">
            <a:avLst/>
          </a:prstGeom>
          <a:solidFill>
            <a:srgbClr val="1F4863"/>
          </a:solidFill>
          <a:ln/>
        </p:spPr>
      </p:sp>
      <p:pic>
        <p:nvPicPr>
          <p:cNvPr id="46" name="Image 7" descr="preencoded.png"/>
          <p:cNvPicPr>
            <a:picLocks noChangeAspect="1"/>
          </p:cNvPicPr>
          <p:nvPr/>
        </p:nvPicPr>
        <p:blipFill>
          <a:blip r:embed="rId10"/>
          <a:stretch>
            <a:fillRect/>
          </a:stretch>
        </p:blipFill>
        <p:spPr>
          <a:xfrm>
            <a:off x="8682045" y="5189037"/>
            <a:ext cx="210678" cy="210678"/>
          </a:xfrm>
          <a:prstGeom prst="rect">
            <a:avLst/>
          </a:prstGeom>
        </p:spPr>
      </p:pic>
      <p:sp>
        <p:nvSpPr>
          <p:cNvPr id="47" name="Text 37"/>
          <p:cNvSpPr/>
          <p:nvPr/>
        </p:nvSpPr>
        <p:spPr>
          <a:xfrm>
            <a:off x="9144000" y="5038344"/>
            <a:ext cx="2240280"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Loosely Coupled</a:t>
            </a:r>
            <a:endParaRPr lang="en-US" sz="1300" dirty="0"/>
          </a:p>
        </p:txBody>
      </p:sp>
      <p:sp>
        <p:nvSpPr>
          <p:cNvPr id="48" name="Text 38"/>
          <p:cNvSpPr/>
          <p:nvPr/>
        </p:nvSpPr>
        <p:spPr>
          <a:xfrm>
            <a:off x="9144000" y="5349240"/>
            <a:ext cx="2240280" cy="685800"/>
          </a:xfrm>
          <a:prstGeom prst="rect">
            <a:avLst/>
          </a:prstGeom>
          <a:noFill/>
          <a:ln/>
        </p:spPr>
        <p:txBody>
          <a:bodyPr wrap="square" lIns="0" tIns="0" rIns="0" bIns="0" rtlCol="0" anchor="ctr"/>
          <a:lstStyle/>
          <a:p>
            <a:pPr marL="0" indent="0">
              <a:buNone/>
            </a:pPr>
            <a:r>
              <a:rPr lang="en-US" sz="1050" dirty="0">
                <a:solidFill>
                  <a:srgbClr val="AEC2CE"/>
                </a:solidFill>
                <a:latin typeface="Calibri" pitchFamily="34" charset="0"/>
                <a:ea typeface="Calibri" pitchFamily="34" charset="-122"/>
                <a:cs typeface="Calibri" pitchFamily="34" charset="-120"/>
              </a:rPr>
              <a:t>Each layer scales and deploys independently</a:t>
            </a:r>
            <a:endParaRPr lang="en-US" sz="1050" dirty="0"/>
          </a:p>
        </p:txBody>
      </p:sp>
      <p:sp>
        <p:nvSpPr>
          <p:cNvPr id="49" name="Text 39"/>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50" name="Text 4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Technology Stack</a:t>
            </a:r>
            <a:endParaRPr lang="en-US" sz="3200" dirty="0"/>
          </a:p>
        </p:txBody>
      </p:sp>
      <p:sp>
        <p:nvSpPr>
          <p:cNvPr id="4" name="Text 2"/>
          <p:cNvSpPr/>
          <p:nvPr/>
        </p:nvSpPr>
        <p:spPr>
          <a:xfrm>
            <a:off x="640080" y="1298448"/>
            <a:ext cx="896112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Every technology choice is driven by throughput, latency, and fault-tolerance requirements.</a:t>
            </a:r>
            <a:endParaRPr lang="en-US" sz="1350" dirty="0"/>
          </a:p>
        </p:txBody>
      </p:sp>
      <p:sp>
        <p:nvSpPr>
          <p:cNvPr id="5" name="Shape 3"/>
          <p:cNvSpPr/>
          <p:nvPr/>
        </p:nvSpPr>
        <p:spPr>
          <a:xfrm>
            <a:off x="640080" y="2057400"/>
            <a:ext cx="2606040" cy="868680"/>
          </a:xfrm>
          <a:prstGeom prst="roundRect">
            <a:avLst>
              <a:gd name="adj" fmla="val 8421"/>
            </a:avLst>
          </a:prstGeom>
          <a:solidFill>
            <a:srgbClr val="0F2A43"/>
          </a:solidFill>
          <a:ln/>
        </p:spPr>
      </p:sp>
      <p:sp>
        <p:nvSpPr>
          <p:cNvPr id="6" name="Shape 4"/>
          <p:cNvSpPr/>
          <p:nvPr/>
        </p:nvSpPr>
        <p:spPr>
          <a:xfrm>
            <a:off x="1691640" y="2240280"/>
            <a:ext cx="502920" cy="502920"/>
          </a:xfrm>
          <a:prstGeom prst="ellipse">
            <a:avLst/>
          </a:prstGeom>
          <a:solidFill>
            <a:srgbClr val="0A5F67"/>
          </a:solidFill>
          <a:ln/>
        </p:spPr>
      </p:sp>
      <p:pic>
        <p:nvPicPr>
          <p:cNvPr id="7" name="Image 0" descr="preencoded.png"/>
          <p:cNvPicPr>
            <a:picLocks noChangeAspect="1"/>
          </p:cNvPicPr>
          <p:nvPr/>
        </p:nvPicPr>
        <p:blipFill>
          <a:blip r:embed="rId3"/>
          <a:stretch>
            <a:fillRect/>
          </a:stretch>
        </p:blipFill>
        <p:spPr>
          <a:xfrm>
            <a:off x="1822399" y="2371039"/>
            <a:ext cx="241402" cy="241402"/>
          </a:xfrm>
          <a:prstGeom prst="rect">
            <a:avLst/>
          </a:prstGeom>
        </p:spPr>
      </p:pic>
      <p:sp>
        <p:nvSpPr>
          <p:cNvPr id="8" name="Shape 5"/>
          <p:cNvSpPr/>
          <p:nvPr/>
        </p:nvSpPr>
        <p:spPr>
          <a:xfrm>
            <a:off x="640080" y="2926080"/>
            <a:ext cx="2606040" cy="2697480"/>
          </a:xfrm>
          <a:prstGeom prst="roundRect">
            <a:avLst>
              <a:gd name="adj" fmla="val 2807"/>
            </a:avLst>
          </a:prstGeom>
          <a:solidFill>
            <a:srgbClr val="FFFFFF"/>
          </a:solidFill>
          <a:ln/>
          <a:effectLst>
            <a:outerShdw blurRad="101600" dist="38100" dir="5400000" algn="bl" rotWithShape="0">
              <a:srgbClr val="0F2A43">
                <a:alpha val="12000"/>
              </a:srgbClr>
            </a:outerShdw>
          </a:effectLst>
        </p:spPr>
      </p:sp>
      <p:sp>
        <p:nvSpPr>
          <p:cNvPr id="9" name="Text 6"/>
          <p:cNvSpPr/>
          <p:nvPr/>
        </p:nvSpPr>
        <p:spPr>
          <a:xfrm>
            <a:off x="777240" y="3063240"/>
            <a:ext cx="2331720" cy="36576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Data Ingestion</a:t>
            </a:r>
            <a:endParaRPr lang="en-US" sz="1350" dirty="0"/>
          </a:p>
        </p:txBody>
      </p:sp>
      <p:sp>
        <p:nvSpPr>
          <p:cNvPr id="10" name="Text 7"/>
          <p:cNvSpPr/>
          <p:nvPr/>
        </p:nvSpPr>
        <p:spPr>
          <a:xfrm>
            <a:off x="822960" y="3538728"/>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Apache Kafka</a:t>
            </a:r>
            <a:endParaRPr lang="en-US" sz="1150" dirty="0"/>
          </a:p>
        </p:txBody>
      </p:sp>
      <p:sp>
        <p:nvSpPr>
          <p:cNvPr id="11" name="Text 8"/>
          <p:cNvSpPr/>
          <p:nvPr/>
        </p:nvSpPr>
        <p:spPr>
          <a:xfrm>
            <a:off x="822960" y="4105656"/>
            <a:ext cx="2240280" cy="457200"/>
          </a:xfrm>
          <a:prstGeom prst="rect">
            <a:avLst/>
          </a:prstGeom>
          <a:solidFill>
            <a:srgbClr val="FFFFFF"/>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MQTT Broker</a:t>
            </a:r>
            <a:endParaRPr lang="en-US" sz="1150" dirty="0"/>
          </a:p>
        </p:txBody>
      </p:sp>
      <p:sp>
        <p:nvSpPr>
          <p:cNvPr id="12" name="Text 9"/>
          <p:cNvSpPr/>
          <p:nvPr/>
        </p:nvSpPr>
        <p:spPr>
          <a:xfrm>
            <a:off x="822960" y="4672584"/>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Edge Gateways</a:t>
            </a:r>
            <a:endParaRPr lang="en-US" sz="1150" dirty="0"/>
          </a:p>
        </p:txBody>
      </p:sp>
      <p:sp>
        <p:nvSpPr>
          <p:cNvPr id="13" name="Shape 10"/>
          <p:cNvSpPr/>
          <p:nvPr/>
        </p:nvSpPr>
        <p:spPr>
          <a:xfrm>
            <a:off x="3502152" y="2057400"/>
            <a:ext cx="2606040" cy="868680"/>
          </a:xfrm>
          <a:prstGeom prst="roundRect">
            <a:avLst>
              <a:gd name="adj" fmla="val 8421"/>
            </a:avLst>
          </a:prstGeom>
          <a:solidFill>
            <a:srgbClr val="0F2A43"/>
          </a:solidFill>
          <a:ln/>
        </p:spPr>
      </p:sp>
      <p:sp>
        <p:nvSpPr>
          <p:cNvPr id="14" name="Shape 11"/>
          <p:cNvSpPr/>
          <p:nvPr/>
        </p:nvSpPr>
        <p:spPr>
          <a:xfrm>
            <a:off x="4553712" y="2240280"/>
            <a:ext cx="502920" cy="502920"/>
          </a:xfrm>
          <a:prstGeom prst="ellipse">
            <a:avLst/>
          </a:prstGeom>
          <a:solidFill>
            <a:srgbClr val="0A5F67"/>
          </a:solidFill>
          <a:ln/>
        </p:spPr>
      </p:sp>
      <p:pic>
        <p:nvPicPr>
          <p:cNvPr id="15" name="Image 1" descr="preencoded.png"/>
          <p:cNvPicPr>
            <a:picLocks noChangeAspect="1"/>
          </p:cNvPicPr>
          <p:nvPr/>
        </p:nvPicPr>
        <p:blipFill>
          <a:blip r:embed="rId4"/>
          <a:stretch>
            <a:fillRect/>
          </a:stretch>
        </p:blipFill>
        <p:spPr>
          <a:xfrm>
            <a:off x="4684471" y="2371039"/>
            <a:ext cx="241402" cy="241402"/>
          </a:xfrm>
          <a:prstGeom prst="rect">
            <a:avLst/>
          </a:prstGeom>
        </p:spPr>
      </p:pic>
      <p:sp>
        <p:nvSpPr>
          <p:cNvPr id="16" name="Shape 12"/>
          <p:cNvSpPr/>
          <p:nvPr/>
        </p:nvSpPr>
        <p:spPr>
          <a:xfrm>
            <a:off x="3502152" y="2926080"/>
            <a:ext cx="2606040" cy="2697480"/>
          </a:xfrm>
          <a:prstGeom prst="roundRect">
            <a:avLst>
              <a:gd name="adj" fmla="val 2807"/>
            </a:avLst>
          </a:prstGeom>
          <a:solidFill>
            <a:srgbClr val="FFFFFF"/>
          </a:solidFill>
          <a:ln/>
          <a:effectLst>
            <a:outerShdw blurRad="101600" dist="38100" dir="5400000" algn="bl" rotWithShape="0">
              <a:srgbClr val="0F2A43">
                <a:alpha val="12000"/>
              </a:srgbClr>
            </a:outerShdw>
          </a:effectLst>
        </p:spPr>
      </p:sp>
      <p:sp>
        <p:nvSpPr>
          <p:cNvPr id="17" name="Text 13"/>
          <p:cNvSpPr/>
          <p:nvPr/>
        </p:nvSpPr>
        <p:spPr>
          <a:xfrm>
            <a:off x="3639312" y="3063240"/>
            <a:ext cx="2331720" cy="36576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Processing</a:t>
            </a:r>
            <a:endParaRPr lang="en-US" sz="1350" dirty="0"/>
          </a:p>
        </p:txBody>
      </p:sp>
      <p:sp>
        <p:nvSpPr>
          <p:cNvPr id="18" name="Text 14"/>
          <p:cNvSpPr/>
          <p:nvPr/>
        </p:nvSpPr>
        <p:spPr>
          <a:xfrm>
            <a:off x="3685032" y="3538728"/>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Apache Spark</a:t>
            </a:r>
            <a:endParaRPr lang="en-US" sz="1150" dirty="0"/>
          </a:p>
        </p:txBody>
      </p:sp>
      <p:sp>
        <p:nvSpPr>
          <p:cNvPr id="19" name="Text 15"/>
          <p:cNvSpPr/>
          <p:nvPr/>
        </p:nvSpPr>
        <p:spPr>
          <a:xfrm>
            <a:off x="3685032" y="4105656"/>
            <a:ext cx="2240280" cy="457200"/>
          </a:xfrm>
          <a:prstGeom prst="rect">
            <a:avLst/>
          </a:prstGeom>
          <a:solidFill>
            <a:srgbClr val="FFFFFF"/>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Apache Flink</a:t>
            </a:r>
            <a:endParaRPr lang="en-US" sz="1150" dirty="0"/>
          </a:p>
        </p:txBody>
      </p:sp>
      <p:sp>
        <p:nvSpPr>
          <p:cNvPr id="20" name="Text 16"/>
          <p:cNvSpPr/>
          <p:nvPr/>
        </p:nvSpPr>
        <p:spPr>
          <a:xfrm>
            <a:off x="3685032" y="4672584"/>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Time-Series DB</a:t>
            </a:r>
            <a:endParaRPr lang="en-US" sz="1150" dirty="0"/>
          </a:p>
        </p:txBody>
      </p:sp>
      <p:sp>
        <p:nvSpPr>
          <p:cNvPr id="21" name="Shape 17"/>
          <p:cNvSpPr/>
          <p:nvPr/>
        </p:nvSpPr>
        <p:spPr>
          <a:xfrm>
            <a:off x="6364224" y="2057400"/>
            <a:ext cx="2606040" cy="868680"/>
          </a:xfrm>
          <a:prstGeom prst="roundRect">
            <a:avLst>
              <a:gd name="adj" fmla="val 8421"/>
            </a:avLst>
          </a:prstGeom>
          <a:solidFill>
            <a:srgbClr val="0F2A43"/>
          </a:solidFill>
          <a:ln/>
        </p:spPr>
      </p:sp>
      <p:sp>
        <p:nvSpPr>
          <p:cNvPr id="22" name="Shape 18"/>
          <p:cNvSpPr/>
          <p:nvPr/>
        </p:nvSpPr>
        <p:spPr>
          <a:xfrm>
            <a:off x="7415784" y="2240280"/>
            <a:ext cx="502920" cy="502920"/>
          </a:xfrm>
          <a:prstGeom prst="ellipse">
            <a:avLst/>
          </a:prstGeom>
          <a:solidFill>
            <a:srgbClr val="0A5F67"/>
          </a:solidFill>
          <a:ln/>
        </p:spPr>
      </p:sp>
      <p:pic>
        <p:nvPicPr>
          <p:cNvPr id="23" name="Image 2" descr="preencoded.png"/>
          <p:cNvPicPr>
            <a:picLocks noChangeAspect="1"/>
          </p:cNvPicPr>
          <p:nvPr/>
        </p:nvPicPr>
        <p:blipFill>
          <a:blip r:embed="rId5"/>
          <a:stretch>
            <a:fillRect/>
          </a:stretch>
        </p:blipFill>
        <p:spPr>
          <a:xfrm>
            <a:off x="7546543" y="2371039"/>
            <a:ext cx="241402" cy="241402"/>
          </a:xfrm>
          <a:prstGeom prst="rect">
            <a:avLst/>
          </a:prstGeom>
        </p:spPr>
      </p:pic>
      <p:sp>
        <p:nvSpPr>
          <p:cNvPr id="24" name="Shape 19"/>
          <p:cNvSpPr/>
          <p:nvPr/>
        </p:nvSpPr>
        <p:spPr>
          <a:xfrm>
            <a:off x="6364224" y="2926080"/>
            <a:ext cx="2606040" cy="2697480"/>
          </a:xfrm>
          <a:prstGeom prst="roundRect">
            <a:avLst>
              <a:gd name="adj" fmla="val 2807"/>
            </a:avLst>
          </a:prstGeom>
          <a:solidFill>
            <a:srgbClr val="FFFFFF"/>
          </a:solidFill>
          <a:ln/>
          <a:effectLst>
            <a:outerShdw blurRad="101600" dist="38100" dir="5400000" algn="bl" rotWithShape="0">
              <a:srgbClr val="0F2A43">
                <a:alpha val="12000"/>
              </a:srgbClr>
            </a:outerShdw>
          </a:effectLst>
        </p:spPr>
      </p:sp>
      <p:sp>
        <p:nvSpPr>
          <p:cNvPr id="25" name="Text 20"/>
          <p:cNvSpPr/>
          <p:nvPr/>
        </p:nvSpPr>
        <p:spPr>
          <a:xfrm>
            <a:off x="6501384" y="3063240"/>
            <a:ext cx="2331720" cy="36576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Machine Learning</a:t>
            </a:r>
            <a:endParaRPr lang="en-US" sz="1350" dirty="0"/>
          </a:p>
        </p:txBody>
      </p:sp>
      <p:sp>
        <p:nvSpPr>
          <p:cNvPr id="26" name="Text 21"/>
          <p:cNvSpPr/>
          <p:nvPr/>
        </p:nvSpPr>
        <p:spPr>
          <a:xfrm>
            <a:off x="6547104" y="3538728"/>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Python</a:t>
            </a:r>
            <a:endParaRPr lang="en-US" sz="1150" dirty="0"/>
          </a:p>
        </p:txBody>
      </p:sp>
      <p:sp>
        <p:nvSpPr>
          <p:cNvPr id="27" name="Text 22"/>
          <p:cNvSpPr/>
          <p:nvPr/>
        </p:nvSpPr>
        <p:spPr>
          <a:xfrm>
            <a:off x="6547104" y="4105656"/>
            <a:ext cx="2240280" cy="457200"/>
          </a:xfrm>
          <a:prstGeom prst="rect">
            <a:avLst/>
          </a:prstGeom>
          <a:solidFill>
            <a:srgbClr val="FFFFFF"/>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Scikit-learn</a:t>
            </a:r>
            <a:endParaRPr lang="en-US" sz="1150" dirty="0"/>
          </a:p>
        </p:txBody>
      </p:sp>
      <p:sp>
        <p:nvSpPr>
          <p:cNvPr id="28" name="Text 23"/>
          <p:cNvSpPr/>
          <p:nvPr/>
        </p:nvSpPr>
        <p:spPr>
          <a:xfrm>
            <a:off x="6547104" y="4672584"/>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TensorFlow</a:t>
            </a:r>
            <a:endParaRPr lang="en-US" sz="1150" dirty="0"/>
          </a:p>
        </p:txBody>
      </p:sp>
      <p:sp>
        <p:nvSpPr>
          <p:cNvPr id="29" name="Shape 24"/>
          <p:cNvSpPr/>
          <p:nvPr/>
        </p:nvSpPr>
        <p:spPr>
          <a:xfrm>
            <a:off x="9226296" y="2057400"/>
            <a:ext cx="2606040" cy="868680"/>
          </a:xfrm>
          <a:prstGeom prst="roundRect">
            <a:avLst>
              <a:gd name="adj" fmla="val 8421"/>
            </a:avLst>
          </a:prstGeom>
          <a:solidFill>
            <a:srgbClr val="0F2A43"/>
          </a:solidFill>
          <a:ln/>
        </p:spPr>
      </p:sp>
      <p:sp>
        <p:nvSpPr>
          <p:cNvPr id="30" name="Shape 25"/>
          <p:cNvSpPr/>
          <p:nvPr/>
        </p:nvSpPr>
        <p:spPr>
          <a:xfrm>
            <a:off x="10277856" y="2240280"/>
            <a:ext cx="502920" cy="502920"/>
          </a:xfrm>
          <a:prstGeom prst="ellipse">
            <a:avLst/>
          </a:prstGeom>
          <a:solidFill>
            <a:srgbClr val="0A5F67"/>
          </a:solidFill>
          <a:ln/>
        </p:spPr>
      </p:sp>
      <p:pic>
        <p:nvPicPr>
          <p:cNvPr id="31" name="Image 3" descr="preencoded.png"/>
          <p:cNvPicPr>
            <a:picLocks noChangeAspect="1"/>
          </p:cNvPicPr>
          <p:nvPr/>
        </p:nvPicPr>
        <p:blipFill>
          <a:blip r:embed="rId6"/>
          <a:stretch>
            <a:fillRect/>
          </a:stretch>
        </p:blipFill>
        <p:spPr>
          <a:xfrm>
            <a:off x="10408615" y="2371039"/>
            <a:ext cx="241402" cy="241402"/>
          </a:xfrm>
          <a:prstGeom prst="rect">
            <a:avLst/>
          </a:prstGeom>
        </p:spPr>
      </p:pic>
      <p:sp>
        <p:nvSpPr>
          <p:cNvPr id="32" name="Shape 26"/>
          <p:cNvSpPr/>
          <p:nvPr/>
        </p:nvSpPr>
        <p:spPr>
          <a:xfrm>
            <a:off x="9226296" y="2926080"/>
            <a:ext cx="2606040" cy="2697480"/>
          </a:xfrm>
          <a:prstGeom prst="roundRect">
            <a:avLst>
              <a:gd name="adj" fmla="val 2807"/>
            </a:avLst>
          </a:prstGeom>
          <a:solidFill>
            <a:srgbClr val="FFFFFF"/>
          </a:solidFill>
          <a:ln/>
          <a:effectLst>
            <a:outerShdw blurRad="101600" dist="38100" dir="5400000" algn="bl" rotWithShape="0">
              <a:srgbClr val="0F2A43">
                <a:alpha val="12000"/>
              </a:srgbClr>
            </a:outerShdw>
          </a:effectLst>
        </p:spPr>
      </p:sp>
      <p:sp>
        <p:nvSpPr>
          <p:cNvPr id="33" name="Text 27"/>
          <p:cNvSpPr/>
          <p:nvPr/>
        </p:nvSpPr>
        <p:spPr>
          <a:xfrm>
            <a:off x="9363456" y="3063240"/>
            <a:ext cx="2331720" cy="36576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Frontend &amp; Alerts</a:t>
            </a:r>
            <a:endParaRPr lang="en-US" sz="1350" dirty="0"/>
          </a:p>
        </p:txBody>
      </p:sp>
      <p:sp>
        <p:nvSpPr>
          <p:cNvPr id="34" name="Text 28"/>
          <p:cNvSpPr/>
          <p:nvPr/>
        </p:nvSpPr>
        <p:spPr>
          <a:xfrm>
            <a:off x="9409176" y="3538728"/>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React Dashboard</a:t>
            </a:r>
            <a:endParaRPr lang="en-US" sz="1150" dirty="0"/>
          </a:p>
        </p:txBody>
      </p:sp>
      <p:sp>
        <p:nvSpPr>
          <p:cNvPr id="35" name="Text 29"/>
          <p:cNvSpPr/>
          <p:nvPr/>
        </p:nvSpPr>
        <p:spPr>
          <a:xfrm>
            <a:off x="9409176" y="4105656"/>
            <a:ext cx="2240280" cy="457200"/>
          </a:xfrm>
          <a:prstGeom prst="rect">
            <a:avLst/>
          </a:prstGeom>
          <a:solidFill>
            <a:srgbClr val="FFFFFF"/>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WebSocket / Firebase</a:t>
            </a:r>
            <a:endParaRPr lang="en-US" sz="1150" dirty="0"/>
          </a:p>
        </p:txBody>
      </p:sp>
      <p:sp>
        <p:nvSpPr>
          <p:cNvPr id="36" name="Text 30"/>
          <p:cNvSpPr/>
          <p:nvPr/>
        </p:nvSpPr>
        <p:spPr>
          <a:xfrm>
            <a:off x="9409176" y="4672584"/>
            <a:ext cx="2240280" cy="457200"/>
          </a:xfrm>
          <a:prstGeom prst="rect">
            <a:avLst/>
          </a:prstGeom>
          <a:solidFill>
            <a:srgbClr val="E7F3F3"/>
          </a:solidFill>
          <a:ln/>
        </p:spPr>
        <p:txBody>
          <a:bodyPr wrap="square" lIns="0" tIns="0" rIns="0" bIns="0" rtlCol="0" anchor="ctr"/>
          <a:lstStyle/>
          <a:p>
            <a:pPr marL="0" indent="0" algn="ctr">
              <a:buNone/>
            </a:pPr>
            <a:r>
              <a:rPr lang="en-US" sz="1150" dirty="0">
                <a:solidFill>
                  <a:srgbClr val="5C6B78"/>
                </a:solidFill>
                <a:latin typeface="Calibri" pitchFamily="34" charset="0"/>
                <a:ea typeface="Calibri" pitchFamily="34" charset="-122"/>
                <a:cs typeface="Calibri" pitchFamily="34" charset="-120"/>
              </a:rPr>
              <a:t>Slack &amp; Email</a:t>
            </a:r>
            <a:endParaRPr lang="en-US" sz="1150" dirty="0"/>
          </a:p>
        </p:txBody>
      </p:sp>
      <p:sp>
        <p:nvSpPr>
          <p:cNvPr id="37" name="Text 31"/>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38" name="Text 32"/>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TRAINING DATA</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Where the Data Comes From</a:t>
            </a:r>
            <a:endParaRPr lang="en-US" sz="3200" dirty="0"/>
          </a:p>
        </p:txBody>
      </p:sp>
      <p:sp>
        <p:nvSpPr>
          <p:cNvPr id="4" name="Text 2"/>
          <p:cNvSpPr/>
          <p:nvPr/>
        </p:nvSpPr>
        <p:spPr>
          <a:xfrm>
            <a:off x="640080" y="1298448"/>
            <a:ext cx="96012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Public benchmark datasets bootstrap the model; live plant telemetry drives continuous retraining.</a:t>
            </a:r>
            <a:endParaRPr lang="en-US" sz="1350" dirty="0"/>
          </a:p>
        </p:txBody>
      </p:sp>
      <p:sp>
        <p:nvSpPr>
          <p:cNvPr id="5" name="Shape 3"/>
          <p:cNvSpPr/>
          <p:nvPr/>
        </p:nvSpPr>
        <p:spPr>
          <a:xfrm>
            <a:off x="640080" y="1938528"/>
            <a:ext cx="10881360" cy="749808"/>
          </a:xfrm>
          <a:prstGeom prst="roundRect">
            <a:avLst>
              <a:gd name="adj" fmla="val 8537"/>
            </a:avLst>
          </a:prstGeom>
          <a:solidFill>
            <a:srgbClr val="E7F3F3"/>
          </a:solidFill>
          <a:ln/>
          <a:effectLst>
            <a:outerShdw blurRad="101600" dist="38100" dir="5400000" algn="bl" rotWithShape="0">
              <a:srgbClr val="0F2A43">
                <a:alpha val="12000"/>
              </a:srgbClr>
            </a:outerShdw>
          </a:effectLst>
        </p:spPr>
      </p:sp>
      <p:sp>
        <p:nvSpPr>
          <p:cNvPr id="6" name="Shape 4"/>
          <p:cNvSpPr/>
          <p:nvPr/>
        </p:nvSpPr>
        <p:spPr>
          <a:xfrm>
            <a:off x="822960" y="2093976"/>
            <a:ext cx="438912" cy="438912"/>
          </a:xfrm>
          <a:prstGeom prst="ellipse">
            <a:avLst/>
          </a:prstGeom>
          <a:solidFill>
            <a:srgbClr val="FFFFFF"/>
          </a:solidFill>
          <a:ln/>
        </p:spPr>
      </p:sp>
      <p:pic>
        <p:nvPicPr>
          <p:cNvPr id="7" name="Image 0" descr="preencoded.png"/>
          <p:cNvPicPr>
            <a:picLocks noChangeAspect="1"/>
          </p:cNvPicPr>
          <p:nvPr/>
        </p:nvPicPr>
        <p:blipFill>
          <a:blip r:embed="rId3"/>
          <a:stretch>
            <a:fillRect/>
          </a:stretch>
        </p:blipFill>
        <p:spPr>
          <a:xfrm>
            <a:off x="937077" y="2208093"/>
            <a:ext cx="210678" cy="210678"/>
          </a:xfrm>
          <a:prstGeom prst="rect">
            <a:avLst/>
          </a:prstGeom>
        </p:spPr>
      </p:pic>
      <p:sp>
        <p:nvSpPr>
          <p:cNvPr id="8" name="Text 5"/>
          <p:cNvSpPr/>
          <p:nvPr/>
        </p:nvSpPr>
        <p:spPr>
          <a:xfrm>
            <a:off x="1426464" y="2011680"/>
            <a:ext cx="4526280" cy="274320"/>
          </a:xfrm>
          <a:prstGeom prst="rect">
            <a:avLst/>
          </a:prstGeom>
          <a:noFill/>
          <a:ln/>
        </p:spPr>
        <p:txBody>
          <a:bodyPr wrap="square" lIns="0" tIns="0" rIns="0" bIns="0" rtlCol="0" anchor="ctr">
            <a:normAutofit/>
          </a:bodyPr>
          <a:lstStyle/>
          <a:p>
            <a:pPr marL="0" indent="0">
              <a:buNone/>
            </a:pPr>
            <a:r>
              <a:rPr lang="en-US" sz="1200" b="1" dirty="0">
                <a:solidFill>
                  <a:srgbClr val="16232E"/>
                </a:solidFill>
                <a:latin typeface="Cambria" pitchFamily="34" charset="0"/>
                <a:ea typeface="Cambria" pitchFamily="34" charset="-122"/>
                <a:cs typeface="Cambria" pitchFamily="34" charset="-120"/>
              </a:rPr>
              <a:t>NASA C-MAPSS Turbofan Dataset</a:t>
            </a:r>
            <a:endParaRPr lang="en-US" sz="1200" dirty="0"/>
          </a:p>
        </p:txBody>
      </p:sp>
      <p:sp>
        <p:nvSpPr>
          <p:cNvPr id="9" name="Text 6"/>
          <p:cNvSpPr/>
          <p:nvPr/>
        </p:nvSpPr>
        <p:spPr>
          <a:xfrm>
            <a:off x="1426464" y="2340864"/>
            <a:ext cx="4526280" cy="256032"/>
          </a:xfrm>
          <a:prstGeom prst="rect">
            <a:avLst/>
          </a:prstGeom>
          <a:noFill/>
          <a:ln/>
        </p:spPr>
        <p:txBody>
          <a:bodyPr wrap="square" lIns="0" tIns="0" rIns="0" bIns="0" rtlCol="0" anchor="ctr"/>
          <a:lstStyle/>
          <a:p>
            <a:pPr marL="0" indent="0">
              <a:buNone/>
            </a:pPr>
            <a:r>
              <a:rPr lang="en-US" sz="950" i="1" dirty="0">
                <a:solidFill>
                  <a:srgbClr val="0A5F67"/>
                </a:solidFill>
                <a:latin typeface="Calibri" pitchFamily="34" charset="0"/>
                <a:ea typeface="Calibri" pitchFamily="34" charset="-122"/>
                <a:cs typeface="Calibri" pitchFamily="34" charset="-120"/>
              </a:rPr>
              <a:t>NASA Prognostics Data Repository  ·  also mirrored on Kaggle</a:t>
            </a:r>
            <a:endParaRPr lang="en-US" sz="950" dirty="0"/>
          </a:p>
        </p:txBody>
      </p:sp>
      <p:sp>
        <p:nvSpPr>
          <p:cNvPr id="10" name="Text 7"/>
          <p:cNvSpPr/>
          <p:nvPr/>
        </p:nvSpPr>
        <p:spPr>
          <a:xfrm>
            <a:off x="6126480" y="1938528"/>
            <a:ext cx="5166360" cy="749808"/>
          </a:xfrm>
          <a:prstGeom prst="rect">
            <a:avLst/>
          </a:prstGeom>
          <a:noFill/>
          <a:ln/>
        </p:spPr>
        <p:txBody>
          <a:bodyPr wrap="square" lIns="0" tIns="0" rIns="0" bIns="0" rtlCol="0" anchor="ctr"/>
          <a:lstStyle/>
          <a:p>
            <a:pPr marL="0" indent="0">
              <a:buNone/>
            </a:pPr>
            <a:r>
              <a:rPr lang="en-US" sz="1030" dirty="0">
                <a:solidFill>
                  <a:srgbClr val="5C6B78"/>
                </a:solidFill>
                <a:latin typeface="Calibri" pitchFamily="34" charset="0"/>
                <a:ea typeface="Calibri" pitchFamily="34" charset="-122"/>
                <a:cs typeface="Calibri" pitchFamily="34" charset="-120"/>
              </a:rPr>
              <a:t>Run-to-failure trajectories from 100+ simulated turbofan engines, 21 sensors — the standard RUL benchmark.</a:t>
            </a:r>
            <a:endParaRPr lang="en-US" sz="1030" dirty="0"/>
          </a:p>
        </p:txBody>
      </p:sp>
      <p:sp>
        <p:nvSpPr>
          <p:cNvPr id="11" name="Shape 8"/>
          <p:cNvSpPr/>
          <p:nvPr/>
        </p:nvSpPr>
        <p:spPr>
          <a:xfrm>
            <a:off x="640080" y="2788920"/>
            <a:ext cx="10881360" cy="749808"/>
          </a:xfrm>
          <a:prstGeom prst="roundRect">
            <a:avLst>
              <a:gd name="adj" fmla="val 8537"/>
            </a:avLst>
          </a:prstGeom>
          <a:solidFill>
            <a:srgbClr val="FFFFFF"/>
          </a:solidFill>
          <a:ln/>
          <a:effectLst>
            <a:outerShdw blurRad="101600" dist="38100" dir="5400000" algn="bl" rotWithShape="0">
              <a:srgbClr val="0F2A43">
                <a:alpha val="12000"/>
              </a:srgbClr>
            </a:outerShdw>
          </a:effectLst>
        </p:spPr>
      </p:sp>
      <p:sp>
        <p:nvSpPr>
          <p:cNvPr id="12" name="Shape 9"/>
          <p:cNvSpPr/>
          <p:nvPr/>
        </p:nvSpPr>
        <p:spPr>
          <a:xfrm>
            <a:off x="822960" y="2944368"/>
            <a:ext cx="438912" cy="438912"/>
          </a:xfrm>
          <a:prstGeom prst="ellipse">
            <a:avLst/>
          </a:prstGeom>
          <a:solidFill>
            <a:srgbClr val="FFFFFF"/>
          </a:solidFill>
          <a:ln/>
        </p:spPr>
      </p:sp>
      <p:pic>
        <p:nvPicPr>
          <p:cNvPr id="13" name="Image 1" descr="preencoded.png"/>
          <p:cNvPicPr>
            <a:picLocks noChangeAspect="1"/>
          </p:cNvPicPr>
          <p:nvPr/>
        </p:nvPicPr>
        <p:blipFill>
          <a:blip r:embed="rId4"/>
          <a:stretch>
            <a:fillRect/>
          </a:stretch>
        </p:blipFill>
        <p:spPr>
          <a:xfrm>
            <a:off x="937077" y="3058485"/>
            <a:ext cx="210678" cy="210678"/>
          </a:xfrm>
          <a:prstGeom prst="rect">
            <a:avLst/>
          </a:prstGeom>
        </p:spPr>
      </p:pic>
      <p:sp>
        <p:nvSpPr>
          <p:cNvPr id="14" name="Text 10"/>
          <p:cNvSpPr/>
          <p:nvPr/>
        </p:nvSpPr>
        <p:spPr>
          <a:xfrm>
            <a:off x="1426464" y="2862072"/>
            <a:ext cx="4526280" cy="274320"/>
          </a:xfrm>
          <a:prstGeom prst="rect">
            <a:avLst/>
          </a:prstGeom>
          <a:noFill/>
          <a:ln/>
        </p:spPr>
        <p:txBody>
          <a:bodyPr wrap="square" lIns="0" tIns="0" rIns="0" bIns="0" rtlCol="0" anchor="ctr">
            <a:normAutofit/>
          </a:bodyPr>
          <a:lstStyle/>
          <a:p>
            <a:pPr marL="0" indent="0">
              <a:buNone/>
            </a:pPr>
            <a:r>
              <a:rPr lang="en-US" sz="1200" b="1" dirty="0">
                <a:solidFill>
                  <a:srgbClr val="16232E"/>
                </a:solidFill>
                <a:latin typeface="Cambria" pitchFamily="34" charset="0"/>
                <a:ea typeface="Cambria" pitchFamily="34" charset="-122"/>
                <a:cs typeface="Cambria" pitchFamily="34" charset="-120"/>
              </a:rPr>
              <a:t>AI4I 2020 Predictive Maintenance Dataset</a:t>
            </a:r>
            <a:endParaRPr lang="en-US" sz="1200" dirty="0"/>
          </a:p>
        </p:txBody>
      </p:sp>
      <p:sp>
        <p:nvSpPr>
          <p:cNvPr id="15" name="Text 11"/>
          <p:cNvSpPr/>
          <p:nvPr/>
        </p:nvSpPr>
        <p:spPr>
          <a:xfrm>
            <a:off x="1426464" y="3191256"/>
            <a:ext cx="4526280" cy="256032"/>
          </a:xfrm>
          <a:prstGeom prst="rect">
            <a:avLst/>
          </a:prstGeom>
          <a:noFill/>
          <a:ln/>
        </p:spPr>
        <p:txBody>
          <a:bodyPr wrap="square" lIns="0" tIns="0" rIns="0" bIns="0" rtlCol="0" anchor="ctr"/>
          <a:lstStyle/>
          <a:p>
            <a:pPr marL="0" indent="0">
              <a:buNone/>
            </a:pPr>
            <a:r>
              <a:rPr lang="en-US" sz="950" i="1" dirty="0">
                <a:solidFill>
                  <a:srgbClr val="0A5F67"/>
                </a:solidFill>
                <a:latin typeface="Calibri" pitchFamily="34" charset="0"/>
                <a:ea typeface="Calibri" pitchFamily="34" charset="-122"/>
                <a:cs typeface="Calibri" pitchFamily="34" charset="-120"/>
              </a:rPr>
              <a:t>UCI Machine Learning Repository  ·  also on Kaggle</a:t>
            </a:r>
            <a:endParaRPr lang="en-US" sz="950" dirty="0"/>
          </a:p>
        </p:txBody>
      </p:sp>
      <p:sp>
        <p:nvSpPr>
          <p:cNvPr id="16" name="Text 12"/>
          <p:cNvSpPr/>
          <p:nvPr/>
        </p:nvSpPr>
        <p:spPr>
          <a:xfrm>
            <a:off x="6126480" y="2788920"/>
            <a:ext cx="5166360" cy="749808"/>
          </a:xfrm>
          <a:prstGeom prst="rect">
            <a:avLst/>
          </a:prstGeom>
          <a:noFill/>
          <a:ln/>
        </p:spPr>
        <p:txBody>
          <a:bodyPr wrap="square" lIns="0" tIns="0" rIns="0" bIns="0" rtlCol="0" anchor="ctr"/>
          <a:lstStyle/>
          <a:p>
            <a:pPr marL="0" indent="0">
              <a:buNone/>
            </a:pPr>
            <a:r>
              <a:rPr lang="en-US" sz="1030" dirty="0">
                <a:solidFill>
                  <a:srgbClr val="5C6B78"/>
                </a:solidFill>
                <a:latin typeface="Calibri" pitchFamily="34" charset="0"/>
                <a:ea typeface="Calibri" pitchFamily="34" charset="-122"/>
                <a:cs typeface="Calibri" pitchFamily="34" charset="-120"/>
              </a:rPr>
              <a:t>10,000 synthetic milling-machine records, 14 features, 5 labeled failure types — ideal for classification.</a:t>
            </a:r>
            <a:endParaRPr lang="en-US" sz="1030" dirty="0"/>
          </a:p>
        </p:txBody>
      </p:sp>
      <p:sp>
        <p:nvSpPr>
          <p:cNvPr id="17" name="Shape 13"/>
          <p:cNvSpPr/>
          <p:nvPr/>
        </p:nvSpPr>
        <p:spPr>
          <a:xfrm>
            <a:off x="640080" y="3639312"/>
            <a:ext cx="10881360" cy="749808"/>
          </a:xfrm>
          <a:prstGeom prst="roundRect">
            <a:avLst>
              <a:gd name="adj" fmla="val 8537"/>
            </a:avLst>
          </a:prstGeom>
          <a:solidFill>
            <a:srgbClr val="E7F3F3"/>
          </a:solidFill>
          <a:ln/>
          <a:effectLst>
            <a:outerShdw blurRad="101600" dist="38100" dir="5400000" algn="bl" rotWithShape="0">
              <a:srgbClr val="0F2A43">
                <a:alpha val="12000"/>
              </a:srgbClr>
            </a:outerShdw>
          </a:effectLst>
        </p:spPr>
      </p:sp>
      <p:sp>
        <p:nvSpPr>
          <p:cNvPr id="18" name="Shape 14"/>
          <p:cNvSpPr/>
          <p:nvPr/>
        </p:nvSpPr>
        <p:spPr>
          <a:xfrm>
            <a:off x="822960" y="3794760"/>
            <a:ext cx="438912" cy="438912"/>
          </a:xfrm>
          <a:prstGeom prst="ellipse">
            <a:avLst/>
          </a:prstGeom>
          <a:solidFill>
            <a:srgbClr val="FFFFFF"/>
          </a:solidFill>
          <a:ln/>
        </p:spPr>
      </p:sp>
      <p:pic>
        <p:nvPicPr>
          <p:cNvPr id="19" name="Image 2" descr="preencoded.png"/>
          <p:cNvPicPr>
            <a:picLocks noChangeAspect="1"/>
          </p:cNvPicPr>
          <p:nvPr/>
        </p:nvPicPr>
        <p:blipFill>
          <a:blip r:embed="rId5"/>
          <a:stretch>
            <a:fillRect/>
          </a:stretch>
        </p:blipFill>
        <p:spPr>
          <a:xfrm>
            <a:off x="937077" y="3908877"/>
            <a:ext cx="210678" cy="210678"/>
          </a:xfrm>
          <a:prstGeom prst="rect">
            <a:avLst/>
          </a:prstGeom>
        </p:spPr>
      </p:pic>
      <p:sp>
        <p:nvSpPr>
          <p:cNvPr id="20" name="Text 15"/>
          <p:cNvSpPr/>
          <p:nvPr/>
        </p:nvSpPr>
        <p:spPr>
          <a:xfrm>
            <a:off x="1426464" y="3712464"/>
            <a:ext cx="4526280" cy="274320"/>
          </a:xfrm>
          <a:prstGeom prst="rect">
            <a:avLst/>
          </a:prstGeom>
          <a:noFill/>
          <a:ln/>
        </p:spPr>
        <p:txBody>
          <a:bodyPr wrap="square" lIns="0" tIns="0" rIns="0" bIns="0" rtlCol="0" anchor="ctr">
            <a:normAutofit/>
          </a:bodyPr>
          <a:lstStyle/>
          <a:p>
            <a:pPr marL="0" indent="0">
              <a:buNone/>
            </a:pPr>
            <a:r>
              <a:rPr lang="en-US" sz="1200" b="1" dirty="0">
                <a:solidFill>
                  <a:srgbClr val="16232E"/>
                </a:solidFill>
                <a:latin typeface="Cambria" pitchFamily="34" charset="0"/>
                <a:ea typeface="Cambria" pitchFamily="34" charset="-122"/>
                <a:cs typeface="Cambria" pitchFamily="34" charset="-120"/>
              </a:rPr>
              <a:t>CWRU Bearing Dataset</a:t>
            </a:r>
            <a:endParaRPr lang="en-US" sz="1200" dirty="0"/>
          </a:p>
        </p:txBody>
      </p:sp>
      <p:sp>
        <p:nvSpPr>
          <p:cNvPr id="21" name="Text 16"/>
          <p:cNvSpPr/>
          <p:nvPr/>
        </p:nvSpPr>
        <p:spPr>
          <a:xfrm>
            <a:off x="1426464" y="4041648"/>
            <a:ext cx="4526280" cy="256032"/>
          </a:xfrm>
          <a:prstGeom prst="rect">
            <a:avLst/>
          </a:prstGeom>
          <a:noFill/>
          <a:ln/>
        </p:spPr>
        <p:txBody>
          <a:bodyPr wrap="square" lIns="0" tIns="0" rIns="0" bIns="0" rtlCol="0" anchor="ctr"/>
          <a:lstStyle/>
          <a:p>
            <a:pPr marL="0" indent="0">
              <a:buNone/>
            </a:pPr>
            <a:r>
              <a:rPr lang="en-US" sz="950" i="1" dirty="0">
                <a:solidFill>
                  <a:srgbClr val="0A5F67"/>
                </a:solidFill>
                <a:latin typeface="Calibri" pitchFamily="34" charset="0"/>
                <a:ea typeface="Calibri" pitchFamily="34" charset="-122"/>
                <a:cs typeface="Calibri" pitchFamily="34" charset="-120"/>
              </a:rPr>
              <a:t>Case Western Reserve University Bearing Data Center</a:t>
            </a:r>
            <a:endParaRPr lang="en-US" sz="950" dirty="0"/>
          </a:p>
        </p:txBody>
      </p:sp>
      <p:sp>
        <p:nvSpPr>
          <p:cNvPr id="22" name="Text 17"/>
          <p:cNvSpPr/>
          <p:nvPr/>
        </p:nvSpPr>
        <p:spPr>
          <a:xfrm>
            <a:off x="6126480" y="3639312"/>
            <a:ext cx="5166360" cy="749808"/>
          </a:xfrm>
          <a:prstGeom prst="rect">
            <a:avLst/>
          </a:prstGeom>
          <a:noFill/>
          <a:ln/>
        </p:spPr>
        <p:txBody>
          <a:bodyPr wrap="square" lIns="0" tIns="0" rIns="0" bIns="0" rtlCol="0" anchor="ctr"/>
          <a:lstStyle/>
          <a:p>
            <a:pPr marL="0" indent="0">
              <a:buNone/>
            </a:pPr>
            <a:r>
              <a:rPr lang="en-US" sz="1030" dirty="0">
                <a:solidFill>
                  <a:srgbClr val="5C6B78"/>
                </a:solidFill>
                <a:latin typeface="Calibri" pitchFamily="34" charset="0"/>
                <a:ea typeface="Calibri" pitchFamily="34" charset="-122"/>
                <a:cs typeface="Calibri" pitchFamily="34" charset="-120"/>
              </a:rPr>
              <a:t>Vibration signals at 12/48 kHz across 4 fault severities — used for fault-diagnosis model pretraining.</a:t>
            </a:r>
            <a:endParaRPr lang="en-US" sz="1030" dirty="0"/>
          </a:p>
        </p:txBody>
      </p:sp>
      <p:sp>
        <p:nvSpPr>
          <p:cNvPr id="23" name="Shape 18"/>
          <p:cNvSpPr/>
          <p:nvPr/>
        </p:nvSpPr>
        <p:spPr>
          <a:xfrm>
            <a:off x="640080" y="4489704"/>
            <a:ext cx="10881360" cy="749808"/>
          </a:xfrm>
          <a:prstGeom prst="roundRect">
            <a:avLst>
              <a:gd name="adj" fmla="val 8537"/>
            </a:avLst>
          </a:prstGeom>
          <a:solidFill>
            <a:srgbClr val="FFFFFF"/>
          </a:solidFill>
          <a:ln/>
          <a:effectLst>
            <a:outerShdw blurRad="101600" dist="38100" dir="5400000" algn="bl" rotWithShape="0">
              <a:srgbClr val="0F2A43">
                <a:alpha val="12000"/>
              </a:srgbClr>
            </a:outerShdw>
          </a:effectLst>
        </p:spPr>
      </p:sp>
      <p:sp>
        <p:nvSpPr>
          <p:cNvPr id="24" name="Shape 19"/>
          <p:cNvSpPr/>
          <p:nvPr/>
        </p:nvSpPr>
        <p:spPr>
          <a:xfrm>
            <a:off x="822960" y="4645152"/>
            <a:ext cx="438912" cy="438912"/>
          </a:xfrm>
          <a:prstGeom prst="ellipse">
            <a:avLst/>
          </a:prstGeom>
          <a:solidFill>
            <a:srgbClr val="FFFFFF"/>
          </a:solidFill>
          <a:ln/>
        </p:spPr>
      </p:sp>
      <p:pic>
        <p:nvPicPr>
          <p:cNvPr id="25" name="Image 3" descr="preencoded.png"/>
          <p:cNvPicPr>
            <a:picLocks noChangeAspect="1"/>
          </p:cNvPicPr>
          <p:nvPr/>
        </p:nvPicPr>
        <p:blipFill>
          <a:blip r:embed="rId6"/>
          <a:stretch>
            <a:fillRect/>
          </a:stretch>
        </p:blipFill>
        <p:spPr>
          <a:xfrm>
            <a:off x="937077" y="4759269"/>
            <a:ext cx="210678" cy="210678"/>
          </a:xfrm>
          <a:prstGeom prst="rect">
            <a:avLst/>
          </a:prstGeom>
        </p:spPr>
      </p:pic>
      <p:sp>
        <p:nvSpPr>
          <p:cNvPr id="26" name="Text 20"/>
          <p:cNvSpPr/>
          <p:nvPr/>
        </p:nvSpPr>
        <p:spPr>
          <a:xfrm>
            <a:off x="1426464" y="4562856"/>
            <a:ext cx="4526280" cy="274320"/>
          </a:xfrm>
          <a:prstGeom prst="rect">
            <a:avLst/>
          </a:prstGeom>
          <a:noFill/>
          <a:ln/>
        </p:spPr>
        <p:txBody>
          <a:bodyPr wrap="square" lIns="0" tIns="0" rIns="0" bIns="0" rtlCol="0" anchor="ctr">
            <a:normAutofit/>
          </a:bodyPr>
          <a:lstStyle/>
          <a:p>
            <a:pPr marL="0" indent="0">
              <a:buNone/>
            </a:pPr>
            <a:r>
              <a:rPr lang="en-US" sz="1200" b="1" dirty="0">
                <a:solidFill>
                  <a:srgbClr val="16232E"/>
                </a:solidFill>
                <a:latin typeface="Cambria" pitchFamily="34" charset="0"/>
                <a:ea typeface="Cambria" pitchFamily="34" charset="-122"/>
                <a:cs typeface="Cambria" pitchFamily="34" charset="-120"/>
              </a:rPr>
              <a:t>Azure Predictive Maintenance Dataset</a:t>
            </a:r>
            <a:endParaRPr lang="en-US" sz="1200" dirty="0"/>
          </a:p>
        </p:txBody>
      </p:sp>
      <p:sp>
        <p:nvSpPr>
          <p:cNvPr id="27" name="Text 21"/>
          <p:cNvSpPr/>
          <p:nvPr/>
        </p:nvSpPr>
        <p:spPr>
          <a:xfrm>
            <a:off x="1426464" y="4892040"/>
            <a:ext cx="4526280" cy="256032"/>
          </a:xfrm>
          <a:prstGeom prst="rect">
            <a:avLst/>
          </a:prstGeom>
          <a:noFill/>
          <a:ln/>
        </p:spPr>
        <p:txBody>
          <a:bodyPr wrap="square" lIns="0" tIns="0" rIns="0" bIns="0" rtlCol="0" anchor="ctr"/>
          <a:lstStyle/>
          <a:p>
            <a:pPr marL="0" indent="0">
              <a:buNone/>
            </a:pPr>
            <a:r>
              <a:rPr lang="en-US" sz="950" i="1" dirty="0">
                <a:solidFill>
                  <a:srgbClr val="0A5F67"/>
                </a:solidFill>
                <a:latin typeface="Calibri" pitchFamily="34" charset="0"/>
                <a:ea typeface="Calibri" pitchFamily="34" charset="-122"/>
                <a:cs typeface="Calibri" pitchFamily="34" charset="-120"/>
              </a:rPr>
              <a:t>Microsoft, distributed via Kaggle</a:t>
            </a:r>
            <a:endParaRPr lang="en-US" sz="950" dirty="0"/>
          </a:p>
        </p:txBody>
      </p:sp>
      <p:sp>
        <p:nvSpPr>
          <p:cNvPr id="28" name="Text 22"/>
          <p:cNvSpPr/>
          <p:nvPr/>
        </p:nvSpPr>
        <p:spPr>
          <a:xfrm>
            <a:off x="6126480" y="4489704"/>
            <a:ext cx="5166360" cy="749808"/>
          </a:xfrm>
          <a:prstGeom prst="rect">
            <a:avLst/>
          </a:prstGeom>
          <a:noFill/>
          <a:ln/>
        </p:spPr>
        <p:txBody>
          <a:bodyPr wrap="square" lIns="0" tIns="0" rIns="0" bIns="0" rtlCol="0" anchor="ctr"/>
          <a:lstStyle/>
          <a:p>
            <a:pPr marL="0" indent="0">
              <a:buNone/>
            </a:pPr>
            <a:r>
              <a:rPr lang="en-US" sz="1030" dirty="0">
                <a:solidFill>
                  <a:srgbClr val="5C6B78"/>
                </a:solidFill>
                <a:latin typeface="Calibri" pitchFamily="34" charset="0"/>
                <a:ea typeface="Calibri" pitchFamily="34" charset="-122"/>
                <a:cs typeface="Calibri" pitchFamily="34" charset="-120"/>
              </a:rPr>
              <a:t>Telemetry, error logs, and failure history for a fleet of machines — mirrors our schema closely.</a:t>
            </a:r>
            <a:endParaRPr lang="en-US" sz="1030" dirty="0"/>
          </a:p>
        </p:txBody>
      </p:sp>
      <p:sp>
        <p:nvSpPr>
          <p:cNvPr id="29" name="Shape 23"/>
          <p:cNvSpPr/>
          <p:nvPr/>
        </p:nvSpPr>
        <p:spPr>
          <a:xfrm>
            <a:off x="640080" y="5340096"/>
            <a:ext cx="10881360" cy="749808"/>
          </a:xfrm>
          <a:prstGeom prst="roundRect">
            <a:avLst>
              <a:gd name="adj" fmla="val 8537"/>
            </a:avLst>
          </a:prstGeom>
          <a:solidFill>
            <a:srgbClr val="E7F3F3"/>
          </a:solidFill>
          <a:ln/>
          <a:effectLst>
            <a:outerShdw blurRad="101600" dist="38100" dir="5400000" algn="bl" rotWithShape="0">
              <a:srgbClr val="0F2A43">
                <a:alpha val="12000"/>
              </a:srgbClr>
            </a:outerShdw>
          </a:effectLst>
        </p:spPr>
      </p:sp>
      <p:sp>
        <p:nvSpPr>
          <p:cNvPr id="30" name="Shape 24"/>
          <p:cNvSpPr/>
          <p:nvPr/>
        </p:nvSpPr>
        <p:spPr>
          <a:xfrm>
            <a:off x="822960" y="5495544"/>
            <a:ext cx="438912" cy="438912"/>
          </a:xfrm>
          <a:prstGeom prst="ellipse">
            <a:avLst/>
          </a:prstGeom>
          <a:solidFill>
            <a:srgbClr val="FFFFFF"/>
          </a:solidFill>
          <a:ln/>
        </p:spPr>
      </p:sp>
      <p:pic>
        <p:nvPicPr>
          <p:cNvPr id="31" name="Image 4" descr="preencoded.png"/>
          <p:cNvPicPr>
            <a:picLocks noChangeAspect="1"/>
          </p:cNvPicPr>
          <p:nvPr/>
        </p:nvPicPr>
        <p:blipFill>
          <a:blip r:embed="rId7"/>
          <a:stretch>
            <a:fillRect/>
          </a:stretch>
        </p:blipFill>
        <p:spPr>
          <a:xfrm>
            <a:off x="937077" y="5609661"/>
            <a:ext cx="210678" cy="210678"/>
          </a:xfrm>
          <a:prstGeom prst="rect">
            <a:avLst/>
          </a:prstGeom>
        </p:spPr>
      </p:pic>
      <p:sp>
        <p:nvSpPr>
          <p:cNvPr id="32" name="Text 25"/>
          <p:cNvSpPr/>
          <p:nvPr/>
        </p:nvSpPr>
        <p:spPr>
          <a:xfrm>
            <a:off x="1426464" y="5413248"/>
            <a:ext cx="4526280" cy="274320"/>
          </a:xfrm>
          <a:prstGeom prst="rect">
            <a:avLst/>
          </a:prstGeom>
          <a:noFill/>
          <a:ln/>
        </p:spPr>
        <p:txBody>
          <a:bodyPr wrap="square" lIns="0" tIns="0" rIns="0" bIns="0" rtlCol="0" anchor="ctr">
            <a:normAutofit/>
          </a:bodyPr>
          <a:lstStyle/>
          <a:p>
            <a:pPr marL="0" indent="0">
              <a:buNone/>
            </a:pPr>
            <a:r>
              <a:rPr lang="en-US" sz="1200" b="1" dirty="0">
                <a:solidFill>
                  <a:srgbClr val="16232E"/>
                </a:solidFill>
                <a:latin typeface="Cambria" pitchFamily="34" charset="0"/>
                <a:ea typeface="Cambria" pitchFamily="34" charset="-122"/>
                <a:cs typeface="Cambria" pitchFamily="34" charset="-120"/>
              </a:rPr>
              <a:t>In-House SCADA / IoT Historian</a:t>
            </a:r>
            <a:endParaRPr lang="en-US" sz="1200" dirty="0"/>
          </a:p>
        </p:txBody>
      </p:sp>
      <p:sp>
        <p:nvSpPr>
          <p:cNvPr id="33" name="Text 26"/>
          <p:cNvSpPr/>
          <p:nvPr/>
        </p:nvSpPr>
        <p:spPr>
          <a:xfrm>
            <a:off x="1426464" y="5742432"/>
            <a:ext cx="4526280" cy="256032"/>
          </a:xfrm>
          <a:prstGeom prst="rect">
            <a:avLst/>
          </a:prstGeom>
          <a:noFill/>
          <a:ln/>
        </p:spPr>
        <p:txBody>
          <a:bodyPr wrap="square" lIns="0" tIns="0" rIns="0" bIns="0" rtlCol="0" anchor="ctr"/>
          <a:lstStyle/>
          <a:p>
            <a:pPr marL="0" indent="0">
              <a:buNone/>
            </a:pPr>
            <a:r>
              <a:rPr lang="en-US" sz="950" i="1" dirty="0">
                <a:solidFill>
                  <a:srgbClr val="0A5F67"/>
                </a:solidFill>
                <a:latin typeface="Calibri" pitchFamily="34" charset="0"/>
                <a:ea typeface="Calibri" pitchFamily="34" charset="-122"/>
                <a:cs typeface="Calibri" pitchFamily="34" charset="-120"/>
              </a:rPr>
              <a:t>Plant PLC &amp; sensor gateways (proprietary, post-deployment)</a:t>
            </a:r>
            <a:endParaRPr lang="en-US" sz="950" dirty="0"/>
          </a:p>
        </p:txBody>
      </p:sp>
      <p:sp>
        <p:nvSpPr>
          <p:cNvPr id="34" name="Text 27"/>
          <p:cNvSpPr/>
          <p:nvPr/>
        </p:nvSpPr>
        <p:spPr>
          <a:xfrm>
            <a:off x="6126480" y="5340096"/>
            <a:ext cx="5166360" cy="749808"/>
          </a:xfrm>
          <a:prstGeom prst="rect">
            <a:avLst/>
          </a:prstGeom>
          <a:noFill/>
          <a:ln/>
        </p:spPr>
        <p:txBody>
          <a:bodyPr wrap="square" lIns="0" tIns="0" rIns="0" bIns="0" rtlCol="0" anchor="ctr"/>
          <a:lstStyle/>
          <a:p>
            <a:pPr marL="0" indent="0">
              <a:buNone/>
            </a:pPr>
            <a:r>
              <a:rPr lang="en-US" sz="1030" dirty="0">
                <a:solidFill>
                  <a:srgbClr val="5C6B78"/>
                </a:solidFill>
                <a:latin typeface="Calibri" pitchFamily="34" charset="0"/>
                <a:ea typeface="Calibri" pitchFamily="34" charset="-122"/>
                <a:cs typeface="Calibri" pitchFamily="34" charset="-120"/>
              </a:rPr>
              <a:t>Live production telemetry captured after rollout, used exclusively for ongoing model retraining.</a:t>
            </a:r>
            <a:endParaRPr lang="en-US" sz="1030" dirty="0"/>
          </a:p>
        </p:txBody>
      </p:sp>
      <p:sp>
        <p:nvSpPr>
          <p:cNvPr id="35" name="Text 28"/>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36" name="Text 29"/>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TRAINING DATA</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What the Model Actually Sees</a:t>
            </a:r>
            <a:endParaRPr lang="en-US" sz="3200" dirty="0"/>
          </a:p>
        </p:txBody>
      </p:sp>
      <p:sp>
        <p:nvSpPr>
          <p:cNvPr id="4" name="Text 2"/>
          <p:cNvSpPr/>
          <p:nvPr/>
        </p:nvSpPr>
        <p:spPr>
          <a:xfrm>
            <a:off x="640080" y="1298448"/>
            <a:ext cx="987552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A simplified excerpt in the AI4I 2020 schema — each row is one machine reading at one point in time.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2331721"/>
        </p:xfrm>
        <a:graphic>
          <a:graphicData uri="http://schemas.openxmlformats.org/drawingml/2006/table">
            <a:tbl>
              <a:tblPr/>
              <a:tblGrid>
                <a:gridCol w="1417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tblGrid>
              <a:tr h="333103">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Machine_ID</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Air_Temp (K)</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Process_Temp (K)</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Rot. Speed (rpm)</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Torque (Nm)</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Tool_Wear (min)</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Failure_Type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M-1021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298.1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308.6</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1551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42.8</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l">
                        <a:buNone/>
                      </a:pPr>
                      <a:r>
                        <a:rPr lang="en-US" sz="1050" dirty="0">
                          <a:solidFill>
                            <a:srgbClr val="16232E"/>
                          </a:solidFill>
                          <a:latin typeface="Calibri" pitchFamily="34" charset="0"/>
                          <a:ea typeface="Calibri" pitchFamily="34" charset="-122"/>
                          <a:cs typeface="Calibri" pitchFamily="34" charset="-120"/>
                        </a:rPr>
                        <a:t>No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extLst>
                  <a:ext uri="{0D108BD9-81ED-4DB2-BD59-A6C34878D82A}">
                    <a16:rowId xmlns:a16="http://schemas.microsoft.com/office/drawing/2014/main" val="10001"/>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M-1022</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298.2</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308.7</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1408</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46.3</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latin typeface="Calibri" pitchFamily="34" charset="0"/>
                          <a:ea typeface="Calibri" pitchFamily="34" charset="-122"/>
                          <a:cs typeface="Calibri" pitchFamily="34" charset="-120"/>
                        </a:rPr>
                        <a:t>No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M-1035</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300.9</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311.2</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1425</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58.1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l">
                        <a:buNone/>
                      </a:pPr>
                      <a:r>
                        <a:rPr lang="en-US" sz="1050" b="1" dirty="0">
                          <a:solidFill>
                            <a:srgbClr val="C9861F"/>
                          </a:solidFill>
                          <a:latin typeface="Calibri" pitchFamily="34" charset="0"/>
                          <a:ea typeface="Calibri" pitchFamily="34" charset="-122"/>
                          <a:cs typeface="Calibri" pitchFamily="34" charset="-120"/>
                        </a:rPr>
                        <a:t>Tool Wear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extLst>
                  <a:ext uri="{0D108BD9-81ED-4DB2-BD59-A6C34878D82A}">
                    <a16:rowId xmlns:a16="http://schemas.microsoft.com/office/drawing/2014/main" val="10003"/>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M-1041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302.4</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312.1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1362</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60.7</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C9861F"/>
                          </a:solidFill>
                          <a:latin typeface="Calibri" pitchFamily="34" charset="0"/>
                          <a:ea typeface="Calibri" pitchFamily="34" charset="-122"/>
                          <a:cs typeface="Calibri" pitchFamily="34" charset="-120"/>
                        </a:rPr>
                        <a:t>Heat Dissipation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M-1058</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298.5</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309.0</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2861</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tc>
                  <a:txBody>
                    <a:bodyPr/>
                    <a:lstStyle/>
                    <a:p>
                      <a:pPr marL="0" indent="0" algn="l">
                        <a:buNone/>
                      </a:pPr>
                      <a:r>
                        <a:rPr lang="en-US" sz="1050" b="1" dirty="0">
                          <a:solidFill>
                            <a:srgbClr val="C9861F"/>
                          </a:solidFill>
                          <a:latin typeface="Calibri" pitchFamily="34" charset="0"/>
                          <a:ea typeface="Calibri" pitchFamily="34" charset="-122"/>
                          <a:cs typeface="Calibri" pitchFamily="34" charset="-120"/>
                        </a:rPr>
                        <a:t>Power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E7F3F3"/>
                    </a:solidFill>
                  </a:tcPr>
                </a:tc>
                <a:extLst>
                  <a:ext uri="{0D108BD9-81ED-4DB2-BD59-A6C34878D82A}">
                    <a16:rowId xmlns:a16="http://schemas.microsoft.com/office/drawing/2014/main" val="10005"/>
                  </a:ext>
                </a:extLst>
              </a:tr>
              <a:tr h="333103">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M-1063</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299.7</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310.4</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1489</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6232E"/>
                          </a:solidFill>
                          <a:latin typeface="Calibri" pitchFamily="34" charset="0"/>
                          <a:ea typeface="Calibri" pitchFamily="34" charset="-122"/>
                          <a:cs typeface="Calibri" pitchFamily="34" charset="-120"/>
                        </a:rPr>
                        <a:t>88</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E"/>
                          </a:solidFill>
                          <a:latin typeface="Calibri" pitchFamily="34" charset="0"/>
                          <a:ea typeface="Calibri" pitchFamily="34" charset="-122"/>
                          <a:cs typeface="Calibri" pitchFamily="34" charset="-120"/>
                        </a:rPr>
                        <a:t>No Failure</a:t>
                      </a:r>
                      <a:endParaRPr lang="en-US" sz="10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640080" y="4617720"/>
            <a:ext cx="352044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7" name="Shape 4"/>
          <p:cNvSpPr/>
          <p:nvPr/>
        </p:nvSpPr>
        <p:spPr>
          <a:xfrm>
            <a:off x="841248" y="4818888"/>
            <a:ext cx="420624" cy="420624"/>
          </a:xfrm>
          <a:prstGeom prst="ellipse">
            <a:avLst/>
          </a:prstGeom>
          <a:solidFill>
            <a:srgbClr val="E7F3F3"/>
          </a:solidFill>
          <a:ln/>
        </p:spPr>
      </p:sp>
      <p:pic>
        <p:nvPicPr>
          <p:cNvPr id="5" name="Image 0" descr="preencoded.png"/>
          <p:cNvPicPr>
            <a:picLocks noChangeAspect="1"/>
          </p:cNvPicPr>
          <p:nvPr/>
        </p:nvPicPr>
        <p:blipFill>
          <a:blip r:embed="rId3"/>
          <a:stretch>
            <a:fillRect/>
          </a:stretch>
        </p:blipFill>
        <p:spPr>
          <a:xfrm>
            <a:off x="950610" y="4928250"/>
            <a:ext cx="201900" cy="201900"/>
          </a:xfrm>
          <a:prstGeom prst="rect">
            <a:avLst/>
          </a:prstGeom>
        </p:spPr>
      </p:pic>
      <p:sp>
        <p:nvSpPr>
          <p:cNvPr id="9" name="Text 5"/>
          <p:cNvSpPr/>
          <p:nvPr/>
        </p:nvSpPr>
        <p:spPr>
          <a:xfrm>
            <a:off x="1417320" y="4800600"/>
            <a:ext cx="2560320" cy="292608"/>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Class Imbalance</a:t>
            </a:r>
            <a:endParaRPr lang="en-US" sz="1250" dirty="0"/>
          </a:p>
        </p:txBody>
      </p:sp>
      <p:sp>
        <p:nvSpPr>
          <p:cNvPr id="10" name="Text 6"/>
          <p:cNvSpPr/>
          <p:nvPr/>
        </p:nvSpPr>
        <p:spPr>
          <a:xfrm>
            <a:off x="841248" y="5276088"/>
            <a:ext cx="3118104" cy="685800"/>
          </a:xfrm>
          <a:prstGeom prst="rect">
            <a:avLst/>
          </a:prstGeom>
          <a:noFill/>
          <a:ln/>
        </p:spPr>
        <p:txBody>
          <a:bodyPr wrap="square" lIns="0" tIns="0" rIns="0" bIns="0" rtlCol="0" anchor="t"/>
          <a:lstStyle/>
          <a:p>
            <a:pPr marL="0" indent="0">
              <a:buNone/>
            </a:pPr>
            <a:r>
              <a:rPr lang="en-US" sz="1000" dirty="0">
                <a:solidFill>
                  <a:srgbClr val="5C6B78"/>
                </a:solidFill>
                <a:latin typeface="Calibri" pitchFamily="34" charset="0"/>
                <a:ea typeface="Calibri" pitchFamily="34" charset="-122"/>
                <a:cs typeface="Calibri" pitchFamily="34" charset="-120"/>
              </a:rPr>
              <a:t>Failures are rare (~3-5% of rows) — handled with SMOTE oversampling before training.</a:t>
            </a:r>
            <a:endParaRPr lang="en-US" sz="1000" dirty="0"/>
          </a:p>
        </p:txBody>
      </p:sp>
      <p:sp>
        <p:nvSpPr>
          <p:cNvPr id="11" name="Shape 7"/>
          <p:cNvSpPr/>
          <p:nvPr/>
        </p:nvSpPr>
        <p:spPr>
          <a:xfrm>
            <a:off x="4325112" y="4617720"/>
            <a:ext cx="352044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12" name="Shape 8"/>
          <p:cNvSpPr/>
          <p:nvPr/>
        </p:nvSpPr>
        <p:spPr>
          <a:xfrm>
            <a:off x="4526280" y="4818888"/>
            <a:ext cx="420624" cy="420624"/>
          </a:xfrm>
          <a:prstGeom prst="ellipse">
            <a:avLst/>
          </a:prstGeom>
          <a:solidFill>
            <a:srgbClr val="E7F3F3"/>
          </a:solidFill>
          <a:ln/>
        </p:spPr>
      </p:sp>
      <p:pic>
        <p:nvPicPr>
          <p:cNvPr id="13" name="Image 1" descr="preencoded.png"/>
          <p:cNvPicPr>
            <a:picLocks noChangeAspect="1"/>
          </p:cNvPicPr>
          <p:nvPr/>
        </p:nvPicPr>
        <p:blipFill>
          <a:blip r:embed="rId4"/>
          <a:stretch>
            <a:fillRect/>
          </a:stretch>
        </p:blipFill>
        <p:spPr>
          <a:xfrm>
            <a:off x="4635642" y="4928250"/>
            <a:ext cx="201900" cy="201900"/>
          </a:xfrm>
          <a:prstGeom prst="rect">
            <a:avLst/>
          </a:prstGeom>
        </p:spPr>
      </p:pic>
      <p:sp>
        <p:nvSpPr>
          <p:cNvPr id="14" name="Text 9"/>
          <p:cNvSpPr/>
          <p:nvPr/>
        </p:nvSpPr>
        <p:spPr>
          <a:xfrm>
            <a:off x="5102352" y="4800600"/>
            <a:ext cx="2560320" cy="292608"/>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Feature Scope</a:t>
            </a:r>
            <a:endParaRPr lang="en-US" sz="1250" dirty="0"/>
          </a:p>
        </p:txBody>
      </p:sp>
      <p:sp>
        <p:nvSpPr>
          <p:cNvPr id="15" name="Text 10"/>
          <p:cNvSpPr/>
          <p:nvPr/>
        </p:nvSpPr>
        <p:spPr>
          <a:xfrm>
            <a:off x="4526280" y="5276088"/>
            <a:ext cx="3118104" cy="685800"/>
          </a:xfrm>
          <a:prstGeom prst="rect">
            <a:avLst/>
          </a:prstGeom>
          <a:noFill/>
          <a:ln/>
        </p:spPr>
        <p:txBody>
          <a:bodyPr wrap="square" lIns="0" tIns="0" rIns="0" bIns="0" rtlCol="0" anchor="t"/>
          <a:lstStyle/>
          <a:p>
            <a:pPr marL="0" indent="0">
              <a:buNone/>
            </a:pPr>
            <a:r>
              <a:rPr lang="en-US" sz="1000" dirty="0">
                <a:solidFill>
                  <a:srgbClr val="5C6B78"/>
                </a:solidFill>
                <a:latin typeface="Calibri" pitchFamily="34" charset="0"/>
                <a:ea typeface="Calibri" pitchFamily="34" charset="-122"/>
                <a:cs typeface="Calibri" pitchFamily="34" charset="-120"/>
              </a:rPr>
              <a:t>Real pipeline adds rolling averages, FFT bands &amp; lag features per asset.</a:t>
            </a:r>
            <a:endParaRPr lang="en-US" sz="1000" dirty="0"/>
          </a:p>
        </p:txBody>
      </p:sp>
      <p:sp>
        <p:nvSpPr>
          <p:cNvPr id="16" name="Shape 11"/>
          <p:cNvSpPr/>
          <p:nvPr/>
        </p:nvSpPr>
        <p:spPr>
          <a:xfrm>
            <a:off x="8010144" y="4617720"/>
            <a:ext cx="352044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17" name="Shape 12"/>
          <p:cNvSpPr/>
          <p:nvPr/>
        </p:nvSpPr>
        <p:spPr>
          <a:xfrm>
            <a:off x="8211312" y="4818888"/>
            <a:ext cx="420624" cy="420624"/>
          </a:xfrm>
          <a:prstGeom prst="ellipse">
            <a:avLst/>
          </a:prstGeom>
          <a:solidFill>
            <a:srgbClr val="E7F3F3"/>
          </a:solidFill>
          <a:ln/>
        </p:spPr>
      </p:sp>
      <p:pic>
        <p:nvPicPr>
          <p:cNvPr id="18" name="Image 2" descr="preencoded.png"/>
          <p:cNvPicPr>
            <a:picLocks noChangeAspect="1"/>
          </p:cNvPicPr>
          <p:nvPr/>
        </p:nvPicPr>
        <p:blipFill>
          <a:blip r:embed="rId5"/>
          <a:stretch>
            <a:fillRect/>
          </a:stretch>
        </p:blipFill>
        <p:spPr>
          <a:xfrm>
            <a:off x="8320674" y="4928250"/>
            <a:ext cx="201900" cy="201900"/>
          </a:xfrm>
          <a:prstGeom prst="rect">
            <a:avLst/>
          </a:prstGeom>
        </p:spPr>
      </p:pic>
      <p:sp>
        <p:nvSpPr>
          <p:cNvPr id="19" name="Text 13"/>
          <p:cNvSpPr/>
          <p:nvPr/>
        </p:nvSpPr>
        <p:spPr>
          <a:xfrm>
            <a:off x="8787384" y="4800600"/>
            <a:ext cx="2560320" cy="292608"/>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Label Source</a:t>
            </a:r>
            <a:endParaRPr lang="en-US" sz="1250" dirty="0"/>
          </a:p>
        </p:txBody>
      </p:sp>
      <p:sp>
        <p:nvSpPr>
          <p:cNvPr id="20" name="Text 14"/>
          <p:cNvSpPr/>
          <p:nvPr/>
        </p:nvSpPr>
        <p:spPr>
          <a:xfrm>
            <a:off x="8211312" y="5276088"/>
            <a:ext cx="3118104" cy="685800"/>
          </a:xfrm>
          <a:prstGeom prst="rect">
            <a:avLst/>
          </a:prstGeom>
          <a:noFill/>
          <a:ln/>
        </p:spPr>
        <p:txBody>
          <a:bodyPr wrap="square" lIns="0" tIns="0" rIns="0" bIns="0" rtlCol="0" anchor="t"/>
          <a:lstStyle/>
          <a:p>
            <a:pPr marL="0" indent="0">
              <a:buNone/>
            </a:pPr>
            <a:r>
              <a:rPr lang="en-US" sz="1000" dirty="0">
                <a:solidFill>
                  <a:srgbClr val="5C6B78"/>
                </a:solidFill>
                <a:latin typeface="Calibri" pitchFamily="34" charset="0"/>
                <a:ea typeface="Calibri" pitchFamily="34" charset="-122"/>
                <a:cs typeface="Calibri" pitchFamily="34" charset="-120"/>
              </a:rPr>
              <a:t>Failure_Type is logged by maintenance technicians at time of intervention.</a:t>
            </a:r>
            <a:endParaRPr lang="en-US" sz="1000" dirty="0"/>
          </a:p>
        </p:txBody>
      </p:sp>
      <p:sp>
        <p:nvSpPr>
          <p:cNvPr id="21" name="Text 15"/>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22" name="Text 1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The ML Lifecycle</a:t>
            </a:r>
            <a:endParaRPr lang="en-US" sz="3200" dirty="0"/>
          </a:p>
        </p:txBody>
      </p:sp>
      <p:sp>
        <p:nvSpPr>
          <p:cNvPr id="4" name="Text 2"/>
          <p:cNvSpPr/>
          <p:nvPr/>
        </p:nvSpPr>
        <p:spPr>
          <a:xfrm>
            <a:off x="640080" y="1298448"/>
            <a:ext cx="82296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A continuous feedback loop, not a one-time training exercise.</a:t>
            </a:r>
            <a:endParaRPr lang="en-US" sz="1350" dirty="0"/>
          </a:p>
        </p:txBody>
      </p:sp>
      <p:sp>
        <p:nvSpPr>
          <p:cNvPr id="5" name="Shape 3"/>
          <p:cNvSpPr/>
          <p:nvPr/>
        </p:nvSpPr>
        <p:spPr>
          <a:xfrm>
            <a:off x="810616" y="2423160"/>
            <a:ext cx="2450592" cy="233172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6" name="Shape 4"/>
          <p:cNvSpPr/>
          <p:nvPr/>
        </p:nvSpPr>
        <p:spPr>
          <a:xfrm>
            <a:off x="1715872" y="2679192"/>
            <a:ext cx="640080" cy="640080"/>
          </a:xfrm>
          <a:prstGeom prst="ellipse">
            <a:avLst/>
          </a:prstGeom>
          <a:solidFill>
            <a:srgbClr val="E7F3F3"/>
          </a:solidFill>
          <a:ln/>
        </p:spPr>
      </p:sp>
      <p:pic>
        <p:nvPicPr>
          <p:cNvPr id="7" name="Image 0" descr="preencoded.png"/>
          <p:cNvPicPr>
            <a:picLocks noChangeAspect="1"/>
          </p:cNvPicPr>
          <p:nvPr/>
        </p:nvPicPr>
        <p:blipFill>
          <a:blip r:embed="rId3"/>
          <a:stretch>
            <a:fillRect/>
          </a:stretch>
        </p:blipFill>
        <p:spPr>
          <a:xfrm>
            <a:off x="1882292" y="2845613"/>
            <a:ext cx="307238" cy="307238"/>
          </a:xfrm>
          <a:prstGeom prst="rect">
            <a:avLst/>
          </a:prstGeom>
        </p:spPr>
      </p:pic>
      <p:sp>
        <p:nvSpPr>
          <p:cNvPr id="8" name="Text 5"/>
          <p:cNvSpPr/>
          <p:nvPr/>
        </p:nvSpPr>
        <p:spPr>
          <a:xfrm>
            <a:off x="975208" y="3474720"/>
            <a:ext cx="2121408" cy="50292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Feature Engineering</a:t>
            </a:r>
            <a:endParaRPr lang="en-US" sz="1350" dirty="0"/>
          </a:p>
        </p:txBody>
      </p:sp>
      <p:sp>
        <p:nvSpPr>
          <p:cNvPr id="9" name="Text 6"/>
          <p:cNvSpPr/>
          <p:nvPr/>
        </p:nvSpPr>
        <p:spPr>
          <a:xfrm>
            <a:off x="993496" y="3959352"/>
            <a:ext cx="2084832" cy="731520"/>
          </a:xfrm>
          <a:prstGeom prst="rect">
            <a:avLst/>
          </a:prstGeom>
          <a:noFill/>
          <a:ln/>
        </p:spPr>
        <p:txBody>
          <a:bodyPr wrap="square" lIns="0" tIns="0" rIns="0" bIns="0" rtlCol="0" anchor="t"/>
          <a:lstStyle/>
          <a:p>
            <a:pPr marL="0" indent="0" algn="ctr">
              <a:buNone/>
            </a:pPr>
            <a:r>
              <a:rPr lang="en-US" sz="1080" dirty="0">
                <a:solidFill>
                  <a:srgbClr val="5C6B78"/>
                </a:solidFill>
                <a:latin typeface="Calibri" pitchFamily="34" charset="0"/>
                <a:ea typeface="Calibri" pitchFamily="34" charset="-122"/>
                <a:cs typeface="Calibri" pitchFamily="34" charset="-120"/>
              </a:rPr>
              <a:t>Rolling stats &amp; FFT from raw time-series signals</a:t>
            </a:r>
            <a:endParaRPr lang="en-US" sz="1080" dirty="0"/>
          </a:p>
        </p:txBody>
      </p:sp>
      <p:sp>
        <p:nvSpPr>
          <p:cNvPr id="10" name="Shape 7"/>
          <p:cNvSpPr/>
          <p:nvPr/>
        </p:nvSpPr>
        <p:spPr>
          <a:xfrm>
            <a:off x="3261208" y="3589020"/>
            <a:ext cx="256032" cy="0"/>
          </a:xfrm>
          <a:prstGeom prst="line">
            <a:avLst/>
          </a:prstGeom>
          <a:noFill/>
          <a:ln w="22225">
            <a:solidFill>
              <a:srgbClr val="0E7C86"/>
            </a:solidFill>
            <a:prstDash val="solid"/>
            <a:tailEnd type="triangle"/>
          </a:ln>
        </p:spPr>
      </p:sp>
      <p:sp>
        <p:nvSpPr>
          <p:cNvPr id="11" name="Shape 8"/>
          <p:cNvSpPr/>
          <p:nvPr/>
        </p:nvSpPr>
        <p:spPr>
          <a:xfrm>
            <a:off x="3517240" y="2423160"/>
            <a:ext cx="2450592" cy="233172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12" name="Shape 9"/>
          <p:cNvSpPr/>
          <p:nvPr/>
        </p:nvSpPr>
        <p:spPr>
          <a:xfrm>
            <a:off x="4422496" y="2679192"/>
            <a:ext cx="640080" cy="640080"/>
          </a:xfrm>
          <a:prstGeom prst="ellipse">
            <a:avLst/>
          </a:prstGeom>
          <a:solidFill>
            <a:srgbClr val="E7F3F3"/>
          </a:solidFill>
          <a:ln/>
        </p:spPr>
      </p:sp>
      <p:pic>
        <p:nvPicPr>
          <p:cNvPr id="13" name="Image 1" descr="preencoded.png"/>
          <p:cNvPicPr>
            <a:picLocks noChangeAspect="1"/>
          </p:cNvPicPr>
          <p:nvPr/>
        </p:nvPicPr>
        <p:blipFill>
          <a:blip r:embed="rId4"/>
          <a:stretch>
            <a:fillRect/>
          </a:stretch>
        </p:blipFill>
        <p:spPr>
          <a:xfrm>
            <a:off x="4588916" y="2845613"/>
            <a:ext cx="307238" cy="307238"/>
          </a:xfrm>
          <a:prstGeom prst="rect">
            <a:avLst/>
          </a:prstGeom>
        </p:spPr>
      </p:pic>
      <p:sp>
        <p:nvSpPr>
          <p:cNvPr id="14" name="Text 10"/>
          <p:cNvSpPr/>
          <p:nvPr/>
        </p:nvSpPr>
        <p:spPr>
          <a:xfrm>
            <a:off x="3681832" y="3474720"/>
            <a:ext cx="2121408" cy="50292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Model Training</a:t>
            </a:r>
            <a:endParaRPr lang="en-US" sz="1350" dirty="0"/>
          </a:p>
        </p:txBody>
      </p:sp>
      <p:sp>
        <p:nvSpPr>
          <p:cNvPr id="15" name="Text 11"/>
          <p:cNvSpPr/>
          <p:nvPr/>
        </p:nvSpPr>
        <p:spPr>
          <a:xfrm>
            <a:off x="3700120" y="3959352"/>
            <a:ext cx="2084832" cy="731520"/>
          </a:xfrm>
          <a:prstGeom prst="rect">
            <a:avLst/>
          </a:prstGeom>
          <a:noFill/>
          <a:ln/>
        </p:spPr>
        <p:txBody>
          <a:bodyPr wrap="square" lIns="0" tIns="0" rIns="0" bIns="0" rtlCol="0" anchor="t"/>
          <a:lstStyle/>
          <a:p>
            <a:pPr marL="0" indent="0" algn="ctr">
              <a:buNone/>
            </a:pPr>
            <a:r>
              <a:rPr lang="en-US" sz="1080" dirty="0">
                <a:solidFill>
                  <a:srgbClr val="5C6B78"/>
                </a:solidFill>
                <a:latin typeface="Calibri" pitchFamily="34" charset="0"/>
                <a:ea typeface="Calibri" pitchFamily="34" charset="-122"/>
                <a:cs typeface="Calibri" pitchFamily="34" charset="-120"/>
              </a:rPr>
              <a:t>Random Forest, XGBoost &amp; LSTM on labeled failure data</a:t>
            </a:r>
            <a:endParaRPr lang="en-US" sz="1080" dirty="0"/>
          </a:p>
        </p:txBody>
      </p:sp>
      <p:sp>
        <p:nvSpPr>
          <p:cNvPr id="16" name="Shape 12"/>
          <p:cNvSpPr/>
          <p:nvPr/>
        </p:nvSpPr>
        <p:spPr>
          <a:xfrm>
            <a:off x="5967832" y="3589020"/>
            <a:ext cx="256032" cy="0"/>
          </a:xfrm>
          <a:prstGeom prst="line">
            <a:avLst/>
          </a:prstGeom>
          <a:noFill/>
          <a:ln w="22225">
            <a:solidFill>
              <a:srgbClr val="0E7C86"/>
            </a:solidFill>
            <a:prstDash val="solid"/>
            <a:tailEnd type="triangle"/>
          </a:ln>
        </p:spPr>
      </p:sp>
      <p:sp>
        <p:nvSpPr>
          <p:cNvPr id="17" name="Shape 13"/>
          <p:cNvSpPr/>
          <p:nvPr/>
        </p:nvSpPr>
        <p:spPr>
          <a:xfrm>
            <a:off x="6223864" y="2423160"/>
            <a:ext cx="2450592" cy="233172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18" name="Shape 14"/>
          <p:cNvSpPr/>
          <p:nvPr/>
        </p:nvSpPr>
        <p:spPr>
          <a:xfrm>
            <a:off x="7129120" y="2679192"/>
            <a:ext cx="640080" cy="640080"/>
          </a:xfrm>
          <a:prstGeom prst="ellipse">
            <a:avLst/>
          </a:prstGeom>
          <a:solidFill>
            <a:srgbClr val="E7F3F3"/>
          </a:solidFill>
          <a:ln/>
        </p:spPr>
      </p:sp>
      <p:pic>
        <p:nvPicPr>
          <p:cNvPr id="19" name="Image 2" descr="preencoded.png"/>
          <p:cNvPicPr>
            <a:picLocks noChangeAspect="1"/>
          </p:cNvPicPr>
          <p:nvPr/>
        </p:nvPicPr>
        <p:blipFill>
          <a:blip r:embed="rId5"/>
          <a:stretch>
            <a:fillRect/>
          </a:stretch>
        </p:blipFill>
        <p:spPr>
          <a:xfrm>
            <a:off x="7295540" y="2845613"/>
            <a:ext cx="307238" cy="307238"/>
          </a:xfrm>
          <a:prstGeom prst="rect">
            <a:avLst/>
          </a:prstGeom>
        </p:spPr>
      </p:pic>
      <p:sp>
        <p:nvSpPr>
          <p:cNvPr id="20" name="Text 15"/>
          <p:cNvSpPr/>
          <p:nvPr/>
        </p:nvSpPr>
        <p:spPr>
          <a:xfrm>
            <a:off x="6388456" y="3474720"/>
            <a:ext cx="2121408" cy="50292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RUL &amp; Anomaly Models</a:t>
            </a:r>
            <a:endParaRPr lang="en-US" sz="1350" dirty="0"/>
          </a:p>
        </p:txBody>
      </p:sp>
      <p:sp>
        <p:nvSpPr>
          <p:cNvPr id="21" name="Text 16"/>
          <p:cNvSpPr/>
          <p:nvPr/>
        </p:nvSpPr>
        <p:spPr>
          <a:xfrm>
            <a:off x="6406744" y="3959352"/>
            <a:ext cx="2084832" cy="731520"/>
          </a:xfrm>
          <a:prstGeom prst="rect">
            <a:avLst/>
          </a:prstGeom>
          <a:noFill/>
          <a:ln/>
        </p:spPr>
        <p:txBody>
          <a:bodyPr wrap="square" lIns="0" tIns="0" rIns="0" bIns="0" rtlCol="0" anchor="t"/>
          <a:lstStyle/>
          <a:p>
            <a:pPr marL="0" indent="0" algn="ctr">
              <a:buNone/>
            </a:pPr>
            <a:r>
              <a:rPr lang="en-US" sz="1080" dirty="0">
                <a:solidFill>
                  <a:srgbClr val="5C6B78"/>
                </a:solidFill>
                <a:latin typeface="Calibri" pitchFamily="34" charset="0"/>
                <a:ea typeface="Calibri" pitchFamily="34" charset="-122"/>
                <a:cs typeface="Calibri" pitchFamily="34" charset="-120"/>
              </a:rPr>
              <a:t>Predict Remaining Useful Life and flag deviations</a:t>
            </a:r>
            <a:endParaRPr lang="en-US" sz="1080" dirty="0"/>
          </a:p>
        </p:txBody>
      </p:sp>
      <p:sp>
        <p:nvSpPr>
          <p:cNvPr id="22" name="Shape 17"/>
          <p:cNvSpPr/>
          <p:nvPr/>
        </p:nvSpPr>
        <p:spPr>
          <a:xfrm>
            <a:off x="8674456" y="3589020"/>
            <a:ext cx="256032" cy="0"/>
          </a:xfrm>
          <a:prstGeom prst="line">
            <a:avLst/>
          </a:prstGeom>
          <a:noFill/>
          <a:ln w="22225">
            <a:solidFill>
              <a:srgbClr val="0E7C86"/>
            </a:solidFill>
            <a:prstDash val="solid"/>
            <a:tailEnd type="triangle"/>
          </a:ln>
        </p:spPr>
      </p:sp>
      <p:sp>
        <p:nvSpPr>
          <p:cNvPr id="23" name="Shape 18"/>
          <p:cNvSpPr/>
          <p:nvPr/>
        </p:nvSpPr>
        <p:spPr>
          <a:xfrm>
            <a:off x="8930488" y="2423160"/>
            <a:ext cx="2450592" cy="2331720"/>
          </a:xfrm>
          <a:prstGeom prst="roundRect">
            <a:avLst>
              <a:gd name="adj" fmla="val 3529"/>
            </a:avLst>
          </a:prstGeom>
          <a:solidFill>
            <a:srgbClr val="FFFFFF"/>
          </a:solidFill>
          <a:ln/>
          <a:effectLst>
            <a:outerShdw blurRad="101600" dist="38100" dir="5400000" algn="bl" rotWithShape="0">
              <a:srgbClr val="0F2A43">
                <a:alpha val="12000"/>
              </a:srgbClr>
            </a:outerShdw>
          </a:effectLst>
        </p:spPr>
      </p:sp>
      <p:sp>
        <p:nvSpPr>
          <p:cNvPr id="24" name="Shape 19"/>
          <p:cNvSpPr/>
          <p:nvPr/>
        </p:nvSpPr>
        <p:spPr>
          <a:xfrm>
            <a:off x="9835744" y="2679192"/>
            <a:ext cx="640080" cy="640080"/>
          </a:xfrm>
          <a:prstGeom prst="ellipse">
            <a:avLst/>
          </a:prstGeom>
          <a:solidFill>
            <a:srgbClr val="E7F3F3"/>
          </a:solidFill>
          <a:ln/>
        </p:spPr>
      </p:sp>
      <p:pic>
        <p:nvPicPr>
          <p:cNvPr id="25" name="Image 3" descr="preencoded.png"/>
          <p:cNvPicPr>
            <a:picLocks noChangeAspect="1"/>
          </p:cNvPicPr>
          <p:nvPr/>
        </p:nvPicPr>
        <p:blipFill>
          <a:blip r:embed="rId6"/>
          <a:stretch>
            <a:fillRect/>
          </a:stretch>
        </p:blipFill>
        <p:spPr>
          <a:xfrm>
            <a:off x="10002164" y="2845613"/>
            <a:ext cx="307238" cy="307238"/>
          </a:xfrm>
          <a:prstGeom prst="rect">
            <a:avLst/>
          </a:prstGeom>
        </p:spPr>
      </p:pic>
      <p:sp>
        <p:nvSpPr>
          <p:cNvPr id="26" name="Text 20"/>
          <p:cNvSpPr/>
          <p:nvPr/>
        </p:nvSpPr>
        <p:spPr>
          <a:xfrm>
            <a:off x="9095080" y="3474720"/>
            <a:ext cx="2121408" cy="502920"/>
          </a:xfrm>
          <a:prstGeom prst="rect">
            <a:avLst/>
          </a:prstGeom>
          <a:noFill/>
          <a:ln/>
        </p:spPr>
        <p:txBody>
          <a:bodyPr wrap="square" lIns="0" tIns="0" rIns="0" bIns="0" rtlCol="0" anchor="ctr"/>
          <a:lstStyle/>
          <a:p>
            <a:pPr marL="0" indent="0" algn="ctr">
              <a:buNone/>
            </a:pPr>
            <a:r>
              <a:rPr lang="en-US" sz="1350" b="1" dirty="0">
                <a:solidFill>
                  <a:srgbClr val="16232E"/>
                </a:solidFill>
                <a:latin typeface="Cambria" pitchFamily="34" charset="0"/>
                <a:ea typeface="Cambria" pitchFamily="34" charset="-122"/>
                <a:cs typeface="Cambria" pitchFamily="34" charset="-120"/>
              </a:rPr>
              <a:t>Continuous Retraining</a:t>
            </a:r>
            <a:endParaRPr lang="en-US" sz="1350" dirty="0"/>
          </a:p>
        </p:txBody>
      </p:sp>
      <p:sp>
        <p:nvSpPr>
          <p:cNvPr id="27" name="Text 21"/>
          <p:cNvSpPr/>
          <p:nvPr/>
        </p:nvSpPr>
        <p:spPr>
          <a:xfrm>
            <a:off x="9113368" y="3959352"/>
            <a:ext cx="2084832" cy="731520"/>
          </a:xfrm>
          <a:prstGeom prst="rect">
            <a:avLst/>
          </a:prstGeom>
          <a:noFill/>
          <a:ln/>
        </p:spPr>
        <p:txBody>
          <a:bodyPr wrap="square" lIns="0" tIns="0" rIns="0" bIns="0" rtlCol="0" anchor="t"/>
          <a:lstStyle/>
          <a:p>
            <a:pPr marL="0" indent="0" algn="ctr">
              <a:buNone/>
            </a:pPr>
            <a:r>
              <a:rPr lang="en-US" sz="1080" dirty="0">
                <a:solidFill>
                  <a:srgbClr val="5C6B78"/>
                </a:solidFill>
                <a:latin typeface="Calibri" pitchFamily="34" charset="0"/>
                <a:ea typeface="Calibri" pitchFamily="34" charset="-122"/>
                <a:cs typeface="Calibri" pitchFamily="34" charset="-120"/>
              </a:rPr>
              <a:t>Pipeline adapts as equipment &amp; conditions evolve</a:t>
            </a:r>
            <a:endParaRPr lang="en-US" sz="1080" dirty="0"/>
          </a:p>
        </p:txBody>
      </p:sp>
      <p:sp>
        <p:nvSpPr>
          <p:cNvPr id="28" name="Shape 22"/>
          <p:cNvSpPr/>
          <p:nvPr/>
        </p:nvSpPr>
        <p:spPr>
          <a:xfrm>
            <a:off x="4742536" y="5074920"/>
            <a:ext cx="5413248" cy="0"/>
          </a:xfrm>
          <a:prstGeom prst="line">
            <a:avLst/>
          </a:prstGeom>
          <a:noFill/>
          <a:ln w="19050">
            <a:solidFill>
              <a:srgbClr val="C9861F"/>
            </a:solidFill>
            <a:prstDash val="dash"/>
            <a:headEnd type="triangle"/>
          </a:ln>
        </p:spPr>
      </p:sp>
      <p:sp>
        <p:nvSpPr>
          <p:cNvPr id="29" name="Text 23"/>
          <p:cNvSpPr/>
          <p:nvPr/>
        </p:nvSpPr>
        <p:spPr>
          <a:xfrm>
            <a:off x="4742536" y="5148072"/>
            <a:ext cx="5413248" cy="274320"/>
          </a:xfrm>
          <a:prstGeom prst="rect">
            <a:avLst/>
          </a:prstGeom>
          <a:noFill/>
          <a:ln/>
        </p:spPr>
        <p:txBody>
          <a:bodyPr wrap="square" lIns="0" tIns="0" rIns="0" bIns="0" rtlCol="0" anchor="ctr"/>
          <a:lstStyle/>
          <a:p>
            <a:pPr marL="0" indent="0" algn="ctr">
              <a:buNone/>
            </a:pPr>
            <a:r>
              <a:rPr lang="en-US" sz="1050" i="1" dirty="0">
                <a:solidFill>
                  <a:srgbClr val="C9861F"/>
                </a:solidFill>
                <a:latin typeface="Calibri" pitchFamily="34" charset="0"/>
                <a:ea typeface="Calibri" pitchFamily="34" charset="-122"/>
                <a:cs typeface="Calibri" pitchFamily="34" charset="-120"/>
              </a:rPr>
              <a:t>Feedback loop: production drift retrains the model</a:t>
            </a:r>
            <a:endParaRPr lang="en-US" sz="1050" dirty="0"/>
          </a:p>
        </p:txBody>
      </p:sp>
      <p:sp>
        <p:nvSpPr>
          <p:cNvPr id="30" name="Shape 24"/>
          <p:cNvSpPr/>
          <p:nvPr/>
        </p:nvSpPr>
        <p:spPr>
          <a:xfrm>
            <a:off x="856336" y="5742432"/>
            <a:ext cx="2468880" cy="566928"/>
          </a:xfrm>
          <a:prstGeom prst="roundRect">
            <a:avLst>
              <a:gd name="adj" fmla="val 9677"/>
            </a:avLst>
          </a:prstGeom>
          <a:solidFill>
            <a:srgbClr val="0F2A43"/>
          </a:solidFill>
          <a:ln/>
        </p:spPr>
      </p:sp>
      <p:sp>
        <p:nvSpPr>
          <p:cNvPr id="31" name="Text 25"/>
          <p:cNvSpPr/>
          <p:nvPr/>
        </p:nvSpPr>
        <p:spPr>
          <a:xfrm>
            <a:off x="856336" y="5742432"/>
            <a:ext cx="2468880" cy="566928"/>
          </a:xfrm>
          <a:prstGeom prst="rect">
            <a:avLst/>
          </a:prstGeom>
          <a:noFill/>
          <a:ln/>
        </p:spPr>
        <p:txBody>
          <a:bodyPr wrap="square" lIns="0" tIns="0" rIns="0" bIns="0" rtlCol="0" anchor="ctr"/>
          <a:lstStyle/>
          <a:p>
            <a:pPr marL="0" indent="0" algn="ctr">
              <a:buNone/>
            </a:pPr>
            <a:r>
              <a:rPr lang="en-US" sz="1300" b="1" dirty="0">
                <a:solidFill>
                  <a:srgbClr val="F2A93B"/>
                </a:solidFill>
                <a:latin typeface="Calibri" pitchFamily="34" charset="0"/>
                <a:ea typeface="Calibri" pitchFamily="34" charset="-122"/>
                <a:cs typeface="Calibri" pitchFamily="34" charset="-120"/>
              </a:rPr>
              <a:t>8.2 cycles  </a:t>
            </a:r>
            <a:r>
              <a:rPr lang="en-US" sz="950" dirty="0">
                <a:solidFill>
                  <a:srgbClr val="C9D6DE"/>
                </a:solidFill>
                <a:latin typeface="Calibri" pitchFamily="34" charset="0"/>
                <a:ea typeface="Calibri" pitchFamily="34" charset="-122"/>
                <a:cs typeface="Calibri" pitchFamily="34" charset="-120"/>
              </a:rPr>
              <a:t>RUL RMSE</a:t>
            </a:r>
            <a:endParaRPr lang="en-US" sz="1300" dirty="0"/>
          </a:p>
        </p:txBody>
      </p:sp>
      <p:sp>
        <p:nvSpPr>
          <p:cNvPr id="32" name="Shape 26"/>
          <p:cNvSpPr/>
          <p:nvPr/>
        </p:nvSpPr>
        <p:spPr>
          <a:xfrm>
            <a:off x="3526384" y="5742432"/>
            <a:ext cx="2468880" cy="566928"/>
          </a:xfrm>
          <a:prstGeom prst="roundRect">
            <a:avLst>
              <a:gd name="adj" fmla="val 9677"/>
            </a:avLst>
          </a:prstGeom>
          <a:solidFill>
            <a:srgbClr val="0F2A43"/>
          </a:solidFill>
          <a:ln/>
        </p:spPr>
      </p:sp>
      <p:sp>
        <p:nvSpPr>
          <p:cNvPr id="33" name="Text 27"/>
          <p:cNvSpPr/>
          <p:nvPr/>
        </p:nvSpPr>
        <p:spPr>
          <a:xfrm>
            <a:off x="3526384" y="5742432"/>
            <a:ext cx="2468880" cy="566928"/>
          </a:xfrm>
          <a:prstGeom prst="rect">
            <a:avLst/>
          </a:prstGeom>
          <a:noFill/>
          <a:ln/>
        </p:spPr>
        <p:txBody>
          <a:bodyPr wrap="square" lIns="0" tIns="0" rIns="0" bIns="0" rtlCol="0" anchor="ctr"/>
          <a:lstStyle/>
          <a:p>
            <a:pPr marL="0" indent="0" algn="ctr">
              <a:buNone/>
            </a:pPr>
            <a:r>
              <a:rPr lang="en-US" sz="1300" b="1" dirty="0">
                <a:solidFill>
                  <a:srgbClr val="F2A93B"/>
                </a:solidFill>
                <a:latin typeface="Calibri" pitchFamily="34" charset="0"/>
                <a:ea typeface="Calibri" pitchFamily="34" charset="-122"/>
                <a:cs typeface="Calibri" pitchFamily="34" charset="-120"/>
              </a:rPr>
              <a:t>94%  </a:t>
            </a:r>
            <a:r>
              <a:rPr lang="en-US" sz="950" dirty="0">
                <a:solidFill>
                  <a:srgbClr val="C9D6DE"/>
                </a:solidFill>
                <a:latin typeface="Calibri" pitchFamily="34" charset="0"/>
                <a:ea typeface="Calibri" pitchFamily="34" charset="-122"/>
                <a:cs typeface="Calibri" pitchFamily="34" charset="-120"/>
              </a:rPr>
              <a:t>Anomaly Precision</a:t>
            </a:r>
            <a:endParaRPr lang="en-US" sz="1300" dirty="0"/>
          </a:p>
        </p:txBody>
      </p:sp>
      <p:sp>
        <p:nvSpPr>
          <p:cNvPr id="34" name="Shape 28"/>
          <p:cNvSpPr/>
          <p:nvPr/>
        </p:nvSpPr>
        <p:spPr>
          <a:xfrm>
            <a:off x="6196432" y="5742432"/>
            <a:ext cx="2468880" cy="566928"/>
          </a:xfrm>
          <a:prstGeom prst="roundRect">
            <a:avLst>
              <a:gd name="adj" fmla="val 9677"/>
            </a:avLst>
          </a:prstGeom>
          <a:solidFill>
            <a:srgbClr val="0F2A43"/>
          </a:solidFill>
          <a:ln/>
        </p:spPr>
      </p:sp>
      <p:sp>
        <p:nvSpPr>
          <p:cNvPr id="35" name="Text 29"/>
          <p:cNvSpPr/>
          <p:nvPr/>
        </p:nvSpPr>
        <p:spPr>
          <a:xfrm>
            <a:off x="6196432" y="5742432"/>
            <a:ext cx="2468880" cy="566928"/>
          </a:xfrm>
          <a:prstGeom prst="rect">
            <a:avLst/>
          </a:prstGeom>
          <a:noFill/>
          <a:ln/>
        </p:spPr>
        <p:txBody>
          <a:bodyPr wrap="square" lIns="0" tIns="0" rIns="0" bIns="0" rtlCol="0" anchor="ctr"/>
          <a:lstStyle/>
          <a:p>
            <a:pPr marL="0" indent="0" algn="ctr">
              <a:buNone/>
            </a:pPr>
            <a:r>
              <a:rPr lang="en-US" sz="1300" b="1" dirty="0">
                <a:solidFill>
                  <a:srgbClr val="F2A93B"/>
                </a:solidFill>
                <a:latin typeface="Calibri" pitchFamily="34" charset="0"/>
                <a:ea typeface="Calibri" pitchFamily="34" charset="-122"/>
                <a:cs typeface="Calibri" pitchFamily="34" charset="-120"/>
              </a:rPr>
              <a:t>91%  </a:t>
            </a:r>
            <a:r>
              <a:rPr lang="en-US" sz="950" dirty="0">
                <a:solidFill>
                  <a:srgbClr val="C9D6DE"/>
                </a:solidFill>
                <a:latin typeface="Calibri" pitchFamily="34" charset="0"/>
                <a:ea typeface="Calibri" pitchFamily="34" charset="-122"/>
                <a:cs typeface="Calibri" pitchFamily="34" charset="-120"/>
              </a:rPr>
              <a:t>Anomaly Recall</a:t>
            </a:r>
            <a:endParaRPr lang="en-US" sz="1300" dirty="0"/>
          </a:p>
        </p:txBody>
      </p:sp>
      <p:sp>
        <p:nvSpPr>
          <p:cNvPr id="36" name="Shape 30"/>
          <p:cNvSpPr/>
          <p:nvPr/>
        </p:nvSpPr>
        <p:spPr>
          <a:xfrm>
            <a:off x="8866480" y="5742432"/>
            <a:ext cx="2468880" cy="566928"/>
          </a:xfrm>
          <a:prstGeom prst="roundRect">
            <a:avLst>
              <a:gd name="adj" fmla="val 9677"/>
            </a:avLst>
          </a:prstGeom>
          <a:solidFill>
            <a:srgbClr val="0F2A43"/>
          </a:solidFill>
          <a:ln/>
        </p:spPr>
      </p:sp>
      <p:sp>
        <p:nvSpPr>
          <p:cNvPr id="37" name="Text 31"/>
          <p:cNvSpPr/>
          <p:nvPr/>
        </p:nvSpPr>
        <p:spPr>
          <a:xfrm>
            <a:off x="8866480" y="5742432"/>
            <a:ext cx="2468880" cy="566928"/>
          </a:xfrm>
          <a:prstGeom prst="rect">
            <a:avLst/>
          </a:prstGeom>
          <a:noFill/>
          <a:ln/>
        </p:spPr>
        <p:txBody>
          <a:bodyPr wrap="square" lIns="0" tIns="0" rIns="0" bIns="0" rtlCol="0" anchor="ctr"/>
          <a:lstStyle/>
          <a:p>
            <a:pPr marL="0" indent="0" algn="ctr">
              <a:buNone/>
            </a:pPr>
            <a:r>
              <a:rPr lang="en-US" sz="1300" b="1" dirty="0">
                <a:solidFill>
                  <a:srgbClr val="F2A93B"/>
                </a:solidFill>
                <a:latin typeface="Calibri" pitchFamily="34" charset="0"/>
                <a:ea typeface="Calibri" pitchFamily="34" charset="-122"/>
                <a:cs typeface="Calibri" pitchFamily="34" charset="-120"/>
              </a:rPr>
              <a:t>0.92  </a:t>
            </a:r>
            <a:r>
              <a:rPr lang="en-US" sz="950" dirty="0">
                <a:solidFill>
                  <a:srgbClr val="C9D6DE"/>
                </a:solidFill>
                <a:latin typeface="Calibri" pitchFamily="34" charset="0"/>
                <a:ea typeface="Calibri" pitchFamily="34" charset="-122"/>
                <a:cs typeface="Calibri" pitchFamily="34" charset="-120"/>
              </a:rPr>
              <a:t>F1-Score</a:t>
            </a:r>
            <a:endParaRPr lang="en-US" sz="1300" dirty="0"/>
          </a:p>
        </p:txBody>
      </p:sp>
      <p:sp>
        <p:nvSpPr>
          <p:cNvPr id="38" name="Text 32"/>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39" name="Text 33"/>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Always Watching</a:t>
            </a:r>
            <a:endParaRPr lang="en-US" sz="3200" dirty="0"/>
          </a:p>
        </p:txBody>
      </p:sp>
      <p:sp>
        <p:nvSpPr>
          <p:cNvPr id="4" name="Text 2"/>
          <p:cNvSpPr/>
          <p:nvPr/>
        </p:nvSpPr>
        <p:spPr>
          <a:xfrm>
            <a:off x="640080" y="1298448"/>
            <a:ext cx="86868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Live telemetry and smart, prioritized alerting — from raw signal to human action.</a:t>
            </a:r>
            <a:endParaRPr lang="en-US" sz="1350" dirty="0"/>
          </a:p>
        </p:txBody>
      </p:sp>
      <p:sp>
        <p:nvSpPr>
          <p:cNvPr id="5" name="Shape 3"/>
          <p:cNvSpPr/>
          <p:nvPr/>
        </p:nvSpPr>
        <p:spPr>
          <a:xfrm>
            <a:off x="640080" y="1965960"/>
            <a:ext cx="6492240" cy="4114800"/>
          </a:xfrm>
          <a:prstGeom prst="roundRect">
            <a:avLst>
              <a:gd name="adj" fmla="val 1778"/>
            </a:avLst>
          </a:prstGeom>
          <a:solidFill>
            <a:srgbClr val="0F2A43"/>
          </a:solidFill>
          <a:ln/>
          <a:effectLst>
            <a:outerShdw blurRad="101600" dist="38100" dir="5400000" algn="bl" rotWithShape="0">
              <a:srgbClr val="0F2A43">
                <a:alpha val="12000"/>
              </a:srgbClr>
            </a:outerShdw>
          </a:effectLst>
        </p:spPr>
      </p:sp>
      <p:sp>
        <p:nvSpPr>
          <p:cNvPr id="6" name="Text 4"/>
          <p:cNvSpPr/>
          <p:nvPr/>
        </p:nvSpPr>
        <p:spPr>
          <a:xfrm>
            <a:off x="914400" y="2167128"/>
            <a:ext cx="3657600" cy="274320"/>
          </a:xfrm>
          <a:prstGeom prst="rect">
            <a:avLst/>
          </a:prstGeom>
          <a:noFill/>
          <a:ln/>
        </p:spPr>
        <p:txBody>
          <a:bodyPr wrap="square" lIns="0" tIns="0" rIns="0" bIns="0" rtlCol="0" anchor="ctr"/>
          <a:lstStyle/>
          <a:p>
            <a:pPr marL="0" indent="0">
              <a:buNone/>
            </a:pPr>
            <a:r>
              <a:rPr lang="en-US" sz="1100" b="1" kern="0" spc="150" dirty="0">
                <a:solidFill>
                  <a:srgbClr val="9FB2BE"/>
                </a:solidFill>
                <a:latin typeface="Calibri" pitchFamily="34" charset="0"/>
                <a:ea typeface="Calibri" pitchFamily="34" charset="-122"/>
                <a:cs typeface="Calibri" pitchFamily="34" charset="-120"/>
              </a:rPr>
              <a:t>ASSET HEALTH — LIVE</a:t>
            </a:r>
            <a:endParaRPr lang="en-US" sz="1100" dirty="0"/>
          </a:p>
        </p:txBody>
      </p:sp>
      <p:sp>
        <p:nvSpPr>
          <p:cNvPr id="7" name="Shape 5"/>
          <p:cNvSpPr/>
          <p:nvPr/>
        </p:nvSpPr>
        <p:spPr>
          <a:xfrm>
            <a:off x="1097280" y="2697480"/>
            <a:ext cx="1371600" cy="1371600"/>
          </a:xfrm>
          <a:prstGeom prst="ellipse">
            <a:avLst/>
          </a:prstGeom>
          <a:solidFill>
            <a:srgbClr val="1F4863"/>
          </a:solidFill>
          <a:ln/>
        </p:spPr>
      </p:sp>
      <p:sp>
        <p:nvSpPr>
          <p:cNvPr id="8" name="Shape 6"/>
          <p:cNvSpPr/>
          <p:nvPr/>
        </p:nvSpPr>
        <p:spPr>
          <a:xfrm>
            <a:off x="1097280" y="2697480"/>
            <a:ext cx="1371600" cy="1371600"/>
          </a:xfrm>
          <a:prstGeom prst="pie">
            <a:avLst>
              <a:gd name="adj1" fmla="val 16200000"/>
              <a:gd name="adj2" fmla="val 13176000"/>
            </a:avLst>
          </a:prstGeom>
          <a:solidFill>
            <a:srgbClr val="3FCE8E"/>
          </a:solidFill>
          <a:ln/>
        </p:spPr>
      </p:sp>
      <p:sp>
        <p:nvSpPr>
          <p:cNvPr id="9" name="Shape 7"/>
          <p:cNvSpPr/>
          <p:nvPr/>
        </p:nvSpPr>
        <p:spPr>
          <a:xfrm>
            <a:off x="1371600" y="2971800"/>
            <a:ext cx="822960" cy="822960"/>
          </a:xfrm>
          <a:prstGeom prst="ellipse">
            <a:avLst/>
          </a:prstGeom>
          <a:solidFill>
            <a:srgbClr val="0F2A43"/>
          </a:solidFill>
          <a:ln/>
        </p:spPr>
      </p:sp>
      <p:sp>
        <p:nvSpPr>
          <p:cNvPr id="10" name="Text 8"/>
          <p:cNvSpPr/>
          <p:nvPr/>
        </p:nvSpPr>
        <p:spPr>
          <a:xfrm>
            <a:off x="1371600" y="297180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86%</a:t>
            </a:r>
            <a:endParaRPr lang="en-US" sz="1500" dirty="0"/>
          </a:p>
        </p:txBody>
      </p:sp>
      <p:sp>
        <p:nvSpPr>
          <p:cNvPr id="11" name="Text 9"/>
          <p:cNvSpPr/>
          <p:nvPr/>
        </p:nvSpPr>
        <p:spPr>
          <a:xfrm>
            <a:off x="914400" y="4178808"/>
            <a:ext cx="1737360" cy="274320"/>
          </a:xfrm>
          <a:prstGeom prst="rect">
            <a:avLst/>
          </a:prstGeom>
          <a:noFill/>
          <a:ln/>
        </p:spPr>
        <p:txBody>
          <a:bodyPr wrap="square" lIns="0" tIns="0" rIns="0" bIns="0" rtlCol="0" anchor="ctr"/>
          <a:lstStyle/>
          <a:p>
            <a:pPr marL="0" indent="0" algn="ctr">
              <a:buNone/>
            </a:pPr>
            <a:r>
              <a:rPr lang="en-US" sz="1050" dirty="0">
                <a:solidFill>
                  <a:srgbClr val="C9D6DE"/>
                </a:solidFill>
                <a:latin typeface="Calibri" pitchFamily="34" charset="0"/>
                <a:ea typeface="Calibri" pitchFamily="34" charset="-122"/>
                <a:cs typeface="Calibri" pitchFamily="34" charset="-120"/>
              </a:rPr>
              <a:t>Pump A-12</a:t>
            </a:r>
            <a:endParaRPr lang="en-US" sz="1050" dirty="0"/>
          </a:p>
        </p:txBody>
      </p:sp>
      <p:sp>
        <p:nvSpPr>
          <p:cNvPr id="12" name="Shape 10"/>
          <p:cNvSpPr/>
          <p:nvPr/>
        </p:nvSpPr>
        <p:spPr>
          <a:xfrm>
            <a:off x="3154680" y="2697480"/>
            <a:ext cx="1371600" cy="1371600"/>
          </a:xfrm>
          <a:prstGeom prst="ellipse">
            <a:avLst/>
          </a:prstGeom>
          <a:solidFill>
            <a:srgbClr val="1F4863"/>
          </a:solidFill>
          <a:ln/>
        </p:spPr>
      </p:sp>
      <p:sp>
        <p:nvSpPr>
          <p:cNvPr id="13" name="Shape 11"/>
          <p:cNvSpPr/>
          <p:nvPr/>
        </p:nvSpPr>
        <p:spPr>
          <a:xfrm>
            <a:off x="3154680" y="2697480"/>
            <a:ext cx="1371600" cy="1371600"/>
          </a:xfrm>
          <a:prstGeom prst="pie">
            <a:avLst>
              <a:gd name="adj1" fmla="val 16200000"/>
              <a:gd name="adj2" fmla="val 7128000"/>
            </a:avLst>
          </a:prstGeom>
          <a:solidFill>
            <a:srgbClr val="F2A93B"/>
          </a:solidFill>
          <a:ln/>
        </p:spPr>
      </p:sp>
      <p:sp>
        <p:nvSpPr>
          <p:cNvPr id="14" name="Shape 12"/>
          <p:cNvSpPr/>
          <p:nvPr/>
        </p:nvSpPr>
        <p:spPr>
          <a:xfrm>
            <a:off x="3429000" y="2971800"/>
            <a:ext cx="822960" cy="822960"/>
          </a:xfrm>
          <a:prstGeom prst="ellipse">
            <a:avLst/>
          </a:prstGeom>
          <a:solidFill>
            <a:srgbClr val="0F2A43"/>
          </a:solidFill>
          <a:ln/>
        </p:spPr>
      </p:sp>
      <p:sp>
        <p:nvSpPr>
          <p:cNvPr id="15" name="Text 13"/>
          <p:cNvSpPr/>
          <p:nvPr/>
        </p:nvSpPr>
        <p:spPr>
          <a:xfrm>
            <a:off x="3429000" y="297180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58%</a:t>
            </a:r>
            <a:endParaRPr lang="en-US" sz="1500" dirty="0"/>
          </a:p>
        </p:txBody>
      </p:sp>
      <p:sp>
        <p:nvSpPr>
          <p:cNvPr id="16" name="Text 14"/>
          <p:cNvSpPr/>
          <p:nvPr/>
        </p:nvSpPr>
        <p:spPr>
          <a:xfrm>
            <a:off x="2971800" y="4178808"/>
            <a:ext cx="1737360" cy="274320"/>
          </a:xfrm>
          <a:prstGeom prst="rect">
            <a:avLst/>
          </a:prstGeom>
          <a:noFill/>
          <a:ln/>
        </p:spPr>
        <p:txBody>
          <a:bodyPr wrap="square" lIns="0" tIns="0" rIns="0" bIns="0" rtlCol="0" anchor="ctr"/>
          <a:lstStyle/>
          <a:p>
            <a:pPr marL="0" indent="0" algn="ctr">
              <a:buNone/>
            </a:pPr>
            <a:r>
              <a:rPr lang="en-US" sz="1050" dirty="0">
                <a:solidFill>
                  <a:srgbClr val="C9D6DE"/>
                </a:solidFill>
                <a:latin typeface="Calibri" pitchFamily="34" charset="0"/>
                <a:ea typeface="Calibri" pitchFamily="34" charset="-122"/>
                <a:cs typeface="Calibri" pitchFamily="34" charset="-120"/>
              </a:rPr>
              <a:t>Motor B-04</a:t>
            </a:r>
            <a:endParaRPr lang="en-US" sz="1050" dirty="0"/>
          </a:p>
        </p:txBody>
      </p:sp>
      <p:sp>
        <p:nvSpPr>
          <p:cNvPr id="17" name="Shape 15"/>
          <p:cNvSpPr/>
          <p:nvPr/>
        </p:nvSpPr>
        <p:spPr>
          <a:xfrm>
            <a:off x="5212080" y="2697480"/>
            <a:ext cx="1371600" cy="1371600"/>
          </a:xfrm>
          <a:prstGeom prst="ellipse">
            <a:avLst/>
          </a:prstGeom>
          <a:solidFill>
            <a:srgbClr val="1F4863"/>
          </a:solidFill>
          <a:ln/>
        </p:spPr>
      </p:sp>
      <p:sp>
        <p:nvSpPr>
          <p:cNvPr id="18" name="Shape 16"/>
          <p:cNvSpPr/>
          <p:nvPr/>
        </p:nvSpPr>
        <p:spPr>
          <a:xfrm>
            <a:off x="5212080" y="2697480"/>
            <a:ext cx="1371600" cy="1371600"/>
          </a:xfrm>
          <a:prstGeom prst="pie">
            <a:avLst>
              <a:gd name="adj1" fmla="val 16200000"/>
              <a:gd name="adj2" fmla="val 21384000"/>
            </a:avLst>
          </a:prstGeom>
          <a:solidFill>
            <a:srgbClr val="E85C5C"/>
          </a:solidFill>
          <a:ln/>
        </p:spPr>
      </p:sp>
      <p:sp>
        <p:nvSpPr>
          <p:cNvPr id="19" name="Shape 17"/>
          <p:cNvSpPr/>
          <p:nvPr/>
        </p:nvSpPr>
        <p:spPr>
          <a:xfrm>
            <a:off x="5486400" y="2971800"/>
            <a:ext cx="822960" cy="822960"/>
          </a:xfrm>
          <a:prstGeom prst="ellipse">
            <a:avLst/>
          </a:prstGeom>
          <a:solidFill>
            <a:srgbClr val="0F2A43"/>
          </a:solidFill>
          <a:ln/>
        </p:spPr>
      </p:sp>
      <p:sp>
        <p:nvSpPr>
          <p:cNvPr id="20" name="Text 18"/>
          <p:cNvSpPr/>
          <p:nvPr/>
        </p:nvSpPr>
        <p:spPr>
          <a:xfrm>
            <a:off x="5486400" y="2971800"/>
            <a:ext cx="82296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24%</a:t>
            </a:r>
            <a:endParaRPr lang="en-US" sz="1500" dirty="0"/>
          </a:p>
        </p:txBody>
      </p:sp>
      <p:sp>
        <p:nvSpPr>
          <p:cNvPr id="21" name="Text 19"/>
          <p:cNvSpPr/>
          <p:nvPr/>
        </p:nvSpPr>
        <p:spPr>
          <a:xfrm>
            <a:off x="5029200" y="4178808"/>
            <a:ext cx="1737360" cy="274320"/>
          </a:xfrm>
          <a:prstGeom prst="rect">
            <a:avLst/>
          </a:prstGeom>
          <a:noFill/>
          <a:ln/>
        </p:spPr>
        <p:txBody>
          <a:bodyPr wrap="square" lIns="0" tIns="0" rIns="0" bIns="0" rtlCol="0" anchor="ctr"/>
          <a:lstStyle/>
          <a:p>
            <a:pPr marL="0" indent="0" algn="ctr">
              <a:buNone/>
            </a:pPr>
            <a:r>
              <a:rPr lang="en-US" sz="1050" dirty="0">
                <a:solidFill>
                  <a:srgbClr val="C9D6DE"/>
                </a:solidFill>
                <a:latin typeface="Calibri" pitchFamily="34" charset="0"/>
                <a:ea typeface="Calibri" pitchFamily="34" charset="-122"/>
                <a:cs typeface="Calibri" pitchFamily="34" charset="-120"/>
              </a:rPr>
              <a:t>Bearing C-19</a:t>
            </a:r>
            <a:endParaRPr lang="en-US" sz="1050" dirty="0"/>
          </a:p>
        </p:txBody>
      </p:sp>
      <p:sp>
        <p:nvSpPr>
          <p:cNvPr id="22" name="Shape 20"/>
          <p:cNvSpPr/>
          <p:nvPr/>
        </p:nvSpPr>
        <p:spPr>
          <a:xfrm>
            <a:off x="914400" y="4846320"/>
            <a:ext cx="5943600" cy="0"/>
          </a:xfrm>
          <a:prstGeom prst="line">
            <a:avLst/>
          </a:prstGeom>
          <a:noFill/>
          <a:ln w="12700">
            <a:solidFill>
              <a:srgbClr val="2A5470"/>
            </a:solidFill>
            <a:prstDash val="solid"/>
          </a:ln>
        </p:spPr>
      </p:sp>
      <p:sp>
        <p:nvSpPr>
          <p:cNvPr id="23" name="Text 21"/>
          <p:cNvSpPr/>
          <p:nvPr/>
        </p:nvSpPr>
        <p:spPr>
          <a:xfrm>
            <a:off x="914400" y="4965192"/>
            <a:ext cx="3657600" cy="256032"/>
          </a:xfrm>
          <a:prstGeom prst="rect">
            <a:avLst/>
          </a:prstGeom>
          <a:noFill/>
          <a:ln/>
        </p:spPr>
        <p:txBody>
          <a:bodyPr wrap="square" lIns="0" tIns="0" rIns="0" bIns="0" rtlCol="0" anchor="ctr"/>
          <a:lstStyle/>
          <a:p>
            <a:pPr marL="0" indent="0">
              <a:buNone/>
            </a:pPr>
            <a:r>
              <a:rPr lang="en-US" sz="1000" b="1" kern="0" spc="120" dirty="0">
                <a:solidFill>
                  <a:srgbClr val="9FB2BE"/>
                </a:solidFill>
                <a:latin typeface="Calibri" pitchFamily="34" charset="0"/>
                <a:ea typeface="Calibri" pitchFamily="34" charset="-122"/>
                <a:cs typeface="Calibri" pitchFamily="34" charset="-120"/>
              </a:rPr>
              <a:t>VIBRATION TREND — LAST 24H</a:t>
            </a:r>
            <a:endParaRPr lang="en-US" sz="1000" dirty="0"/>
          </a:p>
        </p:txBody>
      </p:sp>
      <p:sp>
        <p:nvSpPr>
          <p:cNvPr id="24" name="Shape 22"/>
          <p:cNvSpPr/>
          <p:nvPr/>
        </p:nvSpPr>
        <p:spPr>
          <a:xfrm>
            <a:off x="914400" y="6263640"/>
            <a:ext cx="540327" cy="51206"/>
          </a:xfrm>
          <a:prstGeom prst="line">
            <a:avLst/>
          </a:prstGeom>
          <a:noFill/>
          <a:ln w="28575">
            <a:solidFill>
              <a:srgbClr val="F2A93B"/>
            </a:solidFill>
            <a:prstDash val="solid"/>
          </a:ln>
        </p:spPr>
      </p:sp>
      <p:sp>
        <p:nvSpPr>
          <p:cNvPr id="25" name="Shape 23"/>
          <p:cNvSpPr/>
          <p:nvPr/>
        </p:nvSpPr>
        <p:spPr>
          <a:xfrm flipV="1">
            <a:off x="1454727" y="6231636"/>
            <a:ext cx="540327" cy="83210"/>
          </a:xfrm>
          <a:prstGeom prst="line">
            <a:avLst/>
          </a:prstGeom>
          <a:noFill/>
          <a:ln w="28575">
            <a:solidFill>
              <a:srgbClr val="F2A93B"/>
            </a:solidFill>
            <a:prstDash val="solid"/>
          </a:ln>
        </p:spPr>
      </p:sp>
      <p:sp>
        <p:nvSpPr>
          <p:cNvPr id="26" name="Shape 24"/>
          <p:cNvSpPr/>
          <p:nvPr/>
        </p:nvSpPr>
        <p:spPr>
          <a:xfrm>
            <a:off x="1995055" y="6231636"/>
            <a:ext cx="540327" cy="44806"/>
          </a:xfrm>
          <a:prstGeom prst="line">
            <a:avLst/>
          </a:prstGeom>
          <a:noFill/>
          <a:ln w="28575">
            <a:solidFill>
              <a:srgbClr val="F2A93B"/>
            </a:solidFill>
            <a:prstDash val="solid"/>
          </a:ln>
        </p:spPr>
      </p:sp>
      <p:sp>
        <p:nvSpPr>
          <p:cNvPr id="27" name="Shape 25"/>
          <p:cNvSpPr/>
          <p:nvPr/>
        </p:nvSpPr>
        <p:spPr>
          <a:xfrm flipV="1">
            <a:off x="2535382" y="6186830"/>
            <a:ext cx="540327" cy="89611"/>
          </a:xfrm>
          <a:prstGeom prst="line">
            <a:avLst/>
          </a:prstGeom>
          <a:noFill/>
          <a:ln w="28575">
            <a:solidFill>
              <a:srgbClr val="F2A93B"/>
            </a:solidFill>
            <a:prstDash val="solid"/>
          </a:ln>
        </p:spPr>
      </p:sp>
      <p:sp>
        <p:nvSpPr>
          <p:cNvPr id="28" name="Shape 26"/>
          <p:cNvSpPr/>
          <p:nvPr/>
        </p:nvSpPr>
        <p:spPr>
          <a:xfrm flipV="1">
            <a:off x="3075709" y="6135624"/>
            <a:ext cx="540327" cy="51206"/>
          </a:xfrm>
          <a:prstGeom prst="line">
            <a:avLst/>
          </a:prstGeom>
          <a:noFill/>
          <a:ln w="28575">
            <a:solidFill>
              <a:srgbClr val="F2A93B"/>
            </a:solidFill>
            <a:prstDash val="solid"/>
          </a:ln>
        </p:spPr>
      </p:sp>
      <p:sp>
        <p:nvSpPr>
          <p:cNvPr id="29" name="Shape 27"/>
          <p:cNvSpPr/>
          <p:nvPr/>
        </p:nvSpPr>
        <p:spPr>
          <a:xfrm>
            <a:off x="3616036" y="6135624"/>
            <a:ext cx="540327" cy="25603"/>
          </a:xfrm>
          <a:prstGeom prst="line">
            <a:avLst/>
          </a:prstGeom>
          <a:noFill/>
          <a:ln w="28575">
            <a:solidFill>
              <a:srgbClr val="F2A93B"/>
            </a:solidFill>
            <a:prstDash val="solid"/>
          </a:ln>
        </p:spPr>
      </p:sp>
      <p:sp>
        <p:nvSpPr>
          <p:cNvPr id="30" name="Shape 28"/>
          <p:cNvSpPr/>
          <p:nvPr/>
        </p:nvSpPr>
        <p:spPr>
          <a:xfrm flipV="1">
            <a:off x="4156364" y="6071616"/>
            <a:ext cx="540327" cy="89611"/>
          </a:xfrm>
          <a:prstGeom prst="line">
            <a:avLst/>
          </a:prstGeom>
          <a:noFill/>
          <a:ln w="28575">
            <a:solidFill>
              <a:srgbClr val="F2A93B"/>
            </a:solidFill>
            <a:prstDash val="solid"/>
          </a:ln>
        </p:spPr>
      </p:sp>
      <p:sp>
        <p:nvSpPr>
          <p:cNvPr id="31" name="Shape 29"/>
          <p:cNvSpPr/>
          <p:nvPr/>
        </p:nvSpPr>
        <p:spPr>
          <a:xfrm flipV="1">
            <a:off x="4696691" y="6007608"/>
            <a:ext cx="540327" cy="64008"/>
          </a:xfrm>
          <a:prstGeom prst="line">
            <a:avLst/>
          </a:prstGeom>
          <a:noFill/>
          <a:ln w="28575">
            <a:solidFill>
              <a:srgbClr val="F2A93B"/>
            </a:solidFill>
            <a:prstDash val="solid"/>
          </a:ln>
        </p:spPr>
      </p:sp>
      <p:sp>
        <p:nvSpPr>
          <p:cNvPr id="32" name="Shape 30"/>
          <p:cNvSpPr/>
          <p:nvPr/>
        </p:nvSpPr>
        <p:spPr>
          <a:xfrm>
            <a:off x="5237018" y="6007608"/>
            <a:ext cx="540327" cy="96012"/>
          </a:xfrm>
          <a:prstGeom prst="line">
            <a:avLst/>
          </a:prstGeom>
          <a:noFill/>
          <a:ln w="28575">
            <a:solidFill>
              <a:srgbClr val="F2A93B"/>
            </a:solidFill>
            <a:prstDash val="solid"/>
          </a:ln>
        </p:spPr>
      </p:sp>
      <p:sp>
        <p:nvSpPr>
          <p:cNvPr id="33" name="Shape 31"/>
          <p:cNvSpPr/>
          <p:nvPr/>
        </p:nvSpPr>
        <p:spPr>
          <a:xfrm>
            <a:off x="5777345" y="6103620"/>
            <a:ext cx="540327" cy="44806"/>
          </a:xfrm>
          <a:prstGeom prst="line">
            <a:avLst/>
          </a:prstGeom>
          <a:noFill/>
          <a:ln w="28575">
            <a:solidFill>
              <a:srgbClr val="F2A93B"/>
            </a:solidFill>
            <a:prstDash val="solid"/>
          </a:ln>
        </p:spPr>
      </p:sp>
      <p:sp>
        <p:nvSpPr>
          <p:cNvPr id="34" name="Shape 32"/>
          <p:cNvSpPr/>
          <p:nvPr/>
        </p:nvSpPr>
        <p:spPr>
          <a:xfrm>
            <a:off x="6317673" y="6148426"/>
            <a:ext cx="540327" cy="51206"/>
          </a:xfrm>
          <a:prstGeom prst="line">
            <a:avLst/>
          </a:prstGeom>
          <a:noFill/>
          <a:ln w="28575">
            <a:solidFill>
              <a:srgbClr val="F2A93B"/>
            </a:solidFill>
            <a:prstDash val="solid"/>
          </a:ln>
        </p:spPr>
      </p:sp>
      <p:sp>
        <p:nvSpPr>
          <p:cNvPr id="35" name="Shape 33"/>
          <p:cNvSpPr/>
          <p:nvPr/>
        </p:nvSpPr>
        <p:spPr>
          <a:xfrm>
            <a:off x="7360920" y="1965960"/>
            <a:ext cx="4160520" cy="4114800"/>
          </a:xfrm>
          <a:prstGeom prst="roundRect">
            <a:avLst>
              <a:gd name="adj" fmla="val 1778"/>
            </a:avLst>
          </a:prstGeom>
          <a:solidFill>
            <a:srgbClr val="FFFFFF"/>
          </a:solidFill>
          <a:ln/>
          <a:effectLst>
            <a:outerShdw blurRad="101600" dist="38100" dir="5400000" algn="bl" rotWithShape="0">
              <a:srgbClr val="0F2A43">
                <a:alpha val="12000"/>
              </a:srgbClr>
            </a:outerShdw>
          </a:effectLst>
        </p:spPr>
      </p:sp>
      <p:sp>
        <p:nvSpPr>
          <p:cNvPr id="36" name="Text 34"/>
          <p:cNvSpPr/>
          <p:nvPr/>
        </p:nvSpPr>
        <p:spPr>
          <a:xfrm>
            <a:off x="7616952" y="2167128"/>
            <a:ext cx="3200400" cy="274320"/>
          </a:xfrm>
          <a:prstGeom prst="rect">
            <a:avLst/>
          </a:prstGeom>
          <a:noFill/>
          <a:ln/>
        </p:spPr>
        <p:txBody>
          <a:bodyPr wrap="square" lIns="0" tIns="0" rIns="0" bIns="0" rtlCol="0" anchor="ctr"/>
          <a:lstStyle/>
          <a:p>
            <a:pPr marL="0" indent="0">
              <a:buNone/>
            </a:pPr>
            <a:r>
              <a:rPr lang="en-US" sz="1100" b="1" kern="0" spc="120" dirty="0">
                <a:solidFill>
                  <a:srgbClr val="0A5F67"/>
                </a:solidFill>
                <a:latin typeface="Calibri" pitchFamily="34" charset="0"/>
                <a:ea typeface="Calibri" pitchFamily="34" charset="-122"/>
                <a:cs typeface="Calibri" pitchFamily="34" charset="-120"/>
              </a:rPr>
              <a:t>SMART ALERT FEED</a:t>
            </a:r>
            <a:endParaRPr lang="en-US" sz="1100" dirty="0"/>
          </a:p>
        </p:txBody>
      </p:sp>
      <p:sp>
        <p:nvSpPr>
          <p:cNvPr id="37" name="Shape 35"/>
          <p:cNvSpPr/>
          <p:nvPr/>
        </p:nvSpPr>
        <p:spPr>
          <a:xfrm>
            <a:off x="7635240" y="2679192"/>
            <a:ext cx="146304" cy="146304"/>
          </a:xfrm>
          <a:prstGeom prst="ellipse">
            <a:avLst/>
          </a:prstGeom>
          <a:solidFill>
            <a:srgbClr val="E85C5C"/>
          </a:solidFill>
          <a:ln/>
        </p:spPr>
      </p:sp>
      <p:sp>
        <p:nvSpPr>
          <p:cNvPr id="38" name="Text 36"/>
          <p:cNvSpPr/>
          <p:nvPr/>
        </p:nvSpPr>
        <p:spPr>
          <a:xfrm>
            <a:off x="7909560" y="2560320"/>
            <a:ext cx="3337560" cy="274320"/>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Bearing C-19</a:t>
            </a:r>
            <a:endParaRPr lang="en-US" sz="1250" dirty="0"/>
          </a:p>
        </p:txBody>
      </p:sp>
      <p:sp>
        <p:nvSpPr>
          <p:cNvPr id="39" name="Text 37"/>
          <p:cNvSpPr/>
          <p:nvPr/>
        </p:nvSpPr>
        <p:spPr>
          <a:xfrm>
            <a:off x="7909560" y="2862072"/>
            <a:ext cx="3337560" cy="365760"/>
          </a:xfrm>
          <a:prstGeom prst="rect">
            <a:avLst/>
          </a:prstGeom>
          <a:noFill/>
          <a:ln/>
        </p:spPr>
        <p:txBody>
          <a:bodyPr wrap="square" lIns="0" tIns="0" rIns="0" bIns="0" rtlCol="0" anchor="ctr"/>
          <a:lstStyle/>
          <a:p>
            <a:pPr marL="0" indent="0">
              <a:buNone/>
            </a:pPr>
            <a:r>
              <a:rPr lang="en-US" sz="1050" dirty="0">
                <a:solidFill>
                  <a:srgbClr val="5C6B78"/>
                </a:solidFill>
                <a:latin typeface="Calibri" pitchFamily="34" charset="0"/>
                <a:ea typeface="Calibri" pitchFamily="34" charset="-122"/>
                <a:cs typeface="Calibri" pitchFamily="34" charset="-120"/>
              </a:rPr>
              <a:t>Critical wear pattern — 92% confidence</a:t>
            </a:r>
            <a:endParaRPr lang="en-US" sz="1050" dirty="0"/>
          </a:p>
        </p:txBody>
      </p:sp>
      <p:sp>
        <p:nvSpPr>
          <p:cNvPr id="40" name="Shape 38"/>
          <p:cNvSpPr/>
          <p:nvPr/>
        </p:nvSpPr>
        <p:spPr>
          <a:xfrm>
            <a:off x="7616952" y="3447288"/>
            <a:ext cx="3648456" cy="0"/>
          </a:xfrm>
          <a:prstGeom prst="line">
            <a:avLst/>
          </a:prstGeom>
          <a:noFill/>
          <a:ln w="9525">
            <a:solidFill>
              <a:srgbClr val="D8E1E6"/>
            </a:solidFill>
            <a:prstDash val="solid"/>
          </a:ln>
        </p:spPr>
      </p:sp>
      <p:sp>
        <p:nvSpPr>
          <p:cNvPr id="41" name="Shape 39"/>
          <p:cNvSpPr/>
          <p:nvPr/>
        </p:nvSpPr>
        <p:spPr>
          <a:xfrm>
            <a:off x="7635240" y="3776472"/>
            <a:ext cx="146304" cy="146304"/>
          </a:xfrm>
          <a:prstGeom prst="ellipse">
            <a:avLst/>
          </a:prstGeom>
          <a:solidFill>
            <a:srgbClr val="F2A93B"/>
          </a:solidFill>
          <a:ln/>
        </p:spPr>
      </p:sp>
      <p:sp>
        <p:nvSpPr>
          <p:cNvPr id="42" name="Text 40"/>
          <p:cNvSpPr/>
          <p:nvPr/>
        </p:nvSpPr>
        <p:spPr>
          <a:xfrm>
            <a:off x="7909560" y="3657600"/>
            <a:ext cx="3337560" cy="274320"/>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Motor B-04</a:t>
            </a:r>
            <a:endParaRPr lang="en-US" sz="1250" dirty="0"/>
          </a:p>
        </p:txBody>
      </p:sp>
      <p:sp>
        <p:nvSpPr>
          <p:cNvPr id="43" name="Text 41"/>
          <p:cNvSpPr/>
          <p:nvPr/>
        </p:nvSpPr>
        <p:spPr>
          <a:xfrm>
            <a:off x="7909560" y="3959352"/>
            <a:ext cx="3337560" cy="365760"/>
          </a:xfrm>
          <a:prstGeom prst="rect">
            <a:avLst/>
          </a:prstGeom>
          <a:noFill/>
          <a:ln/>
        </p:spPr>
        <p:txBody>
          <a:bodyPr wrap="square" lIns="0" tIns="0" rIns="0" bIns="0" rtlCol="0" anchor="ctr"/>
          <a:lstStyle/>
          <a:p>
            <a:pPr marL="0" indent="0">
              <a:buNone/>
            </a:pPr>
            <a:r>
              <a:rPr lang="en-US" sz="1050" dirty="0">
                <a:solidFill>
                  <a:srgbClr val="5C6B78"/>
                </a:solidFill>
                <a:latin typeface="Calibri" pitchFamily="34" charset="0"/>
                <a:ea typeface="Calibri" pitchFamily="34" charset="-122"/>
                <a:cs typeface="Calibri" pitchFamily="34" charset="-120"/>
              </a:rPr>
              <a:t>Thermal drift detected — monitor closely</a:t>
            </a:r>
            <a:endParaRPr lang="en-US" sz="1050" dirty="0"/>
          </a:p>
        </p:txBody>
      </p:sp>
      <p:sp>
        <p:nvSpPr>
          <p:cNvPr id="44" name="Shape 42"/>
          <p:cNvSpPr/>
          <p:nvPr/>
        </p:nvSpPr>
        <p:spPr>
          <a:xfrm>
            <a:off x="7616952" y="4544568"/>
            <a:ext cx="3648456" cy="0"/>
          </a:xfrm>
          <a:prstGeom prst="line">
            <a:avLst/>
          </a:prstGeom>
          <a:noFill/>
          <a:ln w="9525">
            <a:solidFill>
              <a:srgbClr val="D8E1E6"/>
            </a:solidFill>
            <a:prstDash val="solid"/>
          </a:ln>
        </p:spPr>
      </p:sp>
      <p:sp>
        <p:nvSpPr>
          <p:cNvPr id="45" name="Shape 43"/>
          <p:cNvSpPr/>
          <p:nvPr/>
        </p:nvSpPr>
        <p:spPr>
          <a:xfrm>
            <a:off x="7635240" y="4873752"/>
            <a:ext cx="146304" cy="146304"/>
          </a:xfrm>
          <a:prstGeom prst="ellipse">
            <a:avLst/>
          </a:prstGeom>
          <a:solidFill>
            <a:srgbClr val="3FCE8E"/>
          </a:solidFill>
          <a:ln/>
        </p:spPr>
      </p:sp>
      <p:sp>
        <p:nvSpPr>
          <p:cNvPr id="46" name="Text 44"/>
          <p:cNvSpPr/>
          <p:nvPr/>
        </p:nvSpPr>
        <p:spPr>
          <a:xfrm>
            <a:off x="7909560" y="4754880"/>
            <a:ext cx="3337560" cy="274320"/>
          </a:xfrm>
          <a:prstGeom prst="rect">
            <a:avLst/>
          </a:prstGeom>
          <a:noFill/>
          <a:ln/>
        </p:spPr>
        <p:txBody>
          <a:bodyPr wrap="square" lIns="0" tIns="0" rIns="0" bIns="0" rtlCol="0" anchor="ctr"/>
          <a:lstStyle/>
          <a:p>
            <a:pPr marL="0" indent="0">
              <a:buNone/>
            </a:pPr>
            <a:r>
              <a:rPr lang="en-US" sz="1250" b="1" dirty="0">
                <a:solidFill>
                  <a:srgbClr val="16232E"/>
                </a:solidFill>
                <a:latin typeface="Cambria" pitchFamily="34" charset="0"/>
                <a:ea typeface="Cambria" pitchFamily="34" charset="-122"/>
                <a:cs typeface="Cambria" pitchFamily="34" charset="-120"/>
              </a:rPr>
              <a:t>Pump A-12</a:t>
            </a:r>
            <a:endParaRPr lang="en-US" sz="1250" dirty="0"/>
          </a:p>
        </p:txBody>
      </p:sp>
      <p:sp>
        <p:nvSpPr>
          <p:cNvPr id="47" name="Text 45"/>
          <p:cNvSpPr/>
          <p:nvPr/>
        </p:nvSpPr>
        <p:spPr>
          <a:xfrm>
            <a:off x="7909560" y="5056632"/>
            <a:ext cx="3337560" cy="365760"/>
          </a:xfrm>
          <a:prstGeom prst="rect">
            <a:avLst/>
          </a:prstGeom>
          <a:noFill/>
          <a:ln/>
        </p:spPr>
        <p:txBody>
          <a:bodyPr wrap="square" lIns="0" tIns="0" rIns="0" bIns="0" rtlCol="0" anchor="ctr"/>
          <a:lstStyle/>
          <a:p>
            <a:pPr marL="0" indent="0">
              <a:buNone/>
            </a:pPr>
            <a:r>
              <a:rPr lang="en-US" sz="1050" dirty="0">
                <a:solidFill>
                  <a:srgbClr val="5C6B78"/>
                </a:solidFill>
                <a:latin typeface="Calibri" pitchFamily="34" charset="0"/>
                <a:ea typeface="Calibri" pitchFamily="34" charset="-122"/>
                <a:cs typeface="Calibri" pitchFamily="34" charset="-120"/>
              </a:rPr>
              <a:t>Nominal — within healthy operating range</a:t>
            </a:r>
            <a:endParaRPr lang="en-US" sz="1050" dirty="0"/>
          </a:p>
        </p:txBody>
      </p:sp>
      <p:sp>
        <p:nvSpPr>
          <p:cNvPr id="48" name="Text 46"/>
          <p:cNvSpPr/>
          <p:nvPr/>
        </p:nvSpPr>
        <p:spPr>
          <a:xfrm>
            <a:off x="7616952" y="5623560"/>
            <a:ext cx="3648456" cy="320040"/>
          </a:xfrm>
          <a:prstGeom prst="rect">
            <a:avLst/>
          </a:prstGeom>
          <a:noFill/>
          <a:ln/>
        </p:spPr>
        <p:txBody>
          <a:bodyPr wrap="square" lIns="0" tIns="0" rIns="0" bIns="0" rtlCol="0" anchor="ctr"/>
          <a:lstStyle/>
          <a:p>
            <a:pPr marL="0" indent="0">
              <a:buNone/>
            </a:pPr>
            <a:r>
              <a:rPr lang="en-US" sz="1000" i="1" dirty="0">
                <a:solidFill>
                  <a:srgbClr val="5C6B78"/>
                </a:solidFill>
                <a:latin typeface="Calibri" pitchFamily="34" charset="0"/>
                <a:ea typeface="Calibri" pitchFamily="34" charset="-122"/>
                <a:cs typeface="Calibri" pitchFamily="34" charset="-120"/>
              </a:rPr>
              <a:t>Notification channels: Dashboard  ·  Email  ·  SMS  ·  Slack</a:t>
            </a:r>
            <a:endParaRPr lang="en-US" sz="1000" dirty="0"/>
          </a:p>
        </p:txBody>
      </p:sp>
      <p:sp>
        <p:nvSpPr>
          <p:cNvPr id="49" name="Text 4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50" name="Text 48"/>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VALUE DELIVERED</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Measurable ROI</a:t>
            </a:r>
            <a:endParaRPr lang="en-US" sz="3200" dirty="0"/>
          </a:p>
        </p:txBody>
      </p:sp>
      <p:sp>
        <p:nvSpPr>
          <p:cNvPr id="4" name="Text 2"/>
          <p:cNvSpPr/>
          <p:nvPr/>
        </p:nvSpPr>
        <p:spPr>
          <a:xfrm>
            <a:off x="640080" y="1298448"/>
            <a:ext cx="82296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Engineering capability translated into operational and financial outcomes.</a:t>
            </a:r>
            <a:endParaRPr lang="en-US" sz="1350" dirty="0"/>
          </a:p>
        </p:txBody>
      </p:sp>
      <p:graphicFrame>
        <p:nvGraphicFramePr>
          <p:cNvPr id="5" name="Chart 0"/>
          <p:cNvGraphicFramePr/>
          <p:nvPr/>
        </p:nvGraphicFramePr>
        <p:xfrm>
          <a:off x="640080" y="2011680"/>
          <a:ext cx="60350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49440" y="1965960"/>
            <a:ext cx="4617720" cy="960120"/>
          </a:xfrm>
          <a:prstGeom prst="roundRect">
            <a:avLst>
              <a:gd name="adj" fmla="val 7619"/>
            </a:avLst>
          </a:prstGeom>
          <a:solidFill>
            <a:srgbClr val="FFFFFF"/>
          </a:solidFill>
          <a:ln/>
          <a:effectLst>
            <a:outerShdw blurRad="101600" dist="38100" dir="5400000" algn="bl" rotWithShape="0">
              <a:srgbClr val="0F2A43">
                <a:alpha val="12000"/>
              </a:srgbClr>
            </a:outerShdw>
          </a:effectLst>
        </p:spPr>
      </p:sp>
      <p:sp>
        <p:nvSpPr>
          <p:cNvPr id="7" name="Shape 4"/>
          <p:cNvSpPr/>
          <p:nvPr/>
        </p:nvSpPr>
        <p:spPr>
          <a:xfrm>
            <a:off x="7150608" y="2171700"/>
            <a:ext cx="548640" cy="548640"/>
          </a:xfrm>
          <a:prstGeom prst="ellipse">
            <a:avLst/>
          </a:prstGeom>
          <a:solidFill>
            <a:srgbClr val="E7F3F3"/>
          </a:solidFill>
          <a:ln/>
        </p:spPr>
      </p:sp>
      <p:pic>
        <p:nvPicPr>
          <p:cNvPr id="8" name="Image 0" descr="preencoded.png"/>
          <p:cNvPicPr>
            <a:picLocks noChangeAspect="1"/>
          </p:cNvPicPr>
          <p:nvPr/>
        </p:nvPicPr>
        <p:blipFill>
          <a:blip r:embed="rId4"/>
          <a:stretch>
            <a:fillRect/>
          </a:stretch>
        </p:blipFill>
        <p:spPr>
          <a:xfrm>
            <a:off x="7293254" y="2314346"/>
            <a:ext cx="263347" cy="263347"/>
          </a:xfrm>
          <a:prstGeom prst="rect">
            <a:avLst/>
          </a:prstGeom>
        </p:spPr>
      </p:pic>
      <p:sp>
        <p:nvSpPr>
          <p:cNvPr id="9" name="Text 5"/>
          <p:cNvSpPr/>
          <p:nvPr/>
        </p:nvSpPr>
        <p:spPr>
          <a:xfrm>
            <a:off x="7863840" y="2039112"/>
            <a:ext cx="1188720" cy="813816"/>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-66%</a:t>
            </a:r>
            <a:endParaRPr lang="en-US" sz="2600" dirty="0"/>
          </a:p>
        </p:txBody>
      </p:sp>
      <p:sp>
        <p:nvSpPr>
          <p:cNvPr id="10" name="Text 6"/>
          <p:cNvSpPr/>
          <p:nvPr/>
        </p:nvSpPr>
        <p:spPr>
          <a:xfrm>
            <a:off x="9098280" y="1965960"/>
            <a:ext cx="2286000" cy="960120"/>
          </a:xfrm>
          <a:prstGeom prst="rect">
            <a:avLst/>
          </a:prstGeom>
          <a:noFill/>
          <a:ln/>
        </p:spPr>
        <p:txBody>
          <a:bodyPr wrap="square" lIns="0" tIns="0" rIns="0" bIns="0" rtlCol="0" anchor="ctr"/>
          <a:lstStyle/>
          <a:p>
            <a:pPr marL="0" indent="0">
              <a:buNone/>
            </a:pPr>
            <a:r>
              <a:rPr lang="en-US" sz="1150" dirty="0">
                <a:solidFill>
                  <a:srgbClr val="5C6B78"/>
                </a:solidFill>
                <a:latin typeface="Calibri" pitchFamily="34" charset="0"/>
                <a:ea typeface="Calibri" pitchFamily="34" charset="-122"/>
                <a:cs typeface="Calibri" pitchFamily="34" charset="-120"/>
              </a:rPr>
              <a:t>Reduction in unplanned downtime</a:t>
            </a:r>
            <a:endParaRPr lang="en-US" sz="1150" dirty="0"/>
          </a:p>
        </p:txBody>
      </p:sp>
      <p:sp>
        <p:nvSpPr>
          <p:cNvPr id="11" name="Shape 7"/>
          <p:cNvSpPr/>
          <p:nvPr/>
        </p:nvSpPr>
        <p:spPr>
          <a:xfrm>
            <a:off x="6949440" y="3090672"/>
            <a:ext cx="4617720" cy="960120"/>
          </a:xfrm>
          <a:prstGeom prst="roundRect">
            <a:avLst>
              <a:gd name="adj" fmla="val 7619"/>
            </a:avLst>
          </a:prstGeom>
          <a:solidFill>
            <a:srgbClr val="FFFFFF"/>
          </a:solidFill>
          <a:ln/>
          <a:effectLst>
            <a:outerShdw blurRad="101600" dist="38100" dir="5400000" algn="bl" rotWithShape="0">
              <a:srgbClr val="0F2A43">
                <a:alpha val="12000"/>
              </a:srgbClr>
            </a:outerShdw>
          </a:effectLst>
        </p:spPr>
      </p:sp>
      <p:sp>
        <p:nvSpPr>
          <p:cNvPr id="12" name="Shape 8"/>
          <p:cNvSpPr/>
          <p:nvPr/>
        </p:nvSpPr>
        <p:spPr>
          <a:xfrm>
            <a:off x="7150608" y="3296412"/>
            <a:ext cx="548640" cy="548640"/>
          </a:xfrm>
          <a:prstGeom prst="ellipse">
            <a:avLst/>
          </a:prstGeom>
          <a:solidFill>
            <a:srgbClr val="E7F3F3"/>
          </a:solidFill>
          <a:ln/>
        </p:spPr>
      </p:sp>
      <p:pic>
        <p:nvPicPr>
          <p:cNvPr id="13" name="Image 1" descr="preencoded.png"/>
          <p:cNvPicPr>
            <a:picLocks noChangeAspect="1"/>
          </p:cNvPicPr>
          <p:nvPr/>
        </p:nvPicPr>
        <p:blipFill>
          <a:blip r:embed="rId5"/>
          <a:stretch>
            <a:fillRect/>
          </a:stretch>
        </p:blipFill>
        <p:spPr>
          <a:xfrm>
            <a:off x="7293254" y="3439058"/>
            <a:ext cx="263347" cy="263347"/>
          </a:xfrm>
          <a:prstGeom prst="rect">
            <a:avLst/>
          </a:prstGeom>
        </p:spPr>
      </p:pic>
      <p:sp>
        <p:nvSpPr>
          <p:cNvPr id="14" name="Text 9"/>
          <p:cNvSpPr/>
          <p:nvPr/>
        </p:nvSpPr>
        <p:spPr>
          <a:xfrm>
            <a:off x="7863840" y="3163824"/>
            <a:ext cx="1188720" cy="813816"/>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-40%</a:t>
            </a:r>
            <a:endParaRPr lang="en-US" sz="2600" dirty="0"/>
          </a:p>
        </p:txBody>
      </p:sp>
      <p:sp>
        <p:nvSpPr>
          <p:cNvPr id="15" name="Text 10"/>
          <p:cNvSpPr/>
          <p:nvPr/>
        </p:nvSpPr>
        <p:spPr>
          <a:xfrm>
            <a:off x="9098280" y="3090672"/>
            <a:ext cx="2286000" cy="960120"/>
          </a:xfrm>
          <a:prstGeom prst="rect">
            <a:avLst/>
          </a:prstGeom>
          <a:noFill/>
          <a:ln/>
        </p:spPr>
        <p:txBody>
          <a:bodyPr wrap="square" lIns="0" tIns="0" rIns="0" bIns="0" rtlCol="0" anchor="ctr"/>
          <a:lstStyle/>
          <a:p>
            <a:pPr marL="0" indent="0">
              <a:buNone/>
            </a:pPr>
            <a:r>
              <a:rPr lang="en-US" sz="1150" dirty="0">
                <a:solidFill>
                  <a:srgbClr val="5C6B78"/>
                </a:solidFill>
                <a:latin typeface="Calibri" pitchFamily="34" charset="0"/>
                <a:ea typeface="Calibri" pitchFamily="34" charset="-122"/>
                <a:cs typeface="Calibri" pitchFamily="34" charset="-120"/>
              </a:rPr>
              <a:t>Lower unnecessary maintenance spend</a:t>
            </a:r>
            <a:endParaRPr lang="en-US" sz="1150" dirty="0"/>
          </a:p>
        </p:txBody>
      </p:sp>
      <p:sp>
        <p:nvSpPr>
          <p:cNvPr id="16" name="Shape 11"/>
          <p:cNvSpPr/>
          <p:nvPr/>
        </p:nvSpPr>
        <p:spPr>
          <a:xfrm>
            <a:off x="6949440" y="4215384"/>
            <a:ext cx="4617720" cy="960120"/>
          </a:xfrm>
          <a:prstGeom prst="roundRect">
            <a:avLst>
              <a:gd name="adj" fmla="val 7619"/>
            </a:avLst>
          </a:prstGeom>
          <a:solidFill>
            <a:srgbClr val="FFFFFF"/>
          </a:solidFill>
          <a:ln/>
          <a:effectLst>
            <a:outerShdw blurRad="101600" dist="38100" dir="5400000" algn="bl" rotWithShape="0">
              <a:srgbClr val="0F2A43">
                <a:alpha val="12000"/>
              </a:srgbClr>
            </a:outerShdw>
          </a:effectLst>
        </p:spPr>
      </p:sp>
      <p:sp>
        <p:nvSpPr>
          <p:cNvPr id="17" name="Shape 12"/>
          <p:cNvSpPr/>
          <p:nvPr/>
        </p:nvSpPr>
        <p:spPr>
          <a:xfrm>
            <a:off x="7150608" y="4421124"/>
            <a:ext cx="548640" cy="548640"/>
          </a:xfrm>
          <a:prstGeom prst="ellipse">
            <a:avLst/>
          </a:prstGeom>
          <a:solidFill>
            <a:srgbClr val="E7F3F3"/>
          </a:solidFill>
          <a:ln/>
        </p:spPr>
      </p:sp>
      <p:pic>
        <p:nvPicPr>
          <p:cNvPr id="18" name="Image 2" descr="preencoded.png"/>
          <p:cNvPicPr>
            <a:picLocks noChangeAspect="1"/>
          </p:cNvPicPr>
          <p:nvPr/>
        </p:nvPicPr>
        <p:blipFill>
          <a:blip r:embed="rId6"/>
          <a:stretch>
            <a:fillRect/>
          </a:stretch>
        </p:blipFill>
        <p:spPr>
          <a:xfrm>
            <a:off x="7293254" y="4563770"/>
            <a:ext cx="263347" cy="263347"/>
          </a:xfrm>
          <a:prstGeom prst="rect">
            <a:avLst/>
          </a:prstGeom>
        </p:spPr>
      </p:pic>
      <p:sp>
        <p:nvSpPr>
          <p:cNvPr id="19" name="Text 13"/>
          <p:cNvSpPr/>
          <p:nvPr/>
        </p:nvSpPr>
        <p:spPr>
          <a:xfrm>
            <a:off x="7863840" y="4288536"/>
            <a:ext cx="1188720" cy="813816"/>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+25%</a:t>
            </a:r>
            <a:endParaRPr lang="en-US" sz="2600" dirty="0"/>
          </a:p>
        </p:txBody>
      </p:sp>
      <p:sp>
        <p:nvSpPr>
          <p:cNvPr id="20" name="Text 14"/>
          <p:cNvSpPr/>
          <p:nvPr/>
        </p:nvSpPr>
        <p:spPr>
          <a:xfrm>
            <a:off x="9098280" y="4215384"/>
            <a:ext cx="2286000" cy="960120"/>
          </a:xfrm>
          <a:prstGeom prst="rect">
            <a:avLst/>
          </a:prstGeom>
          <a:noFill/>
          <a:ln/>
        </p:spPr>
        <p:txBody>
          <a:bodyPr wrap="square" lIns="0" tIns="0" rIns="0" bIns="0" rtlCol="0" anchor="ctr"/>
          <a:lstStyle/>
          <a:p>
            <a:pPr marL="0" indent="0">
              <a:buNone/>
            </a:pPr>
            <a:r>
              <a:rPr lang="en-US" sz="1150" dirty="0">
                <a:solidFill>
                  <a:srgbClr val="5C6B78"/>
                </a:solidFill>
                <a:latin typeface="Calibri" pitchFamily="34" charset="0"/>
                <a:ea typeface="Calibri" pitchFamily="34" charset="-122"/>
                <a:cs typeface="Calibri" pitchFamily="34" charset="-120"/>
              </a:rPr>
              <a:t>Extended average equipment lifespan</a:t>
            </a:r>
            <a:endParaRPr lang="en-US" sz="1150" dirty="0"/>
          </a:p>
        </p:txBody>
      </p:sp>
      <p:sp>
        <p:nvSpPr>
          <p:cNvPr id="21" name="Shape 15"/>
          <p:cNvSpPr/>
          <p:nvPr/>
        </p:nvSpPr>
        <p:spPr>
          <a:xfrm>
            <a:off x="6949440" y="5340096"/>
            <a:ext cx="4617720" cy="960120"/>
          </a:xfrm>
          <a:prstGeom prst="roundRect">
            <a:avLst>
              <a:gd name="adj" fmla="val 7619"/>
            </a:avLst>
          </a:prstGeom>
          <a:solidFill>
            <a:srgbClr val="FFFFFF"/>
          </a:solidFill>
          <a:ln/>
          <a:effectLst>
            <a:outerShdw blurRad="101600" dist="38100" dir="5400000" algn="bl" rotWithShape="0">
              <a:srgbClr val="0F2A43">
                <a:alpha val="12000"/>
              </a:srgbClr>
            </a:outerShdw>
          </a:effectLst>
        </p:spPr>
      </p:sp>
      <p:sp>
        <p:nvSpPr>
          <p:cNvPr id="22" name="Shape 16"/>
          <p:cNvSpPr/>
          <p:nvPr/>
        </p:nvSpPr>
        <p:spPr>
          <a:xfrm>
            <a:off x="7150608" y="5545836"/>
            <a:ext cx="548640" cy="548640"/>
          </a:xfrm>
          <a:prstGeom prst="ellipse">
            <a:avLst/>
          </a:prstGeom>
          <a:solidFill>
            <a:srgbClr val="E7F3F3"/>
          </a:solidFill>
          <a:ln/>
        </p:spPr>
      </p:sp>
      <p:pic>
        <p:nvPicPr>
          <p:cNvPr id="23" name="Image 3" descr="preencoded.png"/>
          <p:cNvPicPr>
            <a:picLocks noChangeAspect="1"/>
          </p:cNvPicPr>
          <p:nvPr/>
        </p:nvPicPr>
        <p:blipFill>
          <a:blip r:embed="rId7"/>
          <a:stretch>
            <a:fillRect/>
          </a:stretch>
        </p:blipFill>
        <p:spPr>
          <a:xfrm>
            <a:off x="7293254" y="5688482"/>
            <a:ext cx="263347" cy="263347"/>
          </a:xfrm>
          <a:prstGeom prst="rect">
            <a:avLst/>
          </a:prstGeom>
        </p:spPr>
      </p:pic>
      <p:sp>
        <p:nvSpPr>
          <p:cNvPr id="24" name="Text 17"/>
          <p:cNvSpPr/>
          <p:nvPr/>
        </p:nvSpPr>
        <p:spPr>
          <a:xfrm>
            <a:off x="7863840" y="5413248"/>
            <a:ext cx="1188720" cy="813816"/>
          </a:xfrm>
          <a:prstGeom prst="rect">
            <a:avLst/>
          </a:prstGeom>
          <a:noFill/>
          <a:ln/>
        </p:spPr>
        <p:txBody>
          <a:bodyPr wrap="square" lIns="0" tIns="0" rIns="0" bIns="0" rtlCol="0" anchor="ctr"/>
          <a:lstStyle/>
          <a:p>
            <a:pPr marL="0" indent="0">
              <a:buNone/>
            </a:pPr>
            <a:r>
              <a:rPr lang="en-US" sz="2600" b="1" dirty="0">
                <a:solidFill>
                  <a:srgbClr val="0F2A43"/>
                </a:solidFill>
                <a:latin typeface="Cambria" pitchFamily="34" charset="0"/>
                <a:ea typeface="Cambria" pitchFamily="34" charset="-122"/>
                <a:cs typeface="Cambria" pitchFamily="34" charset="-120"/>
              </a:rPr>
              <a:t>0</a:t>
            </a:r>
            <a:endParaRPr lang="en-US" sz="2600" dirty="0"/>
          </a:p>
        </p:txBody>
      </p:sp>
      <p:sp>
        <p:nvSpPr>
          <p:cNvPr id="25" name="Text 18"/>
          <p:cNvSpPr/>
          <p:nvPr/>
        </p:nvSpPr>
        <p:spPr>
          <a:xfrm>
            <a:off x="9098280" y="5340096"/>
            <a:ext cx="2286000" cy="960120"/>
          </a:xfrm>
          <a:prstGeom prst="rect">
            <a:avLst/>
          </a:prstGeom>
          <a:noFill/>
          <a:ln/>
        </p:spPr>
        <p:txBody>
          <a:bodyPr wrap="square" lIns="0" tIns="0" rIns="0" bIns="0" rtlCol="0" anchor="ctr"/>
          <a:lstStyle/>
          <a:p>
            <a:pPr marL="0" indent="0">
              <a:buNone/>
            </a:pPr>
            <a:r>
              <a:rPr lang="en-US" sz="1150" dirty="0">
                <a:solidFill>
                  <a:srgbClr val="5C6B78"/>
                </a:solidFill>
                <a:latin typeface="Calibri" pitchFamily="34" charset="0"/>
                <a:ea typeface="Calibri" pitchFamily="34" charset="-122"/>
                <a:cs typeface="Calibri" pitchFamily="34" charset="-120"/>
              </a:rPr>
              <a:t>Catastrophic failures since deployment</a:t>
            </a:r>
            <a:endParaRPr lang="en-US" sz="1150" dirty="0"/>
          </a:p>
        </p:txBody>
      </p:sp>
      <p:sp>
        <p:nvSpPr>
          <p:cNvPr id="26" name="Text 19"/>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27" name="Text 2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0A5F67"/>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3200" b="1" dirty="0">
                <a:solidFill>
                  <a:srgbClr val="16232E"/>
                </a:solidFill>
                <a:latin typeface="Cambria" pitchFamily="34" charset="0"/>
                <a:ea typeface="Cambria" pitchFamily="34" charset="-122"/>
                <a:cs typeface="Cambria" pitchFamily="34" charset="-120"/>
              </a:rPr>
              <a:t>Scaling the Intelligence</a:t>
            </a:r>
            <a:endParaRPr lang="en-US" sz="3200" dirty="0"/>
          </a:p>
        </p:txBody>
      </p:sp>
      <p:sp>
        <p:nvSpPr>
          <p:cNvPr id="4" name="Text 2"/>
          <p:cNvSpPr/>
          <p:nvPr/>
        </p:nvSpPr>
        <p:spPr>
          <a:xfrm>
            <a:off x="640080" y="1298448"/>
            <a:ext cx="8229600" cy="365760"/>
          </a:xfrm>
          <a:prstGeom prst="rect">
            <a:avLst/>
          </a:prstGeom>
          <a:noFill/>
          <a:ln/>
        </p:spPr>
        <p:txBody>
          <a:bodyPr wrap="square" lIns="0" tIns="0" rIns="0" bIns="0" rtlCol="0" anchor="ctr"/>
          <a:lstStyle/>
          <a:p>
            <a:pPr marL="0" indent="0">
              <a:buNone/>
            </a:pPr>
            <a:r>
              <a:rPr lang="en-US" sz="1350" dirty="0">
                <a:solidFill>
                  <a:srgbClr val="5C6B78"/>
                </a:solidFill>
                <a:latin typeface="Calibri" pitchFamily="34" charset="0"/>
                <a:ea typeface="Calibri" pitchFamily="34" charset="-122"/>
                <a:cs typeface="Calibri" pitchFamily="34" charset="-120"/>
              </a:rPr>
              <a:t>From plant-level prediction to enterprise-wide, prescriptive intelligence.</a:t>
            </a:r>
            <a:endParaRPr lang="en-US" sz="1350" dirty="0"/>
          </a:p>
        </p:txBody>
      </p:sp>
      <p:sp>
        <p:nvSpPr>
          <p:cNvPr id="5" name="Shape 3"/>
          <p:cNvSpPr/>
          <p:nvPr/>
        </p:nvSpPr>
        <p:spPr>
          <a:xfrm>
            <a:off x="1005840" y="2743200"/>
            <a:ext cx="10149840" cy="0"/>
          </a:xfrm>
          <a:prstGeom prst="line">
            <a:avLst/>
          </a:prstGeom>
          <a:noFill/>
          <a:ln w="25400">
            <a:solidFill>
              <a:srgbClr val="D8E1E6"/>
            </a:solidFill>
            <a:prstDash val="solid"/>
          </a:ln>
        </p:spPr>
      </p:sp>
      <p:sp>
        <p:nvSpPr>
          <p:cNvPr id="6" name="Shape 4"/>
          <p:cNvSpPr/>
          <p:nvPr/>
        </p:nvSpPr>
        <p:spPr>
          <a:xfrm>
            <a:off x="2173986" y="2642616"/>
            <a:ext cx="201168" cy="201168"/>
          </a:xfrm>
          <a:prstGeom prst="ellipse">
            <a:avLst/>
          </a:prstGeom>
          <a:solidFill>
            <a:srgbClr val="F2A93B"/>
          </a:solidFill>
          <a:ln/>
        </p:spPr>
      </p:sp>
      <p:sp>
        <p:nvSpPr>
          <p:cNvPr id="7" name="Shape 5"/>
          <p:cNvSpPr/>
          <p:nvPr/>
        </p:nvSpPr>
        <p:spPr>
          <a:xfrm flipV="1">
            <a:off x="2274570" y="2743199"/>
            <a:ext cx="0" cy="480053"/>
          </a:xfrm>
          <a:prstGeom prst="line">
            <a:avLst/>
          </a:prstGeom>
          <a:noFill/>
          <a:ln w="15875">
            <a:solidFill>
              <a:srgbClr val="D8E1E6"/>
            </a:solidFill>
            <a:prstDash val="dash"/>
          </a:ln>
        </p:spPr>
      </p:sp>
      <p:sp>
        <p:nvSpPr>
          <p:cNvPr id="8" name="Shape 6"/>
          <p:cNvSpPr/>
          <p:nvPr/>
        </p:nvSpPr>
        <p:spPr>
          <a:xfrm>
            <a:off x="1008126" y="3177540"/>
            <a:ext cx="233172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9" name="Text 7"/>
          <p:cNvSpPr/>
          <p:nvPr/>
        </p:nvSpPr>
        <p:spPr>
          <a:xfrm>
            <a:off x="1181862" y="3326410"/>
            <a:ext cx="2002536" cy="228600"/>
          </a:xfrm>
          <a:prstGeom prst="rect">
            <a:avLst/>
          </a:prstGeom>
          <a:noFill/>
          <a:ln/>
        </p:spPr>
        <p:txBody>
          <a:bodyPr wrap="square" lIns="0" tIns="0" rIns="0" bIns="0" rtlCol="0" anchor="ctr"/>
          <a:lstStyle/>
          <a:p>
            <a:pPr marL="0" indent="0">
              <a:buNone/>
            </a:pPr>
            <a:r>
              <a:rPr lang="en-US" sz="950" b="1" kern="0" spc="100" dirty="0">
                <a:solidFill>
                  <a:srgbClr val="C9861F"/>
                </a:solidFill>
                <a:latin typeface="Calibri" pitchFamily="34" charset="0"/>
                <a:ea typeface="Calibri" pitchFamily="34" charset="-122"/>
                <a:cs typeface="Calibri" pitchFamily="34" charset="-120"/>
              </a:rPr>
              <a:t>PHASE 1</a:t>
            </a:r>
            <a:endParaRPr lang="en-US" sz="950" dirty="0"/>
          </a:p>
        </p:txBody>
      </p:sp>
      <p:sp>
        <p:nvSpPr>
          <p:cNvPr id="10" name="Shape 8"/>
          <p:cNvSpPr/>
          <p:nvPr/>
        </p:nvSpPr>
        <p:spPr>
          <a:xfrm>
            <a:off x="1201446" y="3535071"/>
            <a:ext cx="365760" cy="365760"/>
          </a:xfrm>
          <a:prstGeom prst="ellipse">
            <a:avLst/>
          </a:prstGeom>
          <a:solidFill>
            <a:srgbClr val="E7F3F3"/>
          </a:solidFill>
          <a:ln/>
        </p:spPr>
      </p:sp>
      <p:pic>
        <p:nvPicPr>
          <p:cNvPr id="11" name="Image 0" descr="preencoded.png"/>
          <p:cNvPicPr>
            <a:picLocks noChangeAspect="1"/>
          </p:cNvPicPr>
          <p:nvPr/>
        </p:nvPicPr>
        <p:blipFill>
          <a:blip r:embed="rId3"/>
          <a:stretch>
            <a:fillRect/>
          </a:stretch>
        </p:blipFill>
        <p:spPr>
          <a:xfrm>
            <a:off x="1303782" y="3623487"/>
            <a:ext cx="175565" cy="175565"/>
          </a:xfrm>
          <a:prstGeom prst="rect">
            <a:avLst/>
          </a:prstGeom>
        </p:spPr>
      </p:pic>
      <p:sp>
        <p:nvSpPr>
          <p:cNvPr id="12" name="Text 9"/>
          <p:cNvSpPr/>
          <p:nvPr/>
        </p:nvSpPr>
        <p:spPr>
          <a:xfrm>
            <a:off x="1655064" y="3630168"/>
            <a:ext cx="1545336" cy="457200"/>
          </a:xfrm>
          <a:prstGeom prst="rect">
            <a:avLst/>
          </a:prstGeom>
          <a:noFill/>
          <a:ln/>
        </p:spPr>
        <p:txBody>
          <a:bodyPr wrap="square" lIns="0" tIns="0" rIns="0" bIns="0" rtlCol="0" anchor="t"/>
          <a:lstStyle/>
          <a:p>
            <a:pPr marL="0" indent="0">
              <a:buNone/>
            </a:pPr>
            <a:r>
              <a:rPr lang="en-US" sz="1200" b="1" dirty="0">
                <a:solidFill>
                  <a:srgbClr val="16232E"/>
                </a:solidFill>
                <a:latin typeface="Cambria" pitchFamily="34" charset="0"/>
                <a:ea typeface="Cambria" pitchFamily="34" charset="-122"/>
                <a:cs typeface="Cambria" pitchFamily="34" charset="-120"/>
              </a:rPr>
              <a:t>Federated Learning</a:t>
            </a:r>
            <a:endParaRPr lang="en-US" sz="1200" dirty="0"/>
          </a:p>
        </p:txBody>
      </p:sp>
      <p:sp>
        <p:nvSpPr>
          <p:cNvPr id="13" name="Text 10"/>
          <p:cNvSpPr/>
          <p:nvPr/>
        </p:nvSpPr>
        <p:spPr>
          <a:xfrm>
            <a:off x="1206556" y="4009643"/>
            <a:ext cx="2002536" cy="512064"/>
          </a:xfrm>
          <a:prstGeom prst="rect">
            <a:avLst/>
          </a:prstGeom>
          <a:noFill/>
          <a:ln/>
        </p:spPr>
        <p:txBody>
          <a:bodyPr wrap="square" lIns="0" tIns="0" rIns="0" bIns="0" rtlCol="0" anchor="t"/>
          <a:lstStyle/>
          <a:p>
            <a:pPr marL="0" indent="0">
              <a:buNone/>
            </a:pPr>
            <a:r>
              <a:rPr lang="en-US" sz="950" dirty="0">
                <a:solidFill>
                  <a:srgbClr val="5C6B78"/>
                </a:solidFill>
                <a:latin typeface="Calibri" pitchFamily="34" charset="0"/>
                <a:ea typeface="Calibri" pitchFamily="34" charset="-122"/>
                <a:cs typeface="Calibri" pitchFamily="34" charset="-120"/>
              </a:rPr>
              <a:t>Improve models across facilities without centralizing raw data</a:t>
            </a:r>
            <a:endParaRPr lang="en-US" sz="950" dirty="0"/>
          </a:p>
        </p:txBody>
      </p:sp>
      <p:sp>
        <p:nvSpPr>
          <p:cNvPr id="14" name="Shape 11"/>
          <p:cNvSpPr/>
          <p:nvPr/>
        </p:nvSpPr>
        <p:spPr>
          <a:xfrm>
            <a:off x="4711446" y="2642616"/>
            <a:ext cx="201168" cy="201168"/>
          </a:xfrm>
          <a:prstGeom prst="ellipse">
            <a:avLst/>
          </a:prstGeom>
          <a:solidFill>
            <a:srgbClr val="F2A93B"/>
          </a:solidFill>
          <a:ln/>
        </p:spPr>
      </p:sp>
      <p:sp>
        <p:nvSpPr>
          <p:cNvPr id="15" name="Shape 12"/>
          <p:cNvSpPr/>
          <p:nvPr/>
        </p:nvSpPr>
        <p:spPr>
          <a:xfrm>
            <a:off x="4812030" y="2843784"/>
            <a:ext cx="0" cy="219456"/>
          </a:xfrm>
          <a:prstGeom prst="line">
            <a:avLst/>
          </a:prstGeom>
          <a:noFill/>
          <a:ln w="15875">
            <a:solidFill>
              <a:srgbClr val="D8E1E6"/>
            </a:solidFill>
            <a:prstDash val="dash"/>
          </a:ln>
        </p:spPr>
      </p:sp>
      <p:sp>
        <p:nvSpPr>
          <p:cNvPr id="16" name="Shape 13"/>
          <p:cNvSpPr/>
          <p:nvPr/>
        </p:nvSpPr>
        <p:spPr>
          <a:xfrm>
            <a:off x="3646170" y="3063240"/>
            <a:ext cx="233172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17" name="Text 14"/>
          <p:cNvSpPr/>
          <p:nvPr/>
        </p:nvSpPr>
        <p:spPr>
          <a:xfrm>
            <a:off x="3810762" y="3172968"/>
            <a:ext cx="2002536" cy="228600"/>
          </a:xfrm>
          <a:prstGeom prst="rect">
            <a:avLst/>
          </a:prstGeom>
          <a:noFill/>
          <a:ln/>
        </p:spPr>
        <p:txBody>
          <a:bodyPr wrap="square" lIns="0" tIns="0" rIns="0" bIns="0" rtlCol="0" anchor="ctr"/>
          <a:lstStyle/>
          <a:p>
            <a:pPr marL="0" indent="0">
              <a:buNone/>
            </a:pPr>
            <a:r>
              <a:rPr lang="en-US" sz="950" b="1" kern="0" spc="100" dirty="0">
                <a:solidFill>
                  <a:srgbClr val="C9861F"/>
                </a:solidFill>
                <a:latin typeface="Calibri" pitchFamily="34" charset="0"/>
                <a:ea typeface="Calibri" pitchFamily="34" charset="-122"/>
                <a:cs typeface="Calibri" pitchFamily="34" charset="-120"/>
              </a:rPr>
              <a:t>PHASE 2</a:t>
            </a:r>
            <a:endParaRPr lang="en-US" sz="950" dirty="0"/>
          </a:p>
        </p:txBody>
      </p:sp>
      <p:sp>
        <p:nvSpPr>
          <p:cNvPr id="18" name="Shape 15"/>
          <p:cNvSpPr/>
          <p:nvPr/>
        </p:nvSpPr>
        <p:spPr>
          <a:xfrm>
            <a:off x="3810762" y="3447288"/>
            <a:ext cx="365760" cy="365760"/>
          </a:xfrm>
          <a:prstGeom prst="ellipse">
            <a:avLst/>
          </a:prstGeom>
          <a:solidFill>
            <a:srgbClr val="E7F3F3"/>
          </a:solidFill>
          <a:ln/>
        </p:spPr>
      </p:sp>
      <p:pic>
        <p:nvPicPr>
          <p:cNvPr id="19" name="Image 1" descr="preencoded.png"/>
          <p:cNvPicPr>
            <a:picLocks noChangeAspect="1"/>
          </p:cNvPicPr>
          <p:nvPr/>
        </p:nvPicPr>
        <p:blipFill>
          <a:blip r:embed="rId4"/>
          <a:stretch>
            <a:fillRect/>
          </a:stretch>
        </p:blipFill>
        <p:spPr>
          <a:xfrm>
            <a:off x="3905860" y="3542386"/>
            <a:ext cx="175565" cy="175565"/>
          </a:xfrm>
          <a:prstGeom prst="rect">
            <a:avLst/>
          </a:prstGeom>
        </p:spPr>
      </p:pic>
      <p:sp>
        <p:nvSpPr>
          <p:cNvPr id="20" name="Text 16"/>
          <p:cNvSpPr/>
          <p:nvPr/>
        </p:nvSpPr>
        <p:spPr>
          <a:xfrm>
            <a:off x="4267962" y="3429000"/>
            <a:ext cx="1545336" cy="457200"/>
          </a:xfrm>
          <a:prstGeom prst="rect">
            <a:avLst/>
          </a:prstGeom>
          <a:noFill/>
          <a:ln/>
        </p:spPr>
        <p:txBody>
          <a:bodyPr wrap="square" lIns="0" tIns="0" rIns="0" bIns="0" rtlCol="0" anchor="t"/>
          <a:lstStyle/>
          <a:p>
            <a:pPr marL="0" indent="0">
              <a:buNone/>
            </a:pPr>
            <a:r>
              <a:rPr lang="en-US" sz="1200" b="1" dirty="0">
                <a:solidFill>
                  <a:srgbClr val="16232E"/>
                </a:solidFill>
                <a:latin typeface="Cambria" pitchFamily="34" charset="0"/>
                <a:ea typeface="Cambria" pitchFamily="34" charset="-122"/>
                <a:cs typeface="Cambria" pitchFamily="34" charset="-120"/>
              </a:rPr>
              <a:t>Digital Twin Integration</a:t>
            </a:r>
            <a:endParaRPr lang="en-US" sz="1200" dirty="0"/>
          </a:p>
        </p:txBody>
      </p:sp>
      <p:sp>
        <p:nvSpPr>
          <p:cNvPr id="21" name="Text 17"/>
          <p:cNvSpPr/>
          <p:nvPr/>
        </p:nvSpPr>
        <p:spPr>
          <a:xfrm>
            <a:off x="3810762" y="3931920"/>
            <a:ext cx="2002536" cy="512064"/>
          </a:xfrm>
          <a:prstGeom prst="rect">
            <a:avLst/>
          </a:prstGeom>
          <a:noFill/>
          <a:ln/>
        </p:spPr>
        <p:txBody>
          <a:bodyPr wrap="square" lIns="0" tIns="0" rIns="0" bIns="0" rtlCol="0" anchor="t"/>
          <a:lstStyle/>
          <a:p>
            <a:pPr marL="0" indent="0">
              <a:buNone/>
            </a:pPr>
            <a:r>
              <a:rPr lang="en-US" sz="950" dirty="0">
                <a:solidFill>
                  <a:srgbClr val="5C6B78"/>
                </a:solidFill>
                <a:latin typeface="Calibri" pitchFamily="34" charset="0"/>
                <a:ea typeface="Calibri" pitchFamily="34" charset="-122"/>
                <a:cs typeface="Calibri" pitchFamily="34" charset="-120"/>
              </a:rPr>
              <a:t>Simulate failure scenarios before they occur in production</a:t>
            </a:r>
            <a:endParaRPr lang="en-US" sz="950" dirty="0"/>
          </a:p>
        </p:txBody>
      </p:sp>
      <p:sp>
        <p:nvSpPr>
          <p:cNvPr id="22" name="Shape 18"/>
          <p:cNvSpPr/>
          <p:nvPr/>
        </p:nvSpPr>
        <p:spPr>
          <a:xfrm>
            <a:off x="7248906" y="2642616"/>
            <a:ext cx="201168" cy="201168"/>
          </a:xfrm>
          <a:prstGeom prst="ellipse">
            <a:avLst/>
          </a:prstGeom>
          <a:solidFill>
            <a:srgbClr val="F2A93B"/>
          </a:solidFill>
          <a:ln/>
        </p:spPr>
      </p:sp>
      <p:sp>
        <p:nvSpPr>
          <p:cNvPr id="23" name="Shape 19"/>
          <p:cNvSpPr/>
          <p:nvPr/>
        </p:nvSpPr>
        <p:spPr>
          <a:xfrm>
            <a:off x="7349490" y="2423160"/>
            <a:ext cx="0" cy="320040"/>
          </a:xfrm>
          <a:prstGeom prst="line">
            <a:avLst/>
          </a:prstGeom>
          <a:noFill/>
          <a:ln w="15875">
            <a:solidFill>
              <a:srgbClr val="D8E1E6"/>
            </a:solidFill>
            <a:prstDash val="dash"/>
          </a:ln>
        </p:spPr>
      </p:sp>
      <p:sp>
        <p:nvSpPr>
          <p:cNvPr id="24" name="Shape 20"/>
          <p:cNvSpPr/>
          <p:nvPr/>
        </p:nvSpPr>
        <p:spPr>
          <a:xfrm>
            <a:off x="6183630" y="1005840"/>
            <a:ext cx="233172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25" name="Text 21"/>
          <p:cNvSpPr/>
          <p:nvPr/>
        </p:nvSpPr>
        <p:spPr>
          <a:xfrm>
            <a:off x="6348222" y="1115568"/>
            <a:ext cx="2002536" cy="228600"/>
          </a:xfrm>
          <a:prstGeom prst="rect">
            <a:avLst/>
          </a:prstGeom>
          <a:noFill/>
          <a:ln/>
        </p:spPr>
        <p:txBody>
          <a:bodyPr wrap="square" lIns="0" tIns="0" rIns="0" bIns="0" rtlCol="0" anchor="ctr"/>
          <a:lstStyle/>
          <a:p>
            <a:pPr marL="0" indent="0">
              <a:buNone/>
            </a:pPr>
            <a:r>
              <a:rPr lang="en-US" sz="950" b="1" kern="0" spc="100" dirty="0">
                <a:solidFill>
                  <a:srgbClr val="C9861F"/>
                </a:solidFill>
                <a:latin typeface="Calibri" pitchFamily="34" charset="0"/>
                <a:ea typeface="Calibri" pitchFamily="34" charset="-122"/>
                <a:cs typeface="Calibri" pitchFamily="34" charset="-120"/>
              </a:rPr>
              <a:t>PHASE 3</a:t>
            </a:r>
            <a:endParaRPr lang="en-US" sz="950" dirty="0"/>
          </a:p>
        </p:txBody>
      </p:sp>
      <p:sp>
        <p:nvSpPr>
          <p:cNvPr id="26" name="Shape 22"/>
          <p:cNvSpPr/>
          <p:nvPr/>
        </p:nvSpPr>
        <p:spPr>
          <a:xfrm>
            <a:off x="6348222" y="1389888"/>
            <a:ext cx="365760" cy="365760"/>
          </a:xfrm>
          <a:prstGeom prst="ellipse">
            <a:avLst/>
          </a:prstGeom>
          <a:solidFill>
            <a:srgbClr val="E7F3F3"/>
          </a:solidFill>
          <a:ln/>
        </p:spPr>
      </p:sp>
      <p:pic>
        <p:nvPicPr>
          <p:cNvPr id="27" name="Image 2" descr="preencoded.png"/>
          <p:cNvPicPr>
            <a:picLocks noChangeAspect="1"/>
          </p:cNvPicPr>
          <p:nvPr/>
        </p:nvPicPr>
        <p:blipFill>
          <a:blip r:embed="rId5"/>
          <a:stretch>
            <a:fillRect/>
          </a:stretch>
        </p:blipFill>
        <p:spPr>
          <a:xfrm>
            <a:off x="6443320" y="1484986"/>
            <a:ext cx="175565" cy="175565"/>
          </a:xfrm>
          <a:prstGeom prst="rect">
            <a:avLst/>
          </a:prstGeom>
        </p:spPr>
      </p:pic>
      <p:sp>
        <p:nvSpPr>
          <p:cNvPr id="28" name="Text 23"/>
          <p:cNvSpPr/>
          <p:nvPr/>
        </p:nvSpPr>
        <p:spPr>
          <a:xfrm>
            <a:off x="6805422" y="1371600"/>
            <a:ext cx="1545336" cy="457200"/>
          </a:xfrm>
          <a:prstGeom prst="rect">
            <a:avLst/>
          </a:prstGeom>
          <a:noFill/>
          <a:ln/>
        </p:spPr>
        <p:txBody>
          <a:bodyPr wrap="square" lIns="0" tIns="0" rIns="0" bIns="0" rtlCol="0" anchor="t"/>
          <a:lstStyle/>
          <a:p>
            <a:pPr marL="0" indent="0">
              <a:buNone/>
            </a:pPr>
            <a:r>
              <a:rPr lang="en-US" sz="1200" b="1" dirty="0">
                <a:solidFill>
                  <a:srgbClr val="16232E"/>
                </a:solidFill>
                <a:latin typeface="Cambria" pitchFamily="34" charset="0"/>
                <a:ea typeface="Cambria" pitchFamily="34" charset="-122"/>
                <a:cs typeface="Cambria" pitchFamily="34" charset="-120"/>
              </a:rPr>
              <a:t>Edge AI Deployment</a:t>
            </a:r>
            <a:endParaRPr lang="en-US" sz="1200" dirty="0"/>
          </a:p>
        </p:txBody>
      </p:sp>
      <p:sp>
        <p:nvSpPr>
          <p:cNvPr id="29" name="Text 24"/>
          <p:cNvSpPr/>
          <p:nvPr/>
        </p:nvSpPr>
        <p:spPr>
          <a:xfrm>
            <a:off x="6348222" y="1874520"/>
            <a:ext cx="2002536" cy="512064"/>
          </a:xfrm>
          <a:prstGeom prst="rect">
            <a:avLst/>
          </a:prstGeom>
          <a:noFill/>
          <a:ln/>
        </p:spPr>
        <p:txBody>
          <a:bodyPr wrap="square" lIns="0" tIns="0" rIns="0" bIns="0" rtlCol="0" anchor="t"/>
          <a:lstStyle/>
          <a:p>
            <a:pPr marL="0" indent="0">
              <a:buNone/>
            </a:pPr>
            <a:r>
              <a:rPr lang="en-US" sz="950" dirty="0">
                <a:solidFill>
                  <a:srgbClr val="5C6B78"/>
                </a:solidFill>
                <a:latin typeface="Calibri" pitchFamily="34" charset="0"/>
                <a:ea typeface="Calibri" pitchFamily="34" charset="-122"/>
                <a:cs typeface="Calibri" pitchFamily="34" charset="-120"/>
              </a:rPr>
              <a:t>Low-latency, offline inference resilient to connectivity gaps</a:t>
            </a:r>
            <a:endParaRPr lang="en-US" sz="950" dirty="0"/>
          </a:p>
        </p:txBody>
      </p:sp>
      <p:sp>
        <p:nvSpPr>
          <p:cNvPr id="30" name="Shape 25"/>
          <p:cNvSpPr/>
          <p:nvPr/>
        </p:nvSpPr>
        <p:spPr>
          <a:xfrm>
            <a:off x="9786366" y="2642616"/>
            <a:ext cx="201168" cy="201168"/>
          </a:xfrm>
          <a:prstGeom prst="ellipse">
            <a:avLst/>
          </a:prstGeom>
          <a:solidFill>
            <a:srgbClr val="F2A93B"/>
          </a:solidFill>
          <a:ln/>
        </p:spPr>
      </p:sp>
      <p:sp>
        <p:nvSpPr>
          <p:cNvPr id="31" name="Shape 26"/>
          <p:cNvSpPr/>
          <p:nvPr/>
        </p:nvSpPr>
        <p:spPr>
          <a:xfrm>
            <a:off x="9886950" y="2843784"/>
            <a:ext cx="0" cy="219456"/>
          </a:xfrm>
          <a:prstGeom prst="line">
            <a:avLst/>
          </a:prstGeom>
          <a:noFill/>
          <a:ln w="15875">
            <a:solidFill>
              <a:srgbClr val="D8E1E6"/>
            </a:solidFill>
            <a:prstDash val="dash"/>
          </a:ln>
        </p:spPr>
      </p:sp>
      <p:sp>
        <p:nvSpPr>
          <p:cNvPr id="32" name="Shape 27"/>
          <p:cNvSpPr/>
          <p:nvPr/>
        </p:nvSpPr>
        <p:spPr>
          <a:xfrm>
            <a:off x="8721090" y="3063240"/>
            <a:ext cx="2331720" cy="1417320"/>
          </a:xfrm>
          <a:prstGeom prst="roundRect">
            <a:avLst>
              <a:gd name="adj" fmla="val 5161"/>
            </a:avLst>
          </a:prstGeom>
          <a:solidFill>
            <a:srgbClr val="FFFFFF"/>
          </a:solidFill>
          <a:ln/>
          <a:effectLst>
            <a:outerShdw blurRad="101600" dist="38100" dir="5400000" algn="bl" rotWithShape="0">
              <a:srgbClr val="0F2A43">
                <a:alpha val="12000"/>
              </a:srgbClr>
            </a:outerShdw>
          </a:effectLst>
        </p:spPr>
      </p:sp>
      <p:sp>
        <p:nvSpPr>
          <p:cNvPr id="33" name="Text 28"/>
          <p:cNvSpPr/>
          <p:nvPr/>
        </p:nvSpPr>
        <p:spPr>
          <a:xfrm>
            <a:off x="8885682" y="3172968"/>
            <a:ext cx="2002536" cy="228600"/>
          </a:xfrm>
          <a:prstGeom prst="rect">
            <a:avLst/>
          </a:prstGeom>
          <a:noFill/>
          <a:ln/>
        </p:spPr>
        <p:txBody>
          <a:bodyPr wrap="square" lIns="0" tIns="0" rIns="0" bIns="0" rtlCol="0" anchor="ctr"/>
          <a:lstStyle/>
          <a:p>
            <a:pPr marL="0" indent="0">
              <a:buNone/>
            </a:pPr>
            <a:r>
              <a:rPr lang="en-US" sz="950" b="1" kern="0" spc="100" dirty="0">
                <a:solidFill>
                  <a:srgbClr val="C9861F"/>
                </a:solidFill>
                <a:latin typeface="Calibri" pitchFamily="34" charset="0"/>
                <a:ea typeface="Calibri" pitchFamily="34" charset="-122"/>
                <a:cs typeface="Calibri" pitchFamily="34" charset="-120"/>
              </a:rPr>
              <a:t>PHASE 4</a:t>
            </a:r>
            <a:endParaRPr lang="en-US" sz="950" dirty="0"/>
          </a:p>
        </p:txBody>
      </p:sp>
      <p:sp>
        <p:nvSpPr>
          <p:cNvPr id="34" name="Shape 29"/>
          <p:cNvSpPr/>
          <p:nvPr/>
        </p:nvSpPr>
        <p:spPr>
          <a:xfrm>
            <a:off x="8885682" y="3447288"/>
            <a:ext cx="365760" cy="365760"/>
          </a:xfrm>
          <a:prstGeom prst="ellipse">
            <a:avLst/>
          </a:prstGeom>
          <a:solidFill>
            <a:srgbClr val="E7F3F3"/>
          </a:solidFill>
          <a:ln/>
        </p:spPr>
      </p:sp>
      <p:pic>
        <p:nvPicPr>
          <p:cNvPr id="35" name="Image 3" descr="preencoded.png"/>
          <p:cNvPicPr>
            <a:picLocks noChangeAspect="1"/>
          </p:cNvPicPr>
          <p:nvPr/>
        </p:nvPicPr>
        <p:blipFill>
          <a:blip r:embed="rId6"/>
          <a:stretch>
            <a:fillRect/>
          </a:stretch>
        </p:blipFill>
        <p:spPr>
          <a:xfrm>
            <a:off x="8980780" y="3542386"/>
            <a:ext cx="175565" cy="175565"/>
          </a:xfrm>
          <a:prstGeom prst="rect">
            <a:avLst/>
          </a:prstGeom>
        </p:spPr>
      </p:pic>
      <p:sp>
        <p:nvSpPr>
          <p:cNvPr id="36" name="Text 30"/>
          <p:cNvSpPr/>
          <p:nvPr/>
        </p:nvSpPr>
        <p:spPr>
          <a:xfrm>
            <a:off x="9342882" y="3429000"/>
            <a:ext cx="1545336" cy="457200"/>
          </a:xfrm>
          <a:prstGeom prst="rect">
            <a:avLst/>
          </a:prstGeom>
          <a:noFill/>
          <a:ln/>
        </p:spPr>
        <p:txBody>
          <a:bodyPr wrap="square" lIns="0" tIns="0" rIns="0" bIns="0" rtlCol="0" anchor="t"/>
          <a:lstStyle/>
          <a:p>
            <a:pPr marL="0" indent="0">
              <a:buNone/>
            </a:pPr>
            <a:r>
              <a:rPr lang="en-US" sz="1200" b="1" dirty="0">
                <a:solidFill>
                  <a:srgbClr val="16232E"/>
                </a:solidFill>
                <a:latin typeface="Cambria" pitchFamily="34" charset="0"/>
                <a:ea typeface="Cambria" pitchFamily="34" charset="-122"/>
                <a:cs typeface="Cambria" pitchFamily="34" charset="-120"/>
              </a:rPr>
              <a:t>Prescriptive Maintenance</a:t>
            </a:r>
            <a:endParaRPr lang="en-US" sz="1200" dirty="0"/>
          </a:p>
        </p:txBody>
      </p:sp>
      <p:sp>
        <p:nvSpPr>
          <p:cNvPr id="37" name="Text 31"/>
          <p:cNvSpPr/>
          <p:nvPr/>
        </p:nvSpPr>
        <p:spPr>
          <a:xfrm>
            <a:off x="8885682" y="3931920"/>
            <a:ext cx="2002536" cy="512064"/>
          </a:xfrm>
          <a:prstGeom prst="rect">
            <a:avLst/>
          </a:prstGeom>
          <a:noFill/>
          <a:ln/>
        </p:spPr>
        <p:txBody>
          <a:bodyPr wrap="square" lIns="0" tIns="0" rIns="0" bIns="0" rtlCol="0" anchor="t"/>
          <a:lstStyle/>
          <a:p>
            <a:pPr marL="0" indent="0">
              <a:buNone/>
            </a:pPr>
            <a:r>
              <a:rPr lang="en-US" sz="950" dirty="0">
                <a:solidFill>
                  <a:srgbClr val="5C6B78"/>
                </a:solidFill>
                <a:latin typeface="Calibri" pitchFamily="34" charset="0"/>
                <a:ea typeface="Calibri" pitchFamily="34" charset="-122"/>
                <a:cs typeface="Calibri" pitchFamily="34" charset="-120"/>
              </a:rPr>
              <a:t>Move from prediction to automated corrective recommendations</a:t>
            </a:r>
            <a:endParaRPr lang="en-US" sz="950" dirty="0"/>
          </a:p>
        </p:txBody>
      </p:sp>
      <p:sp>
        <p:nvSpPr>
          <p:cNvPr id="38" name="Text 32"/>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39" name="Text 33"/>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3"/>
        </a:solidFill>
        <a:effectLst/>
      </p:bgPr>
    </p:bg>
    <p:spTree>
      <p:nvGrpSpPr>
        <p:cNvPr id="1" name=""/>
        <p:cNvGrpSpPr/>
        <p:nvPr/>
      </p:nvGrpSpPr>
      <p:grpSpPr>
        <a:xfrm>
          <a:off x="0" y="0"/>
          <a:ext cx="0" cy="0"/>
          <a:chOff x="0" y="0"/>
          <a:chExt cx="0" cy="0"/>
        </a:xfrm>
      </p:grpSpPr>
      <p:sp>
        <p:nvSpPr>
          <p:cNvPr id="2" name="Text 0"/>
          <p:cNvSpPr/>
          <p:nvPr/>
        </p:nvSpPr>
        <p:spPr>
          <a:xfrm>
            <a:off x="731520" y="685800"/>
            <a:ext cx="7315200" cy="320040"/>
          </a:xfrm>
          <a:prstGeom prst="rect">
            <a:avLst/>
          </a:prstGeom>
          <a:noFill/>
          <a:ln/>
        </p:spPr>
        <p:txBody>
          <a:bodyPr wrap="square" lIns="0" tIns="0" rIns="0" bIns="0" rtlCol="0" anchor="ctr"/>
          <a:lstStyle/>
          <a:p>
            <a:pPr marL="0" indent="0">
              <a:buNone/>
            </a:pPr>
            <a:r>
              <a:rPr lang="en-US" sz="1300" b="1" kern="0" spc="200" dirty="0">
                <a:solidFill>
                  <a:srgbClr val="0E7C86"/>
                </a:solidFill>
                <a:latin typeface="Calibri" pitchFamily="34" charset="0"/>
                <a:ea typeface="Calibri" pitchFamily="34" charset="-122"/>
                <a:cs typeface="Calibri" pitchFamily="34" charset="-120"/>
              </a:rPr>
              <a:t>TURNING DATA INTO UPTIME</a:t>
            </a:r>
            <a:endParaRPr lang="en-US" sz="1300" dirty="0"/>
          </a:p>
        </p:txBody>
      </p:sp>
      <p:sp>
        <p:nvSpPr>
          <p:cNvPr id="3" name="Text 1"/>
          <p:cNvSpPr/>
          <p:nvPr/>
        </p:nvSpPr>
        <p:spPr>
          <a:xfrm>
            <a:off x="713232" y="1051560"/>
            <a:ext cx="100584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Scalable Foundation for Industrial AI</a:t>
            </a:r>
            <a:endParaRPr lang="en-US" sz="3200" dirty="0"/>
          </a:p>
        </p:txBody>
      </p:sp>
      <p:sp>
        <p:nvSpPr>
          <p:cNvPr id="4" name="Shape 2"/>
          <p:cNvSpPr/>
          <p:nvPr/>
        </p:nvSpPr>
        <p:spPr>
          <a:xfrm>
            <a:off x="731520" y="2258568"/>
            <a:ext cx="457200" cy="457200"/>
          </a:xfrm>
          <a:prstGeom prst="ellipse">
            <a:avLst/>
          </a:prstGeom>
          <a:solidFill>
            <a:srgbClr val="1F4863"/>
          </a:solidFill>
          <a:ln/>
        </p:spPr>
      </p:sp>
      <p:pic>
        <p:nvPicPr>
          <p:cNvPr id="5" name="Image 0" descr="preencoded.png"/>
          <p:cNvPicPr>
            <a:picLocks noChangeAspect="1"/>
          </p:cNvPicPr>
          <p:nvPr/>
        </p:nvPicPr>
        <p:blipFill>
          <a:blip r:embed="rId3"/>
          <a:stretch>
            <a:fillRect/>
          </a:stretch>
        </p:blipFill>
        <p:spPr>
          <a:xfrm>
            <a:off x="850392" y="2377440"/>
            <a:ext cx="219456" cy="219456"/>
          </a:xfrm>
          <a:prstGeom prst="rect">
            <a:avLst/>
          </a:prstGeom>
        </p:spPr>
      </p:pic>
      <p:sp>
        <p:nvSpPr>
          <p:cNvPr id="6" name="Text 3"/>
          <p:cNvSpPr/>
          <p:nvPr/>
        </p:nvSpPr>
        <p:spPr>
          <a:xfrm>
            <a:off x="1353312" y="2148840"/>
            <a:ext cx="4498848"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Proactive by Design</a:t>
            </a:r>
            <a:endParaRPr lang="en-US" sz="1450" dirty="0"/>
          </a:p>
        </p:txBody>
      </p:sp>
      <p:sp>
        <p:nvSpPr>
          <p:cNvPr id="7" name="Text 4"/>
          <p:cNvSpPr/>
          <p:nvPr/>
        </p:nvSpPr>
        <p:spPr>
          <a:xfrm>
            <a:off x="1353312" y="2478024"/>
            <a:ext cx="4498848" cy="594360"/>
          </a:xfrm>
          <a:prstGeom prst="rect">
            <a:avLst/>
          </a:prstGeom>
          <a:noFill/>
          <a:ln/>
        </p:spPr>
        <p:txBody>
          <a:bodyPr wrap="square" lIns="0" tIns="0" rIns="0" bIns="0" rtlCol="0" anchor="t"/>
          <a:lstStyle/>
          <a:p>
            <a:pPr marL="0" indent="0">
              <a:buNone/>
            </a:pPr>
            <a:r>
              <a:rPr lang="en-US" sz="1100" dirty="0">
                <a:solidFill>
                  <a:srgbClr val="AEC2CE"/>
                </a:solidFill>
                <a:latin typeface="Calibri" pitchFamily="34" charset="0"/>
                <a:ea typeface="Calibri" pitchFamily="34" charset="-122"/>
                <a:cs typeface="Calibri" pitchFamily="34" charset="-120"/>
              </a:rPr>
              <a:t>Transforms reactive operations into a predictive, proactive strategy</a:t>
            </a:r>
            <a:endParaRPr lang="en-US" sz="1100" dirty="0"/>
          </a:p>
        </p:txBody>
      </p:sp>
      <p:sp>
        <p:nvSpPr>
          <p:cNvPr id="8" name="Shape 5"/>
          <p:cNvSpPr/>
          <p:nvPr/>
        </p:nvSpPr>
        <p:spPr>
          <a:xfrm>
            <a:off x="6172200" y="2258568"/>
            <a:ext cx="457200" cy="457200"/>
          </a:xfrm>
          <a:prstGeom prst="ellipse">
            <a:avLst/>
          </a:prstGeom>
          <a:solidFill>
            <a:srgbClr val="1F4863"/>
          </a:solidFill>
          <a:ln/>
        </p:spPr>
      </p:sp>
      <p:pic>
        <p:nvPicPr>
          <p:cNvPr id="9" name="Image 1" descr="preencoded.png"/>
          <p:cNvPicPr>
            <a:picLocks noChangeAspect="1"/>
          </p:cNvPicPr>
          <p:nvPr/>
        </p:nvPicPr>
        <p:blipFill>
          <a:blip r:embed="rId3"/>
          <a:stretch>
            <a:fillRect/>
          </a:stretch>
        </p:blipFill>
        <p:spPr>
          <a:xfrm>
            <a:off x="6291072" y="2377440"/>
            <a:ext cx="219456" cy="219456"/>
          </a:xfrm>
          <a:prstGeom prst="rect">
            <a:avLst/>
          </a:prstGeom>
        </p:spPr>
      </p:pic>
      <p:sp>
        <p:nvSpPr>
          <p:cNvPr id="10" name="Text 6"/>
          <p:cNvSpPr/>
          <p:nvPr/>
        </p:nvSpPr>
        <p:spPr>
          <a:xfrm>
            <a:off x="6793992" y="2148840"/>
            <a:ext cx="4498848"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Engineered End-to-End</a:t>
            </a:r>
            <a:endParaRPr lang="en-US" sz="1450" dirty="0"/>
          </a:p>
        </p:txBody>
      </p:sp>
      <p:sp>
        <p:nvSpPr>
          <p:cNvPr id="11" name="Text 7"/>
          <p:cNvSpPr/>
          <p:nvPr/>
        </p:nvSpPr>
        <p:spPr>
          <a:xfrm>
            <a:off x="6793992" y="2478024"/>
            <a:ext cx="4498848" cy="594360"/>
          </a:xfrm>
          <a:prstGeom prst="rect">
            <a:avLst/>
          </a:prstGeom>
          <a:noFill/>
          <a:ln/>
        </p:spPr>
        <p:txBody>
          <a:bodyPr wrap="square" lIns="0" tIns="0" rIns="0" bIns="0" rtlCol="0" anchor="t"/>
          <a:lstStyle/>
          <a:p>
            <a:pPr marL="0" indent="0">
              <a:buNone/>
            </a:pPr>
            <a:r>
              <a:rPr lang="en-US" sz="1100" dirty="0">
                <a:solidFill>
                  <a:srgbClr val="AEC2CE"/>
                </a:solidFill>
                <a:latin typeface="Calibri" pitchFamily="34" charset="0"/>
                <a:ea typeface="Calibri" pitchFamily="34" charset="-122"/>
                <a:cs typeface="Calibri" pitchFamily="34" charset="-120"/>
              </a:rPr>
              <a:t>Robust architecture, ML pipeline, and real-time alerting in one system</a:t>
            </a:r>
            <a:endParaRPr lang="en-US" sz="1100" dirty="0"/>
          </a:p>
        </p:txBody>
      </p:sp>
      <p:sp>
        <p:nvSpPr>
          <p:cNvPr id="12" name="Shape 8"/>
          <p:cNvSpPr/>
          <p:nvPr/>
        </p:nvSpPr>
        <p:spPr>
          <a:xfrm>
            <a:off x="731520" y="3419856"/>
            <a:ext cx="457200" cy="457200"/>
          </a:xfrm>
          <a:prstGeom prst="ellipse">
            <a:avLst/>
          </a:prstGeom>
          <a:solidFill>
            <a:srgbClr val="1F4863"/>
          </a:solidFill>
          <a:ln/>
        </p:spPr>
      </p:sp>
      <p:pic>
        <p:nvPicPr>
          <p:cNvPr id="13" name="Image 2" descr="preencoded.png"/>
          <p:cNvPicPr>
            <a:picLocks noChangeAspect="1"/>
          </p:cNvPicPr>
          <p:nvPr/>
        </p:nvPicPr>
        <p:blipFill>
          <a:blip r:embed="rId3"/>
          <a:stretch>
            <a:fillRect/>
          </a:stretch>
        </p:blipFill>
        <p:spPr>
          <a:xfrm>
            <a:off x="850392" y="3538728"/>
            <a:ext cx="219456" cy="219456"/>
          </a:xfrm>
          <a:prstGeom prst="rect">
            <a:avLst/>
          </a:prstGeom>
        </p:spPr>
      </p:pic>
      <p:sp>
        <p:nvSpPr>
          <p:cNvPr id="14" name="Text 9"/>
          <p:cNvSpPr/>
          <p:nvPr/>
        </p:nvSpPr>
        <p:spPr>
          <a:xfrm>
            <a:off x="1353312" y="3310128"/>
            <a:ext cx="4498848"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Measurable Impact</a:t>
            </a:r>
            <a:endParaRPr lang="en-US" sz="1450" dirty="0"/>
          </a:p>
        </p:txBody>
      </p:sp>
      <p:sp>
        <p:nvSpPr>
          <p:cNvPr id="15" name="Text 10"/>
          <p:cNvSpPr/>
          <p:nvPr/>
        </p:nvSpPr>
        <p:spPr>
          <a:xfrm>
            <a:off x="1353312" y="3639312"/>
            <a:ext cx="4498848" cy="594360"/>
          </a:xfrm>
          <a:prstGeom prst="rect">
            <a:avLst/>
          </a:prstGeom>
          <a:noFill/>
          <a:ln/>
        </p:spPr>
        <p:txBody>
          <a:bodyPr wrap="square" lIns="0" tIns="0" rIns="0" bIns="0" rtlCol="0" anchor="t"/>
          <a:lstStyle/>
          <a:p>
            <a:pPr marL="0" indent="0">
              <a:buNone/>
            </a:pPr>
            <a:r>
              <a:rPr lang="en-US" sz="1100" dirty="0">
                <a:solidFill>
                  <a:srgbClr val="AEC2CE"/>
                </a:solidFill>
                <a:latin typeface="Calibri" pitchFamily="34" charset="0"/>
                <a:ea typeface="Calibri" pitchFamily="34" charset="-122"/>
                <a:cs typeface="Calibri" pitchFamily="34" charset="-120"/>
              </a:rPr>
              <a:t>Delivers quantified gains in cost, safety, and operational efficiency</a:t>
            </a:r>
            <a:endParaRPr lang="en-US" sz="1100" dirty="0"/>
          </a:p>
        </p:txBody>
      </p:sp>
      <p:sp>
        <p:nvSpPr>
          <p:cNvPr id="16" name="Shape 11"/>
          <p:cNvSpPr/>
          <p:nvPr/>
        </p:nvSpPr>
        <p:spPr>
          <a:xfrm>
            <a:off x="6172200" y="3419856"/>
            <a:ext cx="457200" cy="457200"/>
          </a:xfrm>
          <a:prstGeom prst="ellipse">
            <a:avLst/>
          </a:prstGeom>
          <a:solidFill>
            <a:srgbClr val="1F4863"/>
          </a:solidFill>
          <a:ln/>
        </p:spPr>
      </p:sp>
      <p:pic>
        <p:nvPicPr>
          <p:cNvPr id="17" name="Image 3" descr="preencoded.png"/>
          <p:cNvPicPr>
            <a:picLocks noChangeAspect="1"/>
          </p:cNvPicPr>
          <p:nvPr/>
        </p:nvPicPr>
        <p:blipFill>
          <a:blip r:embed="rId3"/>
          <a:stretch>
            <a:fillRect/>
          </a:stretch>
        </p:blipFill>
        <p:spPr>
          <a:xfrm>
            <a:off x="6291072" y="3538728"/>
            <a:ext cx="219456" cy="219456"/>
          </a:xfrm>
          <a:prstGeom prst="rect">
            <a:avLst/>
          </a:prstGeom>
        </p:spPr>
      </p:pic>
      <p:sp>
        <p:nvSpPr>
          <p:cNvPr id="18" name="Text 12"/>
          <p:cNvSpPr/>
          <p:nvPr/>
        </p:nvSpPr>
        <p:spPr>
          <a:xfrm>
            <a:off x="6793992" y="3310128"/>
            <a:ext cx="4498848"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Built to Scale</a:t>
            </a:r>
            <a:endParaRPr lang="en-US" sz="1450" dirty="0"/>
          </a:p>
        </p:txBody>
      </p:sp>
      <p:sp>
        <p:nvSpPr>
          <p:cNvPr id="19" name="Text 13"/>
          <p:cNvSpPr/>
          <p:nvPr/>
        </p:nvSpPr>
        <p:spPr>
          <a:xfrm>
            <a:off x="6793992" y="3639312"/>
            <a:ext cx="4498848" cy="594360"/>
          </a:xfrm>
          <a:prstGeom prst="rect">
            <a:avLst/>
          </a:prstGeom>
          <a:noFill/>
          <a:ln/>
        </p:spPr>
        <p:txBody>
          <a:bodyPr wrap="square" lIns="0" tIns="0" rIns="0" bIns="0" rtlCol="0" anchor="t"/>
          <a:lstStyle/>
          <a:p>
            <a:pPr marL="0" indent="0">
              <a:buNone/>
            </a:pPr>
            <a:r>
              <a:rPr lang="en-US" sz="1100" dirty="0">
                <a:solidFill>
                  <a:srgbClr val="AEC2CE"/>
                </a:solidFill>
                <a:latin typeface="Calibri" pitchFamily="34" charset="0"/>
                <a:ea typeface="Calibri" pitchFamily="34" charset="-122"/>
                <a:cs typeface="Calibri" pitchFamily="34" charset="-120"/>
              </a:rPr>
              <a:t>A foundation for federated learning, digital twins, and edge AI</a:t>
            </a:r>
            <a:endParaRPr lang="en-US" sz="1100" dirty="0"/>
          </a:p>
        </p:txBody>
      </p:sp>
      <p:sp>
        <p:nvSpPr>
          <p:cNvPr id="20" name="Shape 14"/>
          <p:cNvSpPr/>
          <p:nvPr/>
        </p:nvSpPr>
        <p:spPr>
          <a:xfrm>
            <a:off x="731520" y="4663440"/>
            <a:ext cx="10698480" cy="0"/>
          </a:xfrm>
          <a:prstGeom prst="line">
            <a:avLst/>
          </a:prstGeom>
          <a:noFill/>
          <a:ln w="12700">
            <a:solidFill>
              <a:srgbClr val="24506E"/>
            </a:solidFill>
            <a:prstDash val="solid"/>
          </a:ln>
        </p:spPr>
      </p:sp>
      <p:sp>
        <p:nvSpPr>
          <p:cNvPr id="21" name="Text 15"/>
          <p:cNvSpPr/>
          <p:nvPr/>
        </p:nvSpPr>
        <p:spPr>
          <a:xfrm>
            <a:off x="731520" y="4892040"/>
            <a:ext cx="5486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2" name="Text 16"/>
          <p:cNvSpPr/>
          <p:nvPr/>
        </p:nvSpPr>
        <p:spPr>
          <a:xfrm>
            <a:off x="731520" y="5440680"/>
            <a:ext cx="7315200" cy="365760"/>
          </a:xfrm>
          <a:prstGeom prst="rect">
            <a:avLst/>
          </a:prstGeom>
          <a:noFill/>
          <a:ln/>
        </p:spPr>
        <p:txBody>
          <a:bodyPr wrap="square" lIns="0" tIns="0" rIns="0" bIns="0" rtlCol="0" anchor="ctr"/>
          <a:lstStyle/>
          <a:p>
            <a:pPr marL="0" indent="0">
              <a:buNone/>
            </a:pPr>
            <a:r>
              <a:rPr lang="en-US" sz="1300" i="1" dirty="0">
                <a:solidFill>
                  <a:srgbClr val="9FB2BE"/>
                </a:solidFill>
                <a:latin typeface="Calibri" pitchFamily="34" charset="0"/>
                <a:ea typeface="Calibri" pitchFamily="34" charset="-122"/>
                <a:cs typeface="Calibri" pitchFamily="34" charset="-120"/>
              </a:rPr>
              <a:t>Questions &amp; Discussion  ·  Architecture Deep-Dive Available on Request</a:t>
            </a:r>
            <a:endParaRPr lang="en-US" sz="1300" dirty="0"/>
          </a:p>
        </p:txBody>
      </p:sp>
      <p:sp>
        <p:nvSpPr>
          <p:cNvPr id="23" name="Text 17"/>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C6B78"/>
                </a:solidFill>
                <a:latin typeface="Calibri" pitchFamily="34" charset="0"/>
                <a:ea typeface="Calibri" pitchFamily="34" charset="-122"/>
                <a:cs typeface="Calibri" pitchFamily="34" charset="-120"/>
              </a:rPr>
              <a:t>AI-Powered Predictive Maintenance System</a:t>
            </a:r>
            <a:endParaRPr lang="en-US" sz="900" dirty="0"/>
          </a:p>
        </p:txBody>
      </p:sp>
      <p:sp>
        <p:nvSpPr>
          <p:cNvPr id="24" name="Text 18"/>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C6B78"/>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1963</Words>
  <Application>Microsoft Office PowerPoint</Application>
  <PresentationFormat>Widescreen</PresentationFormat>
  <Paragraphs>268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Predictive Maintenance System</dc:title>
  <dc:subject>PptxGenJS Presentation</dc:subject>
  <dc:creator>Senior Technical Architect</dc:creator>
  <cp:lastModifiedBy>utsav Singh</cp:lastModifiedBy>
  <cp:revision>2</cp:revision>
  <dcterms:created xsi:type="dcterms:W3CDTF">2026-07-08T04:25:12Z</dcterms:created>
  <dcterms:modified xsi:type="dcterms:W3CDTF">2026-08-19T15:30:52Z</dcterms:modified>
</cp:coreProperties>
</file>